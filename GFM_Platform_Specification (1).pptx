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nextjs.org/docs" TargetMode="External"/><Relationship Id="rId2" Type="http://schemas.openxmlformats.org/officeDocument/2006/relationships/hyperlink" Target="https://azure.microsoft.com/container-apps" TargetMode="External"/><Relationship Id="rId3" Type="http://schemas.openxmlformats.org/officeDocument/2006/relationships/hyperlink" Target="https://threejs.org/docs" TargetMode="External"/><Relationship Id="rId4" Type="http://schemas.openxmlformats.org/officeDocument/2006/relationships/hyperlink" Target="https://d3js.org" TargetMode="External"/><Relationship Id="rId5" Type="http://schemas.openxmlformats.org/officeDocument/2006/relationships/hyperlink" Target="https://ag-grid.com/react-data-grid/" TargetMode="External"/><Relationship Id="rId6" Type="http://schemas.openxmlformats.org/officeDocument/2006/relationships/hyperlink" Target="https://fdimonitor.org/investment-analysis/" TargetMode="External"/><Relationship Id="rId7" Type="http://schemas.openxmlformats.org/officeDocument/2006/relationships/hyperlink" Target="https://pptr.dev" TargetMode="External"/><Relationship Id="rId8" Type="http://schemas.openxmlformats.org/officeDocument/2006/relationships/hyperlink" Target="https://docs.anthropic.com" TargetMode="External"/><Relationship Id="rId9" Type="http://schemas.openxmlformats.org/officeDocument/2006/relationships/hyperlink" Target="https://fdimonitor.org/gfr/" TargetMode="External"/><Relationship Id="rId10" Type="http://schemas.openxmlformats.org/officeDocument/2006/relationships/hyperlink" Target="https://fdimonitor.org/publications/" TargetMode="External"/><Relationship Id="rId11" Type="http://schemas.openxmlformats.org/officeDocument/2006/relationships/hyperlink" Target="https://socket.io/docs/v4/" TargetMode="External"/><Relationship Id="rId12" Type="http://schemas.openxmlformats.org/officeDocument/2006/relationships/hyperlink" Target="https://tailwindcss.com/docs" TargetMode="External"/><Relationship Id="rId13" Type="http://schemas.openxmlformats.org/officeDocument/2006/relationships/hyperlink" Target="https://sendgrid.com/docs" TargetMode="External"/><Relationship Id="rId14" Type="http://schemas.openxmlformats.org/officeDocument/2006/relationships/hyperlink" Target="https://docs.sendgrid.com" TargetMode="External"/><Relationship Id="rId15" Type="http://schemas.openxmlformats.org/officeDocument/2006/relationships/hyperlink" Target="https://learn.microsoft.com/en-us/linkedin/" TargetMode="External"/><Relationship Id="rId16" Type="http://schemas.openxmlformats.org/officeDocument/2006/relationships/hyperlink" Target="https://platform.openai.com/docs/guides/images" TargetMode="External"/><Relationship Id="rId17" Type="http://schemas.openxmlformats.org/officeDocument/2006/relationships/hyperlink" Target="https://jwt.io/introduction/" TargetMode="External"/><Relationship Id="rId18" Type="http://schemas.openxmlformats.org/officeDocument/2006/relationships/hyperlink" Target="https://docs.aws.amazon.com/s3/" TargetMode="External"/><Relationship Id="rId19" Type="http://schemas.openxmlformats.org/officeDocument/2006/relationships/hyperlink" Target="https://www.postgresql.org/docs/15/" TargetMode="External"/><Relationship Id="rId20" Type="http://schemas.openxmlformats.org/officeDocument/2006/relationships/hyperlink" Target="https://socket.io/docs/v4/" TargetMode="External"/><Relationship Id="rId21" Type="http://schemas.openxmlformats.org/officeDocument/2006/relationships/hyperlink" Target="https://fdimonitor.org" TargetMode="External"/><Relationship Id="rId22" Type="http://schemas.openxmlformats.org/officeDocument/2006/relationships/slideLayout" Target="../slideLayouts/slideLayout1.xml"/><Relationship Id="rId2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1520"/>
          </a:solidFill>
          <a:ln/>
        </p:spPr>
      </p:sp>
      <p:sp>
        <p:nvSpPr>
          <p:cNvPr id="3" name="Shape 1"/>
          <p:cNvSpPr/>
          <p:nvPr/>
        </p:nvSpPr>
        <p:spPr>
          <a:xfrm>
            <a:off x="0" y="0"/>
            <a:ext cx="502920" cy="6858000"/>
          </a:xfrm>
          <a:prstGeom prst="rect">
            <a:avLst/>
          </a:prstGeom>
          <a:solidFill>
            <a:srgbClr val="2ECC71"/>
          </a:solidFill>
          <a:ln/>
        </p:spPr>
      </p:sp>
      <p:sp>
        <p:nvSpPr>
          <p:cNvPr id="4" name="Shape 2"/>
          <p:cNvSpPr/>
          <p:nvPr/>
        </p:nvSpPr>
        <p:spPr>
          <a:xfrm>
            <a:off x="502920" y="0"/>
            <a:ext cx="128016" cy="6858000"/>
          </a:xfrm>
          <a:prstGeom prst="rect">
            <a:avLst/>
          </a:prstGeom>
          <a:solidFill>
            <a:srgbClr val="27AE60"/>
          </a:solidFill>
          <a:ln/>
        </p:spPr>
      </p:sp>
      <p:sp>
        <p:nvSpPr>
          <p:cNvPr id="5" name="Shape 3"/>
          <p:cNvSpPr/>
          <p:nvPr/>
        </p:nvSpPr>
        <p:spPr>
          <a:xfrm>
            <a:off x="822960" y="0"/>
            <a:ext cx="0" cy="6858000"/>
          </a:xfrm>
          <a:prstGeom prst="line">
            <a:avLst/>
          </a:prstGeom>
          <a:noFill/>
          <a:ln w="3810">
            <a:solidFill>
              <a:srgbClr val="FFFFFF">
                <a:alpha val="12000"/>
              </a:srgbClr>
            </a:solidFill>
            <a:prstDash val="solid"/>
          </a:ln>
        </p:spPr>
      </p:sp>
      <p:sp>
        <p:nvSpPr>
          <p:cNvPr id="6" name="Shape 4"/>
          <p:cNvSpPr/>
          <p:nvPr/>
        </p:nvSpPr>
        <p:spPr>
          <a:xfrm>
            <a:off x="2103120" y="0"/>
            <a:ext cx="0" cy="6858000"/>
          </a:xfrm>
          <a:prstGeom prst="line">
            <a:avLst/>
          </a:prstGeom>
          <a:noFill/>
          <a:ln w="3810">
            <a:solidFill>
              <a:srgbClr val="FFFFFF">
                <a:alpha val="12000"/>
              </a:srgbClr>
            </a:solidFill>
            <a:prstDash val="solid"/>
          </a:ln>
        </p:spPr>
      </p:sp>
      <p:sp>
        <p:nvSpPr>
          <p:cNvPr id="7" name="Shape 5"/>
          <p:cNvSpPr/>
          <p:nvPr/>
        </p:nvSpPr>
        <p:spPr>
          <a:xfrm>
            <a:off x="3383280" y="0"/>
            <a:ext cx="0" cy="6858000"/>
          </a:xfrm>
          <a:prstGeom prst="line">
            <a:avLst/>
          </a:prstGeom>
          <a:noFill/>
          <a:ln w="3810">
            <a:solidFill>
              <a:srgbClr val="FFFFFF">
                <a:alpha val="12000"/>
              </a:srgbClr>
            </a:solidFill>
            <a:prstDash val="solid"/>
          </a:ln>
        </p:spPr>
      </p:sp>
      <p:sp>
        <p:nvSpPr>
          <p:cNvPr id="8" name="Shape 6"/>
          <p:cNvSpPr/>
          <p:nvPr/>
        </p:nvSpPr>
        <p:spPr>
          <a:xfrm>
            <a:off x="4663440" y="0"/>
            <a:ext cx="0" cy="6858000"/>
          </a:xfrm>
          <a:prstGeom prst="line">
            <a:avLst/>
          </a:prstGeom>
          <a:noFill/>
          <a:ln w="3810">
            <a:solidFill>
              <a:srgbClr val="FFFFFF">
                <a:alpha val="12000"/>
              </a:srgbClr>
            </a:solidFill>
            <a:prstDash val="solid"/>
          </a:ln>
        </p:spPr>
      </p:sp>
      <p:sp>
        <p:nvSpPr>
          <p:cNvPr id="9" name="Shape 7"/>
          <p:cNvSpPr/>
          <p:nvPr/>
        </p:nvSpPr>
        <p:spPr>
          <a:xfrm>
            <a:off x="5943600" y="0"/>
            <a:ext cx="0" cy="6858000"/>
          </a:xfrm>
          <a:prstGeom prst="line">
            <a:avLst/>
          </a:prstGeom>
          <a:noFill/>
          <a:ln w="3810">
            <a:solidFill>
              <a:srgbClr val="FFFFFF">
                <a:alpha val="12000"/>
              </a:srgbClr>
            </a:solidFill>
            <a:prstDash val="solid"/>
          </a:ln>
        </p:spPr>
      </p:sp>
      <p:sp>
        <p:nvSpPr>
          <p:cNvPr id="10" name="Shape 8"/>
          <p:cNvSpPr/>
          <p:nvPr/>
        </p:nvSpPr>
        <p:spPr>
          <a:xfrm>
            <a:off x="7223760" y="0"/>
            <a:ext cx="0" cy="6858000"/>
          </a:xfrm>
          <a:prstGeom prst="line">
            <a:avLst/>
          </a:prstGeom>
          <a:noFill/>
          <a:ln w="3810">
            <a:solidFill>
              <a:srgbClr val="FFFFFF">
                <a:alpha val="12000"/>
              </a:srgbClr>
            </a:solidFill>
            <a:prstDash val="solid"/>
          </a:ln>
        </p:spPr>
      </p:sp>
      <p:sp>
        <p:nvSpPr>
          <p:cNvPr id="11" name="Shape 9"/>
          <p:cNvSpPr/>
          <p:nvPr/>
        </p:nvSpPr>
        <p:spPr>
          <a:xfrm>
            <a:off x="8503920" y="0"/>
            <a:ext cx="0" cy="6858000"/>
          </a:xfrm>
          <a:prstGeom prst="line">
            <a:avLst/>
          </a:prstGeom>
          <a:noFill/>
          <a:ln w="3810">
            <a:solidFill>
              <a:srgbClr val="FFFFFF">
                <a:alpha val="12000"/>
              </a:srgbClr>
            </a:solidFill>
            <a:prstDash val="solid"/>
          </a:ln>
        </p:spPr>
      </p:sp>
      <p:sp>
        <p:nvSpPr>
          <p:cNvPr id="12" name="Shape 10"/>
          <p:cNvSpPr/>
          <p:nvPr/>
        </p:nvSpPr>
        <p:spPr>
          <a:xfrm>
            <a:off x="9784080" y="0"/>
            <a:ext cx="0" cy="6858000"/>
          </a:xfrm>
          <a:prstGeom prst="line">
            <a:avLst/>
          </a:prstGeom>
          <a:noFill/>
          <a:ln w="3810">
            <a:solidFill>
              <a:srgbClr val="FFFFFF">
                <a:alpha val="12000"/>
              </a:srgbClr>
            </a:solidFill>
            <a:prstDash val="solid"/>
          </a:ln>
        </p:spPr>
      </p:sp>
      <p:sp>
        <p:nvSpPr>
          <p:cNvPr id="13" name="Shape 11"/>
          <p:cNvSpPr/>
          <p:nvPr/>
        </p:nvSpPr>
        <p:spPr>
          <a:xfrm>
            <a:off x="11064240" y="0"/>
            <a:ext cx="0" cy="6858000"/>
          </a:xfrm>
          <a:prstGeom prst="line">
            <a:avLst/>
          </a:prstGeom>
          <a:noFill/>
          <a:ln w="3810">
            <a:solidFill>
              <a:srgbClr val="FFFFFF">
                <a:alpha val="12000"/>
              </a:srgbClr>
            </a:solidFill>
            <a:prstDash val="solid"/>
          </a:ln>
        </p:spPr>
      </p:sp>
      <p:sp>
        <p:nvSpPr>
          <p:cNvPr id="14" name="Shape 12"/>
          <p:cNvSpPr/>
          <p:nvPr/>
        </p:nvSpPr>
        <p:spPr>
          <a:xfrm>
            <a:off x="822960" y="0"/>
            <a:ext cx="11338560" cy="0"/>
          </a:xfrm>
          <a:prstGeom prst="line">
            <a:avLst/>
          </a:prstGeom>
          <a:noFill/>
          <a:ln w="3810">
            <a:solidFill>
              <a:srgbClr val="FFFFFF">
                <a:alpha val="12000"/>
              </a:srgbClr>
            </a:solidFill>
            <a:prstDash val="solid"/>
          </a:ln>
        </p:spPr>
      </p:sp>
      <p:sp>
        <p:nvSpPr>
          <p:cNvPr id="15" name="Shape 13"/>
          <p:cNvSpPr/>
          <p:nvPr/>
        </p:nvSpPr>
        <p:spPr>
          <a:xfrm>
            <a:off x="822960" y="1371600"/>
            <a:ext cx="11338560" cy="0"/>
          </a:xfrm>
          <a:prstGeom prst="line">
            <a:avLst/>
          </a:prstGeom>
          <a:noFill/>
          <a:ln w="3810">
            <a:solidFill>
              <a:srgbClr val="FFFFFF">
                <a:alpha val="12000"/>
              </a:srgbClr>
            </a:solidFill>
            <a:prstDash val="solid"/>
          </a:ln>
        </p:spPr>
      </p:sp>
      <p:sp>
        <p:nvSpPr>
          <p:cNvPr id="16" name="Shape 14"/>
          <p:cNvSpPr/>
          <p:nvPr/>
        </p:nvSpPr>
        <p:spPr>
          <a:xfrm>
            <a:off x="822960" y="2743200"/>
            <a:ext cx="11338560" cy="0"/>
          </a:xfrm>
          <a:prstGeom prst="line">
            <a:avLst/>
          </a:prstGeom>
          <a:noFill/>
          <a:ln w="3810">
            <a:solidFill>
              <a:srgbClr val="FFFFFF">
                <a:alpha val="12000"/>
              </a:srgbClr>
            </a:solidFill>
            <a:prstDash val="solid"/>
          </a:ln>
        </p:spPr>
      </p:sp>
      <p:sp>
        <p:nvSpPr>
          <p:cNvPr id="17" name="Shape 15"/>
          <p:cNvSpPr/>
          <p:nvPr/>
        </p:nvSpPr>
        <p:spPr>
          <a:xfrm>
            <a:off x="822960" y="4114800"/>
            <a:ext cx="11338560" cy="0"/>
          </a:xfrm>
          <a:prstGeom prst="line">
            <a:avLst/>
          </a:prstGeom>
          <a:noFill/>
          <a:ln w="3810">
            <a:solidFill>
              <a:srgbClr val="FFFFFF">
                <a:alpha val="12000"/>
              </a:srgbClr>
            </a:solidFill>
            <a:prstDash val="solid"/>
          </a:ln>
        </p:spPr>
      </p:sp>
      <p:sp>
        <p:nvSpPr>
          <p:cNvPr id="18" name="Shape 16"/>
          <p:cNvSpPr/>
          <p:nvPr/>
        </p:nvSpPr>
        <p:spPr>
          <a:xfrm>
            <a:off x="822960" y="5486400"/>
            <a:ext cx="11338560" cy="0"/>
          </a:xfrm>
          <a:prstGeom prst="line">
            <a:avLst/>
          </a:prstGeom>
          <a:noFill/>
          <a:ln w="3810">
            <a:solidFill>
              <a:srgbClr val="FFFFFF">
                <a:alpha val="12000"/>
              </a:srgbClr>
            </a:solidFill>
            <a:prstDash val="solid"/>
          </a:ln>
        </p:spPr>
      </p:sp>
      <p:sp>
        <p:nvSpPr>
          <p:cNvPr id="19" name="Shape 17"/>
          <p:cNvSpPr/>
          <p:nvPr/>
        </p:nvSpPr>
        <p:spPr>
          <a:xfrm>
            <a:off x="822960" y="6858000"/>
            <a:ext cx="11338560" cy="0"/>
          </a:xfrm>
          <a:prstGeom prst="line">
            <a:avLst/>
          </a:prstGeom>
          <a:noFill/>
          <a:ln w="3810">
            <a:solidFill>
              <a:srgbClr val="FFFFFF">
                <a:alpha val="12000"/>
              </a:srgbClr>
            </a:solidFill>
            <a:prstDash val="solid"/>
          </a:ln>
        </p:spPr>
      </p:sp>
      <p:sp>
        <p:nvSpPr>
          <p:cNvPr id="20" name="Shape 18"/>
          <p:cNvSpPr/>
          <p:nvPr/>
        </p:nvSpPr>
        <p:spPr>
          <a:xfrm>
            <a:off x="8686800" y="0"/>
            <a:ext cx="3474720" cy="91440"/>
          </a:xfrm>
          <a:prstGeom prst="rect">
            <a:avLst/>
          </a:prstGeom>
          <a:solidFill>
            <a:srgbClr val="F1C40F"/>
          </a:solidFill>
          <a:ln/>
        </p:spPr>
      </p:sp>
      <p:sp>
        <p:nvSpPr>
          <p:cNvPr id="21" name="Text 19"/>
          <p:cNvSpPr/>
          <p:nvPr/>
        </p:nvSpPr>
        <p:spPr>
          <a:xfrm>
            <a:off x="822960" y="640080"/>
            <a:ext cx="6400800" cy="502920"/>
          </a:xfrm>
          <a:prstGeom prst="rect">
            <a:avLst/>
          </a:prstGeom>
          <a:noFill/>
          <a:ln/>
        </p:spPr>
        <p:txBody>
          <a:bodyPr wrap="square" lIns="0" tIns="0" rIns="0" bIns="0" rtlCol="0" anchor="ctr"/>
          <a:lstStyle/>
          <a:p>
            <a:pPr indent="0" marL="0">
              <a:buNone/>
            </a:pPr>
            <a:r>
              <a:rPr lang="en-US" sz="1400" b="1" spc="700" kern="0" dirty="0">
                <a:solidFill>
                  <a:srgbClr val="FFFFFF"/>
                </a:solidFill>
              </a:rPr>
              <a:t>GLOBAL</a:t>
            </a:r>
            <a:endParaRPr lang="en-US" sz="1400" dirty="0"/>
          </a:p>
        </p:txBody>
      </p:sp>
      <p:sp>
        <p:nvSpPr>
          <p:cNvPr id="22" name="Text 20"/>
          <p:cNvSpPr/>
          <p:nvPr/>
        </p:nvSpPr>
        <p:spPr>
          <a:xfrm>
            <a:off x="822960" y="1078992"/>
            <a:ext cx="6400800" cy="1280160"/>
          </a:xfrm>
          <a:prstGeom prst="rect">
            <a:avLst/>
          </a:prstGeom>
          <a:noFill/>
          <a:ln/>
        </p:spPr>
        <p:txBody>
          <a:bodyPr wrap="square" lIns="0" tIns="0" rIns="0" bIns="0" rtlCol="0" anchor="ctr"/>
          <a:lstStyle/>
          <a:p>
            <a:pPr indent="0" marL="0">
              <a:buNone/>
            </a:pPr>
            <a:r>
              <a:rPr lang="en-US" sz="9600" b="1" spc="1000" kern="0" dirty="0">
                <a:solidFill>
                  <a:srgbClr val="2ECC71"/>
                </a:solidFill>
              </a:rPr>
              <a:t>FDI</a:t>
            </a:r>
            <a:endParaRPr lang="en-US" sz="9600" dirty="0"/>
          </a:p>
        </p:txBody>
      </p:sp>
      <p:sp>
        <p:nvSpPr>
          <p:cNvPr id="23" name="Text 21"/>
          <p:cNvSpPr/>
          <p:nvPr/>
        </p:nvSpPr>
        <p:spPr>
          <a:xfrm>
            <a:off x="822960" y="2267712"/>
            <a:ext cx="6400800" cy="502920"/>
          </a:xfrm>
          <a:prstGeom prst="rect">
            <a:avLst/>
          </a:prstGeom>
          <a:noFill/>
          <a:ln/>
        </p:spPr>
        <p:txBody>
          <a:bodyPr wrap="square" lIns="0" tIns="0" rIns="0" bIns="0" rtlCol="0" anchor="ctr"/>
          <a:lstStyle/>
          <a:p>
            <a:pPr indent="0" marL="0">
              <a:buNone/>
            </a:pPr>
            <a:r>
              <a:rPr lang="en-US" sz="1400" b="1" spc="700" kern="0" dirty="0">
                <a:solidFill>
                  <a:srgbClr val="FFFFFF"/>
                </a:solidFill>
              </a:rPr>
              <a:t>MONITOR</a:t>
            </a:r>
            <a:endParaRPr lang="en-US" sz="1400" dirty="0"/>
          </a:p>
        </p:txBody>
      </p:sp>
      <p:sp>
        <p:nvSpPr>
          <p:cNvPr id="24" name="Shape 22"/>
          <p:cNvSpPr/>
          <p:nvPr/>
        </p:nvSpPr>
        <p:spPr>
          <a:xfrm>
            <a:off x="822960" y="2944368"/>
            <a:ext cx="8686800" cy="45720"/>
          </a:xfrm>
          <a:prstGeom prst="rect">
            <a:avLst/>
          </a:prstGeom>
          <a:solidFill>
            <a:srgbClr val="2ECC71"/>
          </a:solidFill>
          <a:ln/>
        </p:spPr>
      </p:sp>
      <p:sp>
        <p:nvSpPr>
          <p:cNvPr id="25" name="Text 23"/>
          <p:cNvSpPr/>
          <p:nvPr/>
        </p:nvSpPr>
        <p:spPr>
          <a:xfrm>
            <a:off x="822960" y="3090672"/>
            <a:ext cx="10058400" cy="685800"/>
          </a:xfrm>
          <a:prstGeom prst="rect">
            <a:avLst/>
          </a:prstGeom>
          <a:noFill/>
          <a:ln/>
        </p:spPr>
        <p:txBody>
          <a:bodyPr wrap="square" lIns="0" tIns="0" rIns="0" bIns="0" rtlCol="0" anchor="ctr"/>
          <a:lstStyle/>
          <a:p>
            <a:pPr indent="0" marL="0">
              <a:buNone/>
            </a:pPr>
            <a:r>
              <a:rPr lang="en-US" sz="3000" b="1" dirty="0">
                <a:solidFill>
                  <a:srgbClr val="FFFFFF"/>
                </a:solidFill>
              </a:rPr>
              <a:t>Platform Specification, Architecture &amp; Development Pipeline</a:t>
            </a:r>
            <a:endParaRPr lang="en-US" sz="3000" dirty="0"/>
          </a:p>
        </p:txBody>
      </p:sp>
      <p:sp>
        <p:nvSpPr>
          <p:cNvPr id="26" name="Shape 24"/>
          <p:cNvSpPr/>
          <p:nvPr/>
        </p:nvSpPr>
        <p:spPr>
          <a:xfrm>
            <a:off x="822960" y="4005072"/>
            <a:ext cx="2706624" cy="256032"/>
          </a:xfrm>
          <a:prstGeom prst="rect">
            <a:avLst/>
          </a:prstGeom>
          <a:solidFill>
            <a:srgbClr val="1A2C3E"/>
          </a:solidFill>
          <a:ln w="6350">
            <a:solidFill>
              <a:srgbClr val="2ECC71"/>
            </a:solidFill>
            <a:prstDash val="solid"/>
          </a:ln>
        </p:spPr>
      </p:sp>
      <p:sp>
        <p:nvSpPr>
          <p:cNvPr id="27" name="Text 25"/>
          <p:cNvSpPr/>
          <p:nvPr/>
        </p:nvSpPr>
        <p:spPr>
          <a:xfrm>
            <a:off x="822960" y="4005072"/>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Architecture &amp; AI Agents</a:t>
            </a:r>
            <a:endParaRPr lang="en-US" sz="800" dirty="0"/>
          </a:p>
        </p:txBody>
      </p:sp>
      <p:sp>
        <p:nvSpPr>
          <p:cNvPr id="28" name="Shape 26"/>
          <p:cNvSpPr/>
          <p:nvPr/>
        </p:nvSpPr>
        <p:spPr>
          <a:xfrm>
            <a:off x="3657600" y="4005072"/>
            <a:ext cx="2706624" cy="256032"/>
          </a:xfrm>
          <a:prstGeom prst="rect">
            <a:avLst/>
          </a:prstGeom>
          <a:solidFill>
            <a:srgbClr val="1A2C3E"/>
          </a:solidFill>
          <a:ln w="6350">
            <a:solidFill>
              <a:srgbClr val="2ECC71"/>
            </a:solidFill>
            <a:prstDash val="solid"/>
          </a:ln>
        </p:spPr>
      </p:sp>
      <p:sp>
        <p:nvSpPr>
          <p:cNvPr id="29" name="Text 27"/>
          <p:cNvSpPr/>
          <p:nvPr/>
        </p:nvSpPr>
        <p:spPr>
          <a:xfrm>
            <a:off x="3657600" y="4005072"/>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Hero Dashboard (7 Widgets)</a:t>
            </a:r>
            <a:endParaRPr lang="en-US" sz="800" dirty="0"/>
          </a:p>
        </p:txBody>
      </p:sp>
      <p:sp>
        <p:nvSpPr>
          <p:cNvPr id="30" name="Shape 28"/>
          <p:cNvSpPr/>
          <p:nvPr/>
        </p:nvSpPr>
        <p:spPr>
          <a:xfrm>
            <a:off x="6492240" y="4005072"/>
            <a:ext cx="2706624" cy="256032"/>
          </a:xfrm>
          <a:prstGeom prst="rect">
            <a:avLst/>
          </a:prstGeom>
          <a:solidFill>
            <a:srgbClr val="1A2C3E"/>
          </a:solidFill>
          <a:ln w="6350">
            <a:solidFill>
              <a:srgbClr val="2ECC71"/>
            </a:solidFill>
            <a:prstDash val="solid"/>
          </a:ln>
        </p:spPr>
      </p:sp>
      <p:sp>
        <p:nvSpPr>
          <p:cNvPr id="31" name="Text 29"/>
          <p:cNvSpPr/>
          <p:nvPr/>
        </p:nvSpPr>
        <p:spPr>
          <a:xfrm>
            <a:off x="6492240" y="4005072"/>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Investment Analysis (4 Tabs)</a:t>
            </a:r>
            <a:endParaRPr lang="en-US" sz="800" dirty="0"/>
          </a:p>
        </p:txBody>
      </p:sp>
      <p:sp>
        <p:nvSpPr>
          <p:cNvPr id="32" name="Shape 30"/>
          <p:cNvSpPr/>
          <p:nvPr/>
        </p:nvSpPr>
        <p:spPr>
          <a:xfrm>
            <a:off x="9326880" y="4005072"/>
            <a:ext cx="2706624" cy="256032"/>
          </a:xfrm>
          <a:prstGeom prst="rect">
            <a:avLst/>
          </a:prstGeom>
          <a:solidFill>
            <a:srgbClr val="1A2C3E"/>
          </a:solidFill>
          <a:ln w="6350">
            <a:solidFill>
              <a:srgbClr val="2ECC71"/>
            </a:solidFill>
            <a:prstDash val="solid"/>
          </a:ln>
        </p:spPr>
      </p:sp>
      <p:sp>
        <p:nvSpPr>
          <p:cNvPr id="33" name="Text 31"/>
          <p:cNvSpPr/>
          <p:nvPr/>
        </p:nvSpPr>
        <p:spPr>
          <a:xfrm>
            <a:off x="9326880" y="4005072"/>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GFR Ranking</a:t>
            </a:r>
            <a:endParaRPr lang="en-US" sz="800" dirty="0"/>
          </a:p>
        </p:txBody>
      </p:sp>
      <p:sp>
        <p:nvSpPr>
          <p:cNvPr id="34" name="Shape 32"/>
          <p:cNvSpPr/>
          <p:nvPr/>
        </p:nvSpPr>
        <p:spPr>
          <a:xfrm>
            <a:off x="822960" y="4352544"/>
            <a:ext cx="2706624" cy="256032"/>
          </a:xfrm>
          <a:prstGeom prst="rect">
            <a:avLst/>
          </a:prstGeom>
          <a:solidFill>
            <a:srgbClr val="1A2C3E"/>
          </a:solidFill>
          <a:ln w="6350">
            <a:solidFill>
              <a:srgbClr val="2ECC71"/>
            </a:solidFill>
            <a:prstDash val="solid"/>
          </a:ln>
        </p:spPr>
      </p:sp>
      <p:sp>
        <p:nvSpPr>
          <p:cNvPr id="35" name="Text 33"/>
          <p:cNvSpPr/>
          <p:nvPr/>
        </p:nvSpPr>
        <p:spPr>
          <a:xfrm>
            <a:off x="822960" y="4352544"/>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PDF Reports</a:t>
            </a:r>
            <a:endParaRPr lang="en-US" sz="800" dirty="0"/>
          </a:p>
        </p:txBody>
      </p:sp>
      <p:sp>
        <p:nvSpPr>
          <p:cNvPr id="36" name="Shape 34"/>
          <p:cNvSpPr/>
          <p:nvPr/>
        </p:nvSpPr>
        <p:spPr>
          <a:xfrm>
            <a:off x="3657600" y="4352544"/>
            <a:ext cx="2706624" cy="256032"/>
          </a:xfrm>
          <a:prstGeom prst="rect">
            <a:avLst/>
          </a:prstGeom>
          <a:solidFill>
            <a:srgbClr val="1A2C3E"/>
          </a:solidFill>
          <a:ln w="6350">
            <a:solidFill>
              <a:srgbClr val="2ECC71"/>
            </a:solidFill>
            <a:prstDash val="solid"/>
          </a:ln>
        </p:spPr>
      </p:sp>
      <p:sp>
        <p:nvSpPr>
          <p:cNvPr id="37" name="Text 35"/>
          <p:cNvSpPr/>
          <p:nvPr/>
        </p:nvSpPr>
        <p:spPr>
          <a:xfrm>
            <a:off x="3657600" y="4352544"/>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Newsletter System</a:t>
            </a:r>
            <a:endParaRPr lang="en-US" sz="800" dirty="0"/>
          </a:p>
        </p:txBody>
      </p:sp>
      <p:sp>
        <p:nvSpPr>
          <p:cNvPr id="38" name="Shape 36"/>
          <p:cNvSpPr/>
          <p:nvPr/>
        </p:nvSpPr>
        <p:spPr>
          <a:xfrm>
            <a:off x="6492240" y="4352544"/>
            <a:ext cx="2706624" cy="256032"/>
          </a:xfrm>
          <a:prstGeom prst="rect">
            <a:avLst/>
          </a:prstGeom>
          <a:solidFill>
            <a:srgbClr val="1A2C3E"/>
          </a:solidFill>
          <a:ln w="6350">
            <a:solidFill>
              <a:srgbClr val="2ECC71"/>
            </a:solidFill>
            <a:prstDash val="solid"/>
          </a:ln>
        </p:spPr>
      </p:sp>
      <p:sp>
        <p:nvSpPr>
          <p:cNvPr id="39" name="Text 37"/>
          <p:cNvSpPr/>
          <p:nvPr/>
        </p:nvSpPr>
        <p:spPr>
          <a:xfrm>
            <a:off x="6492240" y="4352544"/>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Branding &amp; Design System</a:t>
            </a:r>
            <a:endParaRPr lang="en-US" sz="800" dirty="0"/>
          </a:p>
        </p:txBody>
      </p:sp>
      <p:sp>
        <p:nvSpPr>
          <p:cNvPr id="40" name="Shape 38"/>
          <p:cNvSpPr/>
          <p:nvPr/>
        </p:nvSpPr>
        <p:spPr>
          <a:xfrm>
            <a:off x="9326880" y="4352544"/>
            <a:ext cx="2706624" cy="256032"/>
          </a:xfrm>
          <a:prstGeom prst="rect">
            <a:avLst/>
          </a:prstGeom>
          <a:solidFill>
            <a:srgbClr val="1A2C3E"/>
          </a:solidFill>
          <a:ln w="6350">
            <a:solidFill>
              <a:srgbClr val="2ECC71"/>
            </a:solidFill>
            <a:prstDash val="solid"/>
          </a:ln>
        </p:spPr>
      </p:sp>
      <p:sp>
        <p:nvSpPr>
          <p:cNvPr id="41" name="Text 39"/>
          <p:cNvSpPr/>
          <p:nvPr/>
        </p:nvSpPr>
        <p:spPr>
          <a:xfrm>
            <a:off x="9326880" y="4352544"/>
            <a:ext cx="2706624" cy="256032"/>
          </a:xfrm>
          <a:prstGeom prst="rect">
            <a:avLst/>
          </a:prstGeom>
          <a:noFill/>
          <a:ln/>
        </p:spPr>
        <p:txBody>
          <a:bodyPr wrap="square" lIns="0" tIns="0" rIns="0" bIns="0" rtlCol="0" anchor="ctr"/>
          <a:lstStyle/>
          <a:p>
            <a:pPr algn="ctr" indent="0" marL="0">
              <a:buNone/>
            </a:pPr>
            <a:r>
              <a:rPr lang="en-US" sz="800" dirty="0">
                <a:solidFill>
                  <a:srgbClr val="2ECC71"/>
                </a:solidFill>
              </a:rPr>
              <a:t>Project Pipeline &amp; Timeline</a:t>
            </a:r>
            <a:endParaRPr lang="en-US" sz="800" dirty="0"/>
          </a:p>
        </p:txBody>
      </p:sp>
      <p:sp>
        <p:nvSpPr>
          <p:cNvPr id="42" name="Text 40"/>
          <p:cNvSpPr/>
          <p:nvPr/>
        </p:nvSpPr>
        <p:spPr>
          <a:xfrm>
            <a:off x="822960" y="4754880"/>
            <a:ext cx="7315200" cy="274320"/>
          </a:xfrm>
          <a:prstGeom prst="rect">
            <a:avLst/>
          </a:prstGeom>
          <a:noFill/>
          <a:ln/>
        </p:spPr>
        <p:txBody>
          <a:bodyPr wrap="square" lIns="0" tIns="0" rIns="0" bIns="0" rtlCol="0" anchor="ctr"/>
          <a:lstStyle/>
          <a:p>
            <a:pPr indent="0" marL="0">
              <a:buNone/>
            </a:pPr>
            <a:r>
              <a:rPr lang="en-US" sz="1000" dirty="0">
                <a:solidFill>
                  <a:srgbClr val="9BB0C7"/>
                </a:solidFill>
              </a:rPr>
              <a:t>March 2026  ·  Platform Version 3.0  ·  Confidential</a:t>
            </a:r>
            <a:endParaRPr lang="en-US" sz="1000" dirty="0"/>
          </a:p>
        </p:txBody>
      </p:sp>
      <p:sp>
        <p:nvSpPr>
          <p:cNvPr id="43" name="Shape 41"/>
          <p:cNvSpPr/>
          <p:nvPr/>
        </p:nvSpPr>
        <p:spPr>
          <a:xfrm>
            <a:off x="822960" y="5212080"/>
            <a:ext cx="2121408" cy="822960"/>
          </a:xfrm>
          <a:prstGeom prst="rect">
            <a:avLst/>
          </a:prstGeom>
          <a:solidFill>
            <a:srgbClr val="1E3A5F"/>
          </a:solidFill>
          <a:ln w="5080">
            <a:solidFill>
              <a:srgbClr val="2ECC71"/>
            </a:solidFill>
            <a:prstDash val="solid"/>
          </a:ln>
        </p:spPr>
      </p:sp>
      <p:sp>
        <p:nvSpPr>
          <p:cNvPr id="44" name="Text 42"/>
          <p:cNvSpPr/>
          <p:nvPr/>
        </p:nvSpPr>
        <p:spPr>
          <a:xfrm>
            <a:off x="822960" y="5266944"/>
            <a:ext cx="2121408" cy="384048"/>
          </a:xfrm>
          <a:prstGeom prst="rect">
            <a:avLst/>
          </a:prstGeom>
          <a:noFill/>
          <a:ln/>
        </p:spPr>
        <p:txBody>
          <a:bodyPr wrap="square" lIns="0" tIns="0" rIns="0" bIns="0" rtlCol="0" anchor="ctr"/>
          <a:lstStyle/>
          <a:p>
            <a:pPr algn="ctr" indent="0" marL="0">
              <a:buNone/>
            </a:pPr>
            <a:r>
              <a:rPr lang="en-US" sz="2400" b="1" dirty="0">
                <a:solidFill>
                  <a:srgbClr val="2ECC71"/>
                </a:solidFill>
              </a:rPr>
              <a:t>215+</a:t>
            </a:r>
            <a:endParaRPr lang="en-US" sz="2400" dirty="0"/>
          </a:p>
        </p:txBody>
      </p:sp>
      <p:sp>
        <p:nvSpPr>
          <p:cNvPr id="45" name="Text 43"/>
          <p:cNvSpPr/>
          <p:nvPr/>
        </p:nvSpPr>
        <p:spPr>
          <a:xfrm>
            <a:off x="822960" y="5650992"/>
            <a:ext cx="2121408" cy="256032"/>
          </a:xfrm>
          <a:prstGeom prst="rect">
            <a:avLst/>
          </a:prstGeom>
          <a:noFill/>
          <a:ln/>
        </p:spPr>
        <p:txBody>
          <a:bodyPr wrap="square" lIns="0" tIns="0" rIns="0" bIns="0" rtlCol="0" anchor="ctr"/>
          <a:lstStyle/>
          <a:p>
            <a:pPr algn="ctr" indent="0" marL="0">
              <a:buNone/>
            </a:pPr>
            <a:r>
              <a:rPr lang="en-US" sz="800" dirty="0">
                <a:solidFill>
                  <a:srgbClr val="9BB0C7"/>
                </a:solidFill>
              </a:rPr>
              <a:t>Economies</a:t>
            </a:r>
            <a:endParaRPr lang="en-US" sz="800" dirty="0"/>
          </a:p>
        </p:txBody>
      </p:sp>
      <p:sp>
        <p:nvSpPr>
          <p:cNvPr id="46" name="Shape 44"/>
          <p:cNvSpPr/>
          <p:nvPr/>
        </p:nvSpPr>
        <p:spPr>
          <a:xfrm>
            <a:off x="3072384" y="5212080"/>
            <a:ext cx="2121408" cy="822960"/>
          </a:xfrm>
          <a:prstGeom prst="rect">
            <a:avLst/>
          </a:prstGeom>
          <a:solidFill>
            <a:srgbClr val="1E3A5F"/>
          </a:solidFill>
          <a:ln w="5080">
            <a:solidFill>
              <a:srgbClr val="2ECC71"/>
            </a:solidFill>
            <a:prstDash val="solid"/>
          </a:ln>
        </p:spPr>
      </p:sp>
      <p:sp>
        <p:nvSpPr>
          <p:cNvPr id="47" name="Text 45"/>
          <p:cNvSpPr/>
          <p:nvPr/>
        </p:nvSpPr>
        <p:spPr>
          <a:xfrm>
            <a:off x="3072384" y="5266944"/>
            <a:ext cx="2121408" cy="384048"/>
          </a:xfrm>
          <a:prstGeom prst="rect">
            <a:avLst/>
          </a:prstGeom>
          <a:noFill/>
          <a:ln/>
        </p:spPr>
        <p:txBody>
          <a:bodyPr wrap="square" lIns="0" tIns="0" rIns="0" bIns="0" rtlCol="0" anchor="ctr"/>
          <a:lstStyle/>
          <a:p>
            <a:pPr algn="ctr" indent="0" marL="0">
              <a:buNone/>
            </a:pPr>
            <a:r>
              <a:rPr lang="en-US" sz="2400" b="1" dirty="0">
                <a:solidFill>
                  <a:srgbClr val="2ECC71"/>
                </a:solidFill>
              </a:rPr>
              <a:t>304+</a:t>
            </a:r>
            <a:endParaRPr lang="en-US" sz="2400" dirty="0"/>
          </a:p>
        </p:txBody>
      </p:sp>
      <p:sp>
        <p:nvSpPr>
          <p:cNvPr id="48" name="Text 46"/>
          <p:cNvSpPr/>
          <p:nvPr/>
        </p:nvSpPr>
        <p:spPr>
          <a:xfrm>
            <a:off x="3072384" y="5650992"/>
            <a:ext cx="2121408" cy="256032"/>
          </a:xfrm>
          <a:prstGeom prst="rect">
            <a:avLst/>
          </a:prstGeom>
          <a:noFill/>
          <a:ln/>
        </p:spPr>
        <p:txBody>
          <a:bodyPr wrap="square" lIns="0" tIns="0" rIns="0" bIns="0" rtlCol="0" anchor="ctr"/>
          <a:lstStyle/>
          <a:p>
            <a:pPr algn="ctr" indent="0" marL="0">
              <a:buNone/>
            </a:pPr>
            <a:r>
              <a:rPr lang="en-US" sz="800" dirty="0">
                <a:solidFill>
                  <a:srgbClr val="9BB0C7"/>
                </a:solidFill>
              </a:rPr>
              <a:t>Official Sources</a:t>
            </a:r>
            <a:endParaRPr lang="en-US" sz="800" dirty="0"/>
          </a:p>
        </p:txBody>
      </p:sp>
      <p:sp>
        <p:nvSpPr>
          <p:cNvPr id="49" name="Shape 47"/>
          <p:cNvSpPr/>
          <p:nvPr/>
        </p:nvSpPr>
        <p:spPr>
          <a:xfrm>
            <a:off x="5321808" y="5212080"/>
            <a:ext cx="2121408" cy="822960"/>
          </a:xfrm>
          <a:prstGeom prst="rect">
            <a:avLst/>
          </a:prstGeom>
          <a:solidFill>
            <a:srgbClr val="1E3A5F"/>
          </a:solidFill>
          <a:ln w="5080">
            <a:solidFill>
              <a:srgbClr val="2ECC71"/>
            </a:solidFill>
            <a:prstDash val="solid"/>
          </a:ln>
        </p:spPr>
      </p:sp>
      <p:sp>
        <p:nvSpPr>
          <p:cNvPr id="50" name="Text 48"/>
          <p:cNvSpPr/>
          <p:nvPr/>
        </p:nvSpPr>
        <p:spPr>
          <a:xfrm>
            <a:off x="5321808" y="5266944"/>
            <a:ext cx="2121408" cy="384048"/>
          </a:xfrm>
          <a:prstGeom prst="rect">
            <a:avLst/>
          </a:prstGeom>
          <a:noFill/>
          <a:ln/>
        </p:spPr>
        <p:txBody>
          <a:bodyPr wrap="square" lIns="0" tIns="0" rIns="0" bIns="0" rtlCol="0" anchor="ctr"/>
          <a:lstStyle/>
          <a:p>
            <a:pPr algn="ctr" indent="0" marL="0">
              <a:buNone/>
            </a:pPr>
            <a:r>
              <a:rPr lang="en-US" sz="2400" b="1" dirty="0">
                <a:solidFill>
                  <a:srgbClr val="2ECC71"/>
                </a:solidFill>
              </a:rPr>
              <a:t>50+</a:t>
            </a:r>
            <a:endParaRPr lang="en-US" sz="2400" dirty="0"/>
          </a:p>
        </p:txBody>
      </p:sp>
      <p:sp>
        <p:nvSpPr>
          <p:cNvPr id="51" name="Text 49"/>
          <p:cNvSpPr/>
          <p:nvPr/>
        </p:nvSpPr>
        <p:spPr>
          <a:xfrm>
            <a:off x="5321808" y="5650992"/>
            <a:ext cx="2121408" cy="256032"/>
          </a:xfrm>
          <a:prstGeom prst="rect">
            <a:avLst/>
          </a:prstGeom>
          <a:noFill/>
          <a:ln/>
        </p:spPr>
        <p:txBody>
          <a:bodyPr wrap="square" lIns="0" tIns="0" rIns="0" bIns="0" rtlCol="0" anchor="ctr"/>
          <a:lstStyle/>
          <a:p>
            <a:pPr algn="ctr" indent="0" marL="0">
              <a:buNone/>
            </a:pPr>
            <a:r>
              <a:rPr lang="en-US" sz="800" dirty="0">
                <a:solidFill>
                  <a:srgbClr val="9BB0C7"/>
                </a:solidFill>
              </a:rPr>
              <a:t>AI Agents</a:t>
            </a:r>
            <a:endParaRPr lang="en-US" sz="800" dirty="0"/>
          </a:p>
        </p:txBody>
      </p:sp>
      <p:sp>
        <p:nvSpPr>
          <p:cNvPr id="52" name="Shape 50"/>
          <p:cNvSpPr/>
          <p:nvPr/>
        </p:nvSpPr>
        <p:spPr>
          <a:xfrm>
            <a:off x="7571232" y="5212080"/>
            <a:ext cx="2121408" cy="822960"/>
          </a:xfrm>
          <a:prstGeom prst="rect">
            <a:avLst/>
          </a:prstGeom>
          <a:solidFill>
            <a:srgbClr val="1E3A5F"/>
          </a:solidFill>
          <a:ln w="5080">
            <a:solidFill>
              <a:srgbClr val="2ECC71"/>
            </a:solidFill>
            <a:prstDash val="solid"/>
          </a:ln>
        </p:spPr>
      </p:sp>
      <p:sp>
        <p:nvSpPr>
          <p:cNvPr id="53" name="Text 51"/>
          <p:cNvSpPr/>
          <p:nvPr/>
        </p:nvSpPr>
        <p:spPr>
          <a:xfrm>
            <a:off x="7571232" y="5266944"/>
            <a:ext cx="2121408" cy="384048"/>
          </a:xfrm>
          <a:prstGeom prst="rect">
            <a:avLst/>
          </a:prstGeom>
          <a:noFill/>
          <a:ln/>
        </p:spPr>
        <p:txBody>
          <a:bodyPr wrap="square" lIns="0" tIns="0" rIns="0" bIns="0" rtlCol="0" anchor="ctr"/>
          <a:lstStyle/>
          <a:p>
            <a:pPr algn="ctr" indent="0" marL="0">
              <a:buNone/>
            </a:pPr>
            <a:r>
              <a:rPr lang="en-US" sz="2400" b="1" dirty="0">
                <a:solidFill>
                  <a:srgbClr val="2ECC71"/>
                </a:solidFill>
              </a:rPr>
              <a:t>24/7</a:t>
            </a:r>
            <a:endParaRPr lang="en-US" sz="2400" dirty="0"/>
          </a:p>
        </p:txBody>
      </p:sp>
      <p:sp>
        <p:nvSpPr>
          <p:cNvPr id="54" name="Text 52"/>
          <p:cNvSpPr/>
          <p:nvPr/>
        </p:nvSpPr>
        <p:spPr>
          <a:xfrm>
            <a:off x="7571232" y="5650992"/>
            <a:ext cx="2121408" cy="256032"/>
          </a:xfrm>
          <a:prstGeom prst="rect">
            <a:avLst/>
          </a:prstGeom>
          <a:noFill/>
          <a:ln/>
        </p:spPr>
        <p:txBody>
          <a:bodyPr wrap="square" lIns="0" tIns="0" rIns="0" bIns="0" rtlCol="0" anchor="ctr"/>
          <a:lstStyle/>
          <a:p>
            <a:pPr algn="ctr" indent="0" marL="0">
              <a:buNone/>
            </a:pPr>
            <a:r>
              <a:rPr lang="en-US" sz="800" dirty="0">
                <a:solidFill>
                  <a:srgbClr val="9BB0C7"/>
                </a:solidFill>
              </a:rPr>
              <a:t>Live Intelligence</a:t>
            </a:r>
            <a:endParaRPr lang="en-US" sz="800" dirty="0"/>
          </a:p>
        </p:txBody>
      </p:sp>
      <p:sp>
        <p:nvSpPr>
          <p:cNvPr id="55" name="Shape 53"/>
          <p:cNvSpPr/>
          <p:nvPr/>
        </p:nvSpPr>
        <p:spPr>
          <a:xfrm>
            <a:off x="9820656" y="5212080"/>
            <a:ext cx="2121408" cy="822960"/>
          </a:xfrm>
          <a:prstGeom prst="rect">
            <a:avLst/>
          </a:prstGeom>
          <a:solidFill>
            <a:srgbClr val="1E3A5F"/>
          </a:solidFill>
          <a:ln w="5080">
            <a:solidFill>
              <a:srgbClr val="2ECC71"/>
            </a:solidFill>
            <a:prstDash val="solid"/>
          </a:ln>
        </p:spPr>
      </p:sp>
      <p:sp>
        <p:nvSpPr>
          <p:cNvPr id="56" name="Text 54"/>
          <p:cNvSpPr/>
          <p:nvPr/>
        </p:nvSpPr>
        <p:spPr>
          <a:xfrm>
            <a:off x="9820656" y="5266944"/>
            <a:ext cx="2121408" cy="384048"/>
          </a:xfrm>
          <a:prstGeom prst="rect">
            <a:avLst/>
          </a:prstGeom>
          <a:noFill/>
          <a:ln/>
        </p:spPr>
        <p:txBody>
          <a:bodyPr wrap="square" lIns="0" tIns="0" rIns="0" bIns="0" rtlCol="0" anchor="ctr"/>
          <a:lstStyle/>
          <a:p>
            <a:pPr algn="ctr" indent="0" marL="0">
              <a:buNone/>
            </a:pPr>
            <a:r>
              <a:rPr lang="en-US" sz="2400" b="1" dirty="0">
                <a:solidFill>
                  <a:srgbClr val="2ECC71"/>
                </a:solidFill>
              </a:rPr>
              <a:t>6</a:t>
            </a:r>
            <a:endParaRPr lang="en-US" sz="2400" dirty="0"/>
          </a:p>
        </p:txBody>
      </p:sp>
      <p:sp>
        <p:nvSpPr>
          <p:cNvPr id="57" name="Text 55"/>
          <p:cNvSpPr/>
          <p:nvPr/>
        </p:nvSpPr>
        <p:spPr>
          <a:xfrm>
            <a:off x="9820656" y="5650992"/>
            <a:ext cx="2121408" cy="256032"/>
          </a:xfrm>
          <a:prstGeom prst="rect">
            <a:avLst/>
          </a:prstGeom>
          <a:noFill/>
          <a:ln/>
        </p:spPr>
        <p:txBody>
          <a:bodyPr wrap="square" lIns="0" tIns="0" rIns="0" bIns="0" rtlCol="0" anchor="ctr"/>
          <a:lstStyle/>
          <a:p>
            <a:pPr algn="ctr" indent="0" marL="0">
              <a:buNone/>
            </a:pPr>
            <a:r>
              <a:rPr lang="en-US" sz="800" dirty="0">
                <a:solidFill>
                  <a:srgbClr val="9BB0C7"/>
                </a:solidFill>
              </a:rPr>
              <a:t>Agent Pipeline Stages</a:t>
            </a:r>
            <a:endParaRPr lang="en-US" sz="800" dirty="0"/>
          </a:p>
        </p:txBody>
      </p:sp>
      <p:sp>
        <p:nvSpPr>
          <p:cNvPr id="58" name="Shape 56"/>
          <p:cNvSpPr/>
          <p:nvPr/>
        </p:nvSpPr>
        <p:spPr>
          <a:xfrm>
            <a:off x="0" y="6656832"/>
            <a:ext cx="12161520" cy="201168"/>
          </a:xfrm>
          <a:prstGeom prst="rect">
            <a:avLst/>
          </a:prstGeom>
          <a:solidFill>
            <a:srgbClr val="0A1520"/>
          </a:solidFill>
          <a:ln/>
        </p:spPr>
      </p:sp>
      <p:sp>
        <p:nvSpPr>
          <p:cNvPr id="59" name="Text 57"/>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Vision &amp; Mission</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Vision, Mission &amp; Platform Purpose</a:t>
            </a:r>
            <a:endParaRPr lang="en-US" sz="2400" dirty="0"/>
          </a:p>
        </p:txBody>
      </p:sp>
      <p:sp>
        <p:nvSpPr>
          <p:cNvPr id="9" name="Shape 7"/>
          <p:cNvSpPr/>
          <p:nvPr/>
        </p:nvSpPr>
        <p:spPr>
          <a:xfrm>
            <a:off x="365760" y="1481328"/>
            <a:ext cx="5029200" cy="4974336"/>
          </a:xfrm>
          <a:prstGeom prst="rect">
            <a:avLst/>
          </a:prstGeom>
          <a:solidFill>
            <a:srgbClr val="1A2C3E"/>
          </a:solidFill>
          <a:ln/>
          <a:effectLst>
            <a:outerShdw sx="100000" sy="100000" kx="0" ky="0" algn="bl" rotWithShape="0" blurRad="127000" dist="38100" dir="8100000">
              <a:srgbClr val="000000">
                <a:alpha val="10000"/>
              </a:srgbClr>
            </a:outerShdw>
          </a:effectLst>
        </p:spPr>
      </p:sp>
      <p:sp>
        <p:nvSpPr>
          <p:cNvPr id="10" name="Shape 8"/>
          <p:cNvSpPr/>
          <p:nvPr/>
        </p:nvSpPr>
        <p:spPr>
          <a:xfrm>
            <a:off x="365760" y="1481328"/>
            <a:ext cx="5029200" cy="64008"/>
          </a:xfrm>
          <a:prstGeom prst="rect">
            <a:avLst/>
          </a:prstGeom>
          <a:solidFill>
            <a:srgbClr val="2ECC71"/>
          </a:solidFill>
          <a:ln/>
        </p:spPr>
      </p:sp>
      <p:sp>
        <p:nvSpPr>
          <p:cNvPr id="11" name="Text 9"/>
          <p:cNvSpPr/>
          <p:nvPr/>
        </p:nvSpPr>
        <p:spPr>
          <a:xfrm>
            <a:off x="566928" y="1664208"/>
            <a:ext cx="3657600" cy="256032"/>
          </a:xfrm>
          <a:prstGeom prst="rect">
            <a:avLst/>
          </a:prstGeom>
          <a:noFill/>
          <a:ln/>
        </p:spPr>
        <p:txBody>
          <a:bodyPr wrap="square" lIns="0" tIns="0" rIns="0" bIns="0" rtlCol="0" anchor="ctr"/>
          <a:lstStyle/>
          <a:p>
            <a:pPr indent="0" marL="0">
              <a:buNone/>
            </a:pPr>
            <a:r>
              <a:rPr lang="en-US" sz="900" b="1" spc="500" kern="0" dirty="0">
                <a:solidFill>
                  <a:srgbClr val="2ECC71"/>
                </a:solidFill>
              </a:rPr>
              <a:t>VISION</a:t>
            </a:r>
            <a:endParaRPr lang="en-US" sz="900" dirty="0"/>
          </a:p>
        </p:txBody>
      </p:sp>
      <p:sp>
        <p:nvSpPr>
          <p:cNvPr id="12" name="Text 10"/>
          <p:cNvSpPr/>
          <p:nvPr/>
        </p:nvSpPr>
        <p:spPr>
          <a:xfrm>
            <a:off x="566928" y="2011680"/>
            <a:ext cx="4572000" cy="1097280"/>
          </a:xfrm>
          <a:prstGeom prst="rect">
            <a:avLst/>
          </a:prstGeom>
          <a:noFill/>
          <a:ln/>
        </p:spPr>
        <p:txBody>
          <a:bodyPr wrap="square" lIns="0" tIns="0" rIns="0" bIns="0" rtlCol="0" anchor="ctr"/>
          <a:lstStyle/>
          <a:p>
            <a:pPr indent="0" marL="0">
              <a:lnSpc>
                <a:spcPct val="155000"/>
              </a:lnSpc>
              <a:buNone/>
            </a:pPr>
            <a:r>
              <a:rPr lang="en-US" sz="1200" dirty="0">
                <a:solidFill>
                  <a:srgbClr val="FFFFFF"/>
                </a:solidFill>
              </a:rPr>
              <a:t>The world's premier AI-powered foreign direct investment intelligence platform, delivering real-time, data-verified investment signals and opportunity scoring across every economy, sector, and investment zone on Earth — eliminating information asymmetry in global FDI markets.</a:t>
            </a:r>
            <a:endParaRPr lang="en-US" sz="1200" dirty="0"/>
          </a:p>
        </p:txBody>
      </p:sp>
      <p:sp>
        <p:nvSpPr>
          <p:cNvPr id="13" name="Shape 11"/>
          <p:cNvSpPr/>
          <p:nvPr/>
        </p:nvSpPr>
        <p:spPr>
          <a:xfrm>
            <a:off x="566928" y="3200400"/>
            <a:ext cx="4480560" cy="0"/>
          </a:xfrm>
          <a:prstGeom prst="line">
            <a:avLst/>
          </a:prstGeom>
          <a:noFill/>
          <a:ln w="6350">
            <a:solidFill>
              <a:srgbClr val="2ECC71">
                <a:alpha val="50000"/>
              </a:srgbClr>
            </a:solidFill>
            <a:prstDash val="solid"/>
          </a:ln>
        </p:spPr>
      </p:sp>
      <p:sp>
        <p:nvSpPr>
          <p:cNvPr id="14" name="Text 12"/>
          <p:cNvSpPr/>
          <p:nvPr/>
        </p:nvSpPr>
        <p:spPr>
          <a:xfrm>
            <a:off x="566928" y="3337560"/>
            <a:ext cx="3657600" cy="256032"/>
          </a:xfrm>
          <a:prstGeom prst="rect">
            <a:avLst/>
          </a:prstGeom>
          <a:noFill/>
          <a:ln/>
        </p:spPr>
        <p:txBody>
          <a:bodyPr wrap="square" lIns="0" tIns="0" rIns="0" bIns="0" rtlCol="0" anchor="ctr"/>
          <a:lstStyle/>
          <a:p>
            <a:pPr indent="0" marL="0">
              <a:buNone/>
            </a:pPr>
            <a:r>
              <a:rPr lang="en-US" sz="900" b="1" spc="500" kern="0" dirty="0">
                <a:solidFill>
                  <a:srgbClr val="2ECC71"/>
                </a:solidFill>
              </a:rPr>
              <a:t>MISSION</a:t>
            </a:r>
            <a:endParaRPr lang="en-US" sz="900" dirty="0"/>
          </a:p>
        </p:txBody>
      </p:sp>
      <p:sp>
        <p:nvSpPr>
          <p:cNvPr id="15" name="Text 13"/>
          <p:cNvSpPr/>
          <p:nvPr/>
        </p:nvSpPr>
        <p:spPr>
          <a:xfrm>
            <a:off x="566928" y="3694176"/>
            <a:ext cx="4572000" cy="1115568"/>
          </a:xfrm>
          <a:prstGeom prst="rect">
            <a:avLst/>
          </a:prstGeom>
          <a:noFill/>
          <a:ln/>
        </p:spPr>
        <p:txBody>
          <a:bodyPr wrap="square" lIns="0" tIns="0" rIns="0" bIns="0" rtlCol="0" anchor="ctr"/>
          <a:lstStyle/>
          <a:p>
            <a:pPr indent="0" marL="0">
              <a:lnSpc>
                <a:spcPct val="155000"/>
              </a:lnSpc>
              <a:buNone/>
            </a:pPr>
            <a:r>
              <a:rPr lang="en-US" sz="1200" dirty="0">
                <a:solidFill>
                  <a:srgbClr val="FFFFFF"/>
                </a:solidFill>
              </a:rPr>
              <a:t>To provide governments, institutional investors, and economic development organisations with verified, real-time FDI intelligence — enabling faster, smarter, and higher-impact investment decisions at global scale through AI-powered analysis and 304+ official source integration.</a:t>
            </a:r>
            <a:endParaRPr lang="en-US" sz="1200" dirty="0"/>
          </a:p>
        </p:txBody>
      </p:sp>
      <p:sp>
        <p:nvSpPr>
          <p:cNvPr id="16" name="Shape 14"/>
          <p:cNvSpPr/>
          <p:nvPr/>
        </p:nvSpPr>
        <p:spPr>
          <a:xfrm>
            <a:off x="566928" y="4901184"/>
            <a:ext cx="4480560" cy="0"/>
          </a:xfrm>
          <a:prstGeom prst="line">
            <a:avLst/>
          </a:prstGeom>
          <a:noFill/>
          <a:ln w="6350">
            <a:solidFill>
              <a:srgbClr val="2ECC71">
                <a:alpha val="40000"/>
              </a:srgbClr>
            </a:solidFill>
            <a:prstDash val="solid"/>
          </a:ln>
        </p:spPr>
      </p:sp>
      <p:sp>
        <p:nvSpPr>
          <p:cNvPr id="17" name="Text 15"/>
          <p:cNvSpPr/>
          <p:nvPr/>
        </p:nvSpPr>
        <p:spPr>
          <a:xfrm>
            <a:off x="566928" y="5029200"/>
            <a:ext cx="4114800" cy="274320"/>
          </a:xfrm>
          <a:prstGeom prst="rect">
            <a:avLst/>
          </a:prstGeom>
          <a:noFill/>
          <a:ln/>
        </p:spPr>
        <p:txBody>
          <a:bodyPr wrap="square" lIns="0" tIns="0" rIns="0" bIns="0" rtlCol="0" anchor="ctr"/>
          <a:lstStyle/>
          <a:p>
            <a:pPr indent="0" marL="0">
              <a:buNone/>
            </a:pPr>
            <a:r>
              <a:rPr lang="en-US" sz="1000" b="1" dirty="0">
                <a:solidFill>
                  <a:srgbClr val="2ECC71"/>
                </a:solidFill>
              </a:rPr>
              <a:t>fdimonitor.org  ·  info@fdimonitor.org</a:t>
            </a:r>
            <a:endParaRPr lang="en-US" sz="1000" dirty="0"/>
          </a:p>
        </p:txBody>
      </p:sp>
      <p:sp>
        <p:nvSpPr>
          <p:cNvPr id="18" name="Shape 16"/>
          <p:cNvSpPr/>
          <p:nvPr/>
        </p:nvSpPr>
        <p:spPr>
          <a:xfrm>
            <a:off x="5760720" y="1481328"/>
            <a:ext cx="3017520"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9" name="Shape 17"/>
          <p:cNvSpPr/>
          <p:nvPr/>
        </p:nvSpPr>
        <p:spPr>
          <a:xfrm>
            <a:off x="5760720" y="1481328"/>
            <a:ext cx="3017520" cy="64008"/>
          </a:xfrm>
          <a:prstGeom prst="rect">
            <a:avLst/>
          </a:prstGeom>
          <a:solidFill>
            <a:srgbClr val="2ECC71"/>
          </a:solidFill>
          <a:ln/>
        </p:spPr>
      </p:sp>
      <p:sp>
        <p:nvSpPr>
          <p:cNvPr id="20" name="Text 18"/>
          <p:cNvSpPr/>
          <p:nvPr/>
        </p:nvSpPr>
        <p:spPr>
          <a:xfrm>
            <a:off x="5760720" y="1618488"/>
            <a:ext cx="301752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1" name="Text 19"/>
          <p:cNvSpPr/>
          <p:nvPr/>
        </p:nvSpPr>
        <p:spPr>
          <a:xfrm>
            <a:off x="5897880" y="2176272"/>
            <a:ext cx="2743200" cy="292608"/>
          </a:xfrm>
          <a:prstGeom prst="rect">
            <a:avLst/>
          </a:prstGeom>
          <a:noFill/>
          <a:ln/>
        </p:spPr>
        <p:txBody>
          <a:bodyPr wrap="square" lIns="0" tIns="0" rIns="0" bIns="0" rtlCol="0" anchor="ctr"/>
          <a:lstStyle/>
          <a:p>
            <a:pPr algn="ctr" indent="0" marL="0">
              <a:buNone/>
            </a:pPr>
            <a:r>
              <a:rPr lang="en-US" sz="1300" b="1" dirty="0">
                <a:solidFill>
                  <a:srgbClr val="1A2C3E"/>
                </a:solidFill>
              </a:rPr>
              <a:t>Precision Intelligence</a:t>
            </a:r>
            <a:endParaRPr lang="en-US" sz="1300" dirty="0"/>
          </a:p>
        </p:txBody>
      </p:sp>
      <p:sp>
        <p:nvSpPr>
          <p:cNvPr id="22" name="Shape 20"/>
          <p:cNvSpPr/>
          <p:nvPr/>
        </p:nvSpPr>
        <p:spPr>
          <a:xfrm>
            <a:off x="6035040" y="2505456"/>
            <a:ext cx="2468880" cy="0"/>
          </a:xfrm>
          <a:prstGeom prst="line">
            <a:avLst/>
          </a:prstGeom>
          <a:noFill/>
          <a:ln w="6350">
            <a:solidFill>
              <a:srgbClr val="2ECC71">
                <a:alpha val="50000"/>
              </a:srgbClr>
            </a:solidFill>
            <a:prstDash val="solid"/>
          </a:ln>
        </p:spPr>
      </p:sp>
      <p:sp>
        <p:nvSpPr>
          <p:cNvPr id="23" name="Text 21"/>
          <p:cNvSpPr/>
          <p:nvPr/>
        </p:nvSpPr>
        <p:spPr>
          <a:xfrm>
            <a:off x="5897880" y="2615184"/>
            <a:ext cx="2743200" cy="1170432"/>
          </a:xfrm>
          <a:prstGeom prst="rect">
            <a:avLst/>
          </a:prstGeom>
          <a:noFill/>
          <a:ln/>
        </p:spPr>
        <p:txBody>
          <a:bodyPr wrap="square" lIns="0" tIns="0" rIns="0" bIns="0" rtlCol="0" anchor="ctr"/>
          <a:lstStyle/>
          <a:p>
            <a:pPr algn="ctr" indent="0" marL="0">
              <a:lnSpc>
                <a:spcPct val="145000"/>
              </a:lnSpc>
              <a:buNone/>
            </a:pPr>
            <a:r>
              <a:rPr lang="en-US" sz="950" dirty="0">
                <a:solidFill>
                  <a:srgbClr val="7F8C8D"/>
                </a:solidFill>
              </a:rPr>
              <a:t>AI-verified signals from 304+ official government sources. SHA-256 provenance hashing. SCI scoring with PLATINUM / GOLD / SILVER grades.</a:t>
            </a:r>
            <a:endParaRPr lang="en-US" sz="950" dirty="0"/>
          </a:p>
        </p:txBody>
      </p:sp>
      <p:sp>
        <p:nvSpPr>
          <p:cNvPr id="24" name="Shape 22"/>
          <p:cNvSpPr/>
          <p:nvPr/>
        </p:nvSpPr>
        <p:spPr>
          <a:xfrm>
            <a:off x="8924544" y="1481328"/>
            <a:ext cx="3017520"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5" name="Shape 23"/>
          <p:cNvSpPr/>
          <p:nvPr/>
        </p:nvSpPr>
        <p:spPr>
          <a:xfrm>
            <a:off x="8924544" y="1481328"/>
            <a:ext cx="3017520" cy="64008"/>
          </a:xfrm>
          <a:prstGeom prst="rect">
            <a:avLst/>
          </a:prstGeom>
          <a:solidFill>
            <a:srgbClr val="F1C40F"/>
          </a:solidFill>
          <a:ln/>
        </p:spPr>
      </p:sp>
      <p:sp>
        <p:nvSpPr>
          <p:cNvPr id="26" name="Text 24"/>
          <p:cNvSpPr/>
          <p:nvPr/>
        </p:nvSpPr>
        <p:spPr>
          <a:xfrm>
            <a:off x="8924544" y="1618488"/>
            <a:ext cx="301752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7" name="Text 25"/>
          <p:cNvSpPr/>
          <p:nvPr/>
        </p:nvSpPr>
        <p:spPr>
          <a:xfrm>
            <a:off x="9061704" y="2176272"/>
            <a:ext cx="2743200" cy="292608"/>
          </a:xfrm>
          <a:prstGeom prst="rect">
            <a:avLst/>
          </a:prstGeom>
          <a:noFill/>
          <a:ln/>
        </p:spPr>
        <p:txBody>
          <a:bodyPr wrap="square" lIns="0" tIns="0" rIns="0" bIns="0" rtlCol="0" anchor="ctr"/>
          <a:lstStyle/>
          <a:p>
            <a:pPr algn="ctr" indent="0" marL="0">
              <a:buNone/>
            </a:pPr>
            <a:r>
              <a:rPr lang="en-US" sz="1300" b="1" dirty="0">
                <a:solidFill>
                  <a:srgbClr val="1A2C3E"/>
                </a:solidFill>
              </a:rPr>
              <a:t>Real-Time Data</a:t>
            </a:r>
            <a:endParaRPr lang="en-US" sz="1300" dirty="0"/>
          </a:p>
        </p:txBody>
      </p:sp>
      <p:sp>
        <p:nvSpPr>
          <p:cNvPr id="28" name="Shape 26"/>
          <p:cNvSpPr/>
          <p:nvPr/>
        </p:nvSpPr>
        <p:spPr>
          <a:xfrm>
            <a:off x="9198864" y="2505456"/>
            <a:ext cx="2468880" cy="0"/>
          </a:xfrm>
          <a:prstGeom prst="line">
            <a:avLst/>
          </a:prstGeom>
          <a:noFill/>
          <a:ln w="6350">
            <a:solidFill>
              <a:srgbClr val="F1C40F">
                <a:alpha val="50000"/>
              </a:srgbClr>
            </a:solidFill>
            <a:prstDash val="solid"/>
          </a:ln>
        </p:spPr>
      </p:sp>
      <p:sp>
        <p:nvSpPr>
          <p:cNvPr id="29" name="Text 27"/>
          <p:cNvSpPr/>
          <p:nvPr/>
        </p:nvSpPr>
        <p:spPr>
          <a:xfrm>
            <a:off x="9061704" y="2615184"/>
            <a:ext cx="2743200" cy="1170432"/>
          </a:xfrm>
          <a:prstGeom prst="rect">
            <a:avLst/>
          </a:prstGeom>
          <a:noFill/>
          <a:ln/>
        </p:spPr>
        <p:txBody>
          <a:bodyPr wrap="square" lIns="0" tIns="0" rIns="0" bIns="0" rtlCol="0" anchor="ctr"/>
          <a:lstStyle/>
          <a:p>
            <a:pPr algn="ctr" indent="0" marL="0">
              <a:lnSpc>
                <a:spcPct val="145000"/>
              </a:lnSpc>
              <a:buNone/>
            </a:pPr>
            <a:r>
              <a:rPr lang="en-US" sz="950" dirty="0">
                <a:solidFill>
                  <a:srgbClr val="7F8C8D"/>
                </a:solidFill>
              </a:rPr>
              <a:t>WebSocket live feed updating every 2 seconds. AGT-02 Signal Detection Agent classifies signals with 6-component SCI algorithm.</a:t>
            </a:r>
            <a:endParaRPr lang="en-US" sz="950" dirty="0"/>
          </a:p>
        </p:txBody>
      </p:sp>
      <p:sp>
        <p:nvSpPr>
          <p:cNvPr id="30" name="Shape 28"/>
          <p:cNvSpPr/>
          <p:nvPr/>
        </p:nvSpPr>
        <p:spPr>
          <a:xfrm>
            <a:off x="5760720" y="4005072"/>
            <a:ext cx="3017520"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1" name="Shape 29"/>
          <p:cNvSpPr/>
          <p:nvPr/>
        </p:nvSpPr>
        <p:spPr>
          <a:xfrm>
            <a:off x="5760720" y="4005072"/>
            <a:ext cx="3017520" cy="64008"/>
          </a:xfrm>
          <a:prstGeom prst="rect">
            <a:avLst/>
          </a:prstGeom>
          <a:solidFill>
            <a:srgbClr val="3498DB"/>
          </a:solidFill>
          <a:ln/>
        </p:spPr>
      </p:sp>
      <p:sp>
        <p:nvSpPr>
          <p:cNvPr id="32" name="Text 30"/>
          <p:cNvSpPr/>
          <p:nvPr/>
        </p:nvSpPr>
        <p:spPr>
          <a:xfrm>
            <a:off x="5760720" y="4142232"/>
            <a:ext cx="301752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33" name="Text 31"/>
          <p:cNvSpPr/>
          <p:nvPr/>
        </p:nvSpPr>
        <p:spPr>
          <a:xfrm>
            <a:off x="5897880" y="4700016"/>
            <a:ext cx="2743200" cy="292608"/>
          </a:xfrm>
          <a:prstGeom prst="rect">
            <a:avLst/>
          </a:prstGeom>
          <a:noFill/>
          <a:ln/>
        </p:spPr>
        <p:txBody>
          <a:bodyPr wrap="square" lIns="0" tIns="0" rIns="0" bIns="0" rtlCol="0" anchor="ctr"/>
          <a:lstStyle/>
          <a:p>
            <a:pPr algn="ctr" indent="0" marL="0">
              <a:buNone/>
            </a:pPr>
            <a:r>
              <a:rPr lang="en-US" sz="1300" b="1" dirty="0">
                <a:solidFill>
                  <a:srgbClr val="1A2C3E"/>
                </a:solidFill>
              </a:rPr>
              <a:t>GOSA Methodology</a:t>
            </a:r>
            <a:endParaRPr lang="en-US" sz="1300" dirty="0"/>
          </a:p>
        </p:txBody>
      </p:sp>
      <p:sp>
        <p:nvSpPr>
          <p:cNvPr id="34" name="Shape 32"/>
          <p:cNvSpPr/>
          <p:nvPr/>
        </p:nvSpPr>
        <p:spPr>
          <a:xfrm>
            <a:off x="6035040" y="5029200"/>
            <a:ext cx="2468880" cy="0"/>
          </a:xfrm>
          <a:prstGeom prst="line">
            <a:avLst/>
          </a:prstGeom>
          <a:noFill/>
          <a:ln w="6350">
            <a:solidFill>
              <a:srgbClr val="3498DB">
                <a:alpha val="50000"/>
              </a:srgbClr>
            </a:solidFill>
            <a:prstDash val="solid"/>
          </a:ln>
        </p:spPr>
      </p:sp>
      <p:sp>
        <p:nvSpPr>
          <p:cNvPr id="35" name="Text 33"/>
          <p:cNvSpPr/>
          <p:nvPr/>
        </p:nvSpPr>
        <p:spPr>
          <a:xfrm>
            <a:off x="5897880" y="5138928"/>
            <a:ext cx="2743200" cy="1170432"/>
          </a:xfrm>
          <a:prstGeom prst="rect">
            <a:avLst/>
          </a:prstGeom>
          <a:noFill/>
          <a:ln/>
        </p:spPr>
        <p:txBody>
          <a:bodyPr wrap="square" lIns="0" tIns="0" rIns="0" bIns="0" rtlCol="0" anchor="ctr"/>
          <a:lstStyle/>
          <a:p>
            <a:pPr algn="ctr" indent="0" marL="0">
              <a:lnSpc>
                <a:spcPct val="145000"/>
              </a:lnSpc>
              <a:buNone/>
            </a:pPr>
            <a:r>
              <a:rPr lang="en-US" sz="950" dirty="0">
                <a:solidFill>
                  <a:srgbClr val="7F8C8D"/>
                </a:solidFill>
              </a:rPr>
              <a:t>4-Layer Global Opportunity Score Analysis: 30% Doing Business + 20% Sector + 25% Zones + 25% Market Intelligence. 215+ economies.</a:t>
            </a:r>
            <a:endParaRPr lang="en-US" sz="950" dirty="0"/>
          </a:p>
        </p:txBody>
      </p:sp>
      <p:sp>
        <p:nvSpPr>
          <p:cNvPr id="36" name="Shape 34"/>
          <p:cNvSpPr/>
          <p:nvPr/>
        </p:nvSpPr>
        <p:spPr>
          <a:xfrm>
            <a:off x="8924544" y="4005072"/>
            <a:ext cx="3017520"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7" name="Shape 35"/>
          <p:cNvSpPr/>
          <p:nvPr/>
        </p:nvSpPr>
        <p:spPr>
          <a:xfrm>
            <a:off x="8924544" y="4005072"/>
            <a:ext cx="3017520" cy="64008"/>
          </a:xfrm>
          <a:prstGeom prst="rect">
            <a:avLst/>
          </a:prstGeom>
          <a:solidFill>
            <a:srgbClr val="E74C3C"/>
          </a:solidFill>
          <a:ln/>
        </p:spPr>
      </p:sp>
      <p:sp>
        <p:nvSpPr>
          <p:cNvPr id="38" name="Text 36"/>
          <p:cNvSpPr/>
          <p:nvPr/>
        </p:nvSpPr>
        <p:spPr>
          <a:xfrm>
            <a:off x="8924544" y="4142232"/>
            <a:ext cx="3017520" cy="50292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39" name="Text 37"/>
          <p:cNvSpPr/>
          <p:nvPr/>
        </p:nvSpPr>
        <p:spPr>
          <a:xfrm>
            <a:off x="9061704" y="4700016"/>
            <a:ext cx="2743200" cy="292608"/>
          </a:xfrm>
          <a:prstGeom prst="rect">
            <a:avLst/>
          </a:prstGeom>
          <a:noFill/>
          <a:ln/>
        </p:spPr>
        <p:txBody>
          <a:bodyPr wrap="square" lIns="0" tIns="0" rIns="0" bIns="0" rtlCol="0" anchor="ctr"/>
          <a:lstStyle/>
          <a:p>
            <a:pPr algn="ctr" indent="0" marL="0">
              <a:buNone/>
            </a:pPr>
            <a:r>
              <a:rPr lang="en-US" sz="1300" b="1" dirty="0">
                <a:solidFill>
                  <a:srgbClr val="1A2C3E"/>
                </a:solidFill>
              </a:rPr>
              <a:t>Global Coverage</a:t>
            </a:r>
            <a:endParaRPr lang="en-US" sz="1300" dirty="0"/>
          </a:p>
        </p:txBody>
      </p:sp>
      <p:sp>
        <p:nvSpPr>
          <p:cNvPr id="40" name="Shape 38"/>
          <p:cNvSpPr/>
          <p:nvPr/>
        </p:nvSpPr>
        <p:spPr>
          <a:xfrm>
            <a:off x="9198864" y="5029200"/>
            <a:ext cx="2468880" cy="0"/>
          </a:xfrm>
          <a:prstGeom prst="line">
            <a:avLst/>
          </a:prstGeom>
          <a:noFill/>
          <a:ln w="6350">
            <a:solidFill>
              <a:srgbClr val="E74C3C">
                <a:alpha val="50000"/>
              </a:srgbClr>
            </a:solidFill>
            <a:prstDash val="solid"/>
          </a:ln>
        </p:spPr>
      </p:sp>
      <p:sp>
        <p:nvSpPr>
          <p:cNvPr id="41" name="Text 39"/>
          <p:cNvSpPr/>
          <p:nvPr/>
        </p:nvSpPr>
        <p:spPr>
          <a:xfrm>
            <a:off x="9061704" y="5138928"/>
            <a:ext cx="2743200" cy="1170432"/>
          </a:xfrm>
          <a:prstGeom prst="rect">
            <a:avLst/>
          </a:prstGeom>
          <a:noFill/>
          <a:ln/>
        </p:spPr>
        <p:txBody>
          <a:bodyPr wrap="square" lIns="0" tIns="0" rIns="0" bIns="0" rtlCol="0" anchor="ctr"/>
          <a:lstStyle/>
          <a:p>
            <a:pPr algn="ctr" indent="0" marL="0">
              <a:lnSpc>
                <a:spcPct val="145000"/>
              </a:lnSpc>
              <a:buNone/>
            </a:pPr>
            <a:r>
              <a:rPr lang="en-US" sz="950" dirty="0">
                <a:solidFill>
                  <a:srgbClr val="7F8C8D"/>
                </a:solidFill>
              </a:rPr>
              <a:t>215+ economies, 20+ sectors, 1,200+ investment zones. Most comprehensive FDI database powered by 50+ specialised AI agents.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Brand Identity</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Brand Identity &amp; Design System</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Exact specifications — applied consistently across all 49 platform pages</a:t>
            </a:r>
            <a:endParaRPr lang="en-US" sz="1000" dirty="0"/>
          </a:p>
        </p:txBody>
      </p:sp>
      <p:sp>
        <p:nvSpPr>
          <p:cNvPr id="10" name="Shape 8"/>
          <p:cNvSpPr/>
          <p:nvPr/>
        </p:nvSpPr>
        <p:spPr>
          <a:xfrm>
            <a:off x="365760" y="1481328"/>
            <a:ext cx="3840480" cy="150876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1" name="Shape 9"/>
          <p:cNvSpPr/>
          <p:nvPr/>
        </p:nvSpPr>
        <p:spPr>
          <a:xfrm>
            <a:off x="365760" y="1481328"/>
            <a:ext cx="3840480" cy="64008"/>
          </a:xfrm>
          <a:prstGeom prst="rect">
            <a:avLst/>
          </a:prstGeom>
          <a:solidFill>
            <a:srgbClr val="2ECC71"/>
          </a:solidFill>
          <a:ln/>
        </p:spPr>
      </p:sp>
      <p:sp>
        <p:nvSpPr>
          <p:cNvPr id="12" name="Text 10"/>
          <p:cNvSpPr/>
          <p:nvPr/>
        </p:nvSpPr>
        <p:spPr>
          <a:xfrm>
            <a:off x="530352" y="1627632"/>
            <a:ext cx="1828800" cy="201168"/>
          </a:xfrm>
          <a:prstGeom prst="rect">
            <a:avLst/>
          </a:prstGeom>
          <a:noFill/>
          <a:ln/>
        </p:spPr>
        <p:txBody>
          <a:bodyPr wrap="square" lIns="0" tIns="0" rIns="0" bIns="0" rtlCol="0" anchor="ctr"/>
          <a:lstStyle/>
          <a:p>
            <a:pPr indent="0" marL="0">
              <a:buNone/>
            </a:pPr>
            <a:r>
              <a:rPr lang="en-US" sz="800" b="1" spc="400" kern="0" dirty="0">
                <a:solidFill>
                  <a:srgbClr val="7F8C8D"/>
                </a:solidFill>
              </a:rPr>
              <a:t>LOGO</a:t>
            </a:r>
            <a:endParaRPr lang="en-US" sz="800" dirty="0"/>
          </a:p>
        </p:txBody>
      </p:sp>
      <p:sp>
        <p:nvSpPr>
          <p:cNvPr id="13" name="Shape 11"/>
          <p:cNvSpPr/>
          <p:nvPr/>
        </p:nvSpPr>
        <p:spPr>
          <a:xfrm>
            <a:off x="530352" y="1883664"/>
            <a:ext cx="3511296" cy="987552"/>
          </a:xfrm>
          <a:prstGeom prst="rect">
            <a:avLst/>
          </a:prstGeom>
          <a:solidFill>
            <a:srgbClr val="0A1520"/>
          </a:solidFill>
          <a:ln/>
          <a:effectLst>
            <a:outerShdw sx="100000" sy="100000" kx="0" ky="0" algn="bl" rotWithShape="0" blurRad="127000" dist="38100" dir="8100000">
              <a:srgbClr val="000000">
                <a:alpha val="10000"/>
              </a:srgbClr>
            </a:outerShdw>
          </a:effectLst>
        </p:spPr>
      </p:sp>
      <p:sp>
        <p:nvSpPr>
          <p:cNvPr id="14" name="Text 12"/>
          <p:cNvSpPr/>
          <p:nvPr/>
        </p:nvSpPr>
        <p:spPr>
          <a:xfrm>
            <a:off x="640080" y="2029968"/>
            <a:ext cx="3291840" cy="594360"/>
          </a:xfrm>
          <a:prstGeom prst="rect">
            <a:avLst/>
          </a:prstGeom>
          <a:noFill/>
          <a:ln/>
        </p:spPr>
        <p:txBody>
          <a:bodyPr wrap="square" lIns="0" tIns="0" rIns="0" bIns="0" rtlCol="0" anchor="ctr"/>
          <a:lstStyle/>
          <a:p>
            <a:pPr algn="ctr" indent="0" marL="0">
              <a:buNone/>
            </a:pPr>
            <a:r>
              <a:rPr lang="en-US" sz="2200" b="1" spc="300" kern="0" dirty="0">
                <a:solidFill>
                  <a:srgbClr val="FFFFFF"/>
                </a:solidFill>
              </a:rPr>
              <a:t>GLOBAL </a:t>
            </a:r>
            <a:pPr algn="ctr" indent="0" marL="0">
              <a:buNone/>
            </a:pPr>
            <a:r>
              <a:rPr lang="en-US" sz="2200" b="1" spc="300" kern="0" dirty="0">
                <a:solidFill>
                  <a:srgbClr val="2ECC71"/>
                </a:solidFill>
              </a:rPr>
              <a:t>FDI</a:t>
            </a:r>
            <a:pPr algn="ctr" indent="0" marL="0">
              <a:buNone/>
            </a:pPr>
            <a:r>
              <a:rPr lang="en-US" sz="2200" b="1" spc="300" kern="0" dirty="0">
                <a:solidFill>
                  <a:srgbClr val="FFFFFF"/>
                </a:solidFill>
              </a:rPr>
              <a:t> MONITOR</a:t>
            </a:r>
            <a:endParaRPr lang="en-US" sz="2200" dirty="0"/>
          </a:p>
        </p:txBody>
      </p:sp>
      <p:sp>
        <p:nvSpPr>
          <p:cNvPr id="15" name="Text 13"/>
          <p:cNvSpPr/>
          <p:nvPr/>
        </p:nvSpPr>
        <p:spPr>
          <a:xfrm>
            <a:off x="530352" y="2743200"/>
            <a:ext cx="3511296" cy="182880"/>
          </a:xfrm>
          <a:prstGeom prst="rect">
            <a:avLst/>
          </a:prstGeom>
          <a:noFill/>
          <a:ln/>
        </p:spPr>
        <p:txBody>
          <a:bodyPr wrap="square" lIns="0" tIns="0" rIns="0" bIns="0" rtlCol="0" anchor="ctr"/>
          <a:lstStyle/>
          <a:p>
            <a:pPr algn="ctr" indent="0" marL="0">
              <a:buNone/>
            </a:pPr>
            <a:r>
              <a:rPr lang="en-US" sz="700" dirty="0">
                <a:solidFill>
                  <a:srgbClr val="7F8C8D"/>
                </a:solidFill>
              </a:rPr>
              <a:t>Globe SVG mark + Helvetica Neue Bold wordmark</a:t>
            </a:r>
            <a:endParaRPr lang="en-US" sz="700" dirty="0"/>
          </a:p>
        </p:txBody>
      </p:sp>
      <p:sp>
        <p:nvSpPr>
          <p:cNvPr id="16" name="Text 14"/>
          <p:cNvSpPr/>
          <p:nvPr/>
        </p:nvSpPr>
        <p:spPr>
          <a:xfrm>
            <a:off x="365760" y="3163824"/>
            <a:ext cx="11430000" cy="219456"/>
          </a:xfrm>
          <a:prstGeom prst="rect">
            <a:avLst/>
          </a:prstGeom>
          <a:noFill/>
          <a:ln/>
        </p:spPr>
        <p:txBody>
          <a:bodyPr wrap="square" lIns="0" tIns="0" rIns="0" bIns="0" rtlCol="0" anchor="ctr"/>
          <a:lstStyle/>
          <a:p>
            <a:pPr indent="0" marL="0">
              <a:buNone/>
            </a:pPr>
            <a:r>
              <a:rPr lang="en-US" sz="800" b="1" spc="300" kern="0" dirty="0">
                <a:solidFill>
                  <a:srgbClr val="7F8C8D"/>
                </a:solidFill>
              </a:rPr>
              <a:t>COLOR PALETTE — EXACT HEX VALUES</a:t>
            </a:r>
            <a:endParaRPr lang="en-US" sz="800" dirty="0"/>
          </a:p>
        </p:txBody>
      </p:sp>
      <p:sp>
        <p:nvSpPr>
          <p:cNvPr id="17" name="Shape 15"/>
          <p:cNvSpPr/>
          <p:nvPr/>
        </p:nvSpPr>
        <p:spPr>
          <a:xfrm>
            <a:off x="365760" y="3438144"/>
            <a:ext cx="1371600" cy="731520"/>
          </a:xfrm>
          <a:prstGeom prst="rect">
            <a:avLst/>
          </a:prstGeom>
          <a:solidFill>
            <a:srgbClr val="1A2C3E"/>
          </a:solidFill>
          <a:ln/>
          <a:effectLst>
            <a:outerShdw sx="100000" sy="100000" kx="0" ky="0" algn="bl" rotWithShape="0" blurRad="127000" dist="38100" dir="8100000">
              <a:srgbClr val="000000">
                <a:alpha val="10000"/>
              </a:srgbClr>
            </a:outerShdw>
          </a:effectLst>
        </p:spPr>
      </p:sp>
      <p:sp>
        <p:nvSpPr>
          <p:cNvPr id="18" name="Text 16"/>
          <p:cNvSpPr/>
          <p:nvPr/>
        </p:nvSpPr>
        <p:spPr>
          <a:xfrm>
            <a:off x="365760" y="358444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#1A2C3E</a:t>
            </a:r>
            <a:endParaRPr lang="en-US" sz="1000" dirty="0"/>
          </a:p>
        </p:txBody>
      </p:sp>
      <p:sp>
        <p:nvSpPr>
          <p:cNvPr id="19" name="Shape 17"/>
          <p:cNvSpPr/>
          <p:nvPr/>
        </p:nvSpPr>
        <p:spPr>
          <a:xfrm>
            <a:off x="36576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0" name="Text 18"/>
          <p:cNvSpPr/>
          <p:nvPr/>
        </p:nvSpPr>
        <p:spPr>
          <a:xfrm>
            <a:off x="43891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Primary Dark Blue</a:t>
            </a:r>
            <a:endParaRPr lang="en-US" sz="850" dirty="0"/>
          </a:p>
        </p:txBody>
      </p:sp>
      <p:sp>
        <p:nvSpPr>
          <p:cNvPr id="21" name="Text 19"/>
          <p:cNvSpPr/>
          <p:nvPr/>
        </p:nvSpPr>
        <p:spPr>
          <a:xfrm>
            <a:off x="43891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Headers · Nav · Primary Buttons · Map Top Tier</a:t>
            </a:r>
            <a:endParaRPr lang="en-US" sz="750" dirty="0"/>
          </a:p>
        </p:txBody>
      </p:sp>
      <p:sp>
        <p:nvSpPr>
          <p:cNvPr id="22" name="Shape 20"/>
          <p:cNvSpPr/>
          <p:nvPr/>
        </p:nvSpPr>
        <p:spPr>
          <a:xfrm>
            <a:off x="1805940" y="3438144"/>
            <a:ext cx="1371600" cy="731520"/>
          </a:xfrm>
          <a:prstGeom prst="rect">
            <a:avLst/>
          </a:prstGeom>
          <a:solidFill>
            <a:srgbClr val="0F1E2A"/>
          </a:solidFill>
          <a:ln/>
          <a:effectLst>
            <a:outerShdw sx="100000" sy="100000" kx="0" ky="0" algn="bl" rotWithShape="0" blurRad="127000" dist="38100" dir="8100000">
              <a:srgbClr val="000000">
                <a:alpha val="10000"/>
              </a:srgbClr>
            </a:outerShdw>
          </a:effectLst>
        </p:spPr>
      </p:sp>
      <p:sp>
        <p:nvSpPr>
          <p:cNvPr id="23" name="Text 21"/>
          <p:cNvSpPr/>
          <p:nvPr/>
        </p:nvSpPr>
        <p:spPr>
          <a:xfrm>
            <a:off x="1805940" y="358444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#0F1E2A</a:t>
            </a:r>
            <a:endParaRPr lang="en-US" sz="1000" dirty="0"/>
          </a:p>
        </p:txBody>
      </p:sp>
      <p:sp>
        <p:nvSpPr>
          <p:cNvPr id="24" name="Shape 22"/>
          <p:cNvSpPr/>
          <p:nvPr/>
        </p:nvSpPr>
        <p:spPr>
          <a:xfrm>
            <a:off x="180594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5" name="Text 23"/>
          <p:cNvSpPr/>
          <p:nvPr/>
        </p:nvSpPr>
        <p:spPr>
          <a:xfrm>
            <a:off x="187909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Background Dark</a:t>
            </a:r>
            <a:endParaRPr lang="en-US" sz="850" dirty="0"/>
          </a:p>
        </p:txBody>
      </p:sp>
      <p:sp>
        <p:nvSpPr>
          <p:cNvPr id="26" name="Text 24"/>
          <p:cNvSpPr/>
          <p:nvPr/>
        </p:nvSpPr>
        <p:spPr>
          <a:xfrm>
            <a:off x="187909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Page backgrounds · Footer · Dark panels</a:t>
            </a:r>
            <a:endParaRPr lang="en-US" sz="750" dirty="0"/>
          </a:p>
        </p:txBody>
      </p:sp>
      <p:sp>
        <p:nvSpPr>
          <p:cNvPr id="27" name="Shape 25"/>
          <p:cNvSpPr/>
          <p:nvPr/>
        </p:nvSpPr>
        <p:spPr>
          <a:xfrm>
            <a:off x="3246120" y="3438144"/>
            <a:ext cx="1371600" cy="731520"/>
          </a:xfrm>
          <a:prstGeom prst="rect">
            <a:avLst/>
          </a:prstGeom>
          <a:solidFill>
            <a:srgbClr val="2ECC71"/>
          </a:solidFill>
          <a:ln/>
          <a:effectLst>
            <a:outerShdw sx="100000" sy="100000" kx="0" ky="0" algn="bl" rotWithShape="0" blurRad="127000" dist="38100" dir="8100000">
              <a:srgbClr val="000000">
                <a:alpha val="10000"/>
              </a:srgbClr>
            </a:outerShdw>
          </a:effectLst>
        </p:spPr>
      </p:sp>
      <p:sp>
        <p:nvSpPr>
          <p:cNvPr id="28" name="Text 26"/>
          <p:cNvSpPr/>
          <p:nvPr/>
        </p:nvSpPr>
        <p:spPr>
          <a:xfrm>
            <a:off x="3246120" y="358444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#2ECC71</a:t>
            </a:r>
            <a:endParaRPr lang="en-US" sz="1000" dirty="0"/>
          </a:p>
        </p:txBody>
      </p:sp>
      <p:sp>
        <p:nvSpPr>
          <p:cNvPr id="29" name="Shape 27"/>
          <p:cNvSpPr/>
          <p:nvPr/>
        </p:nvSpPr>
        <p:spPr>
          <a:xfrm>
            <a:off x="324612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0" name="Text 28"/>
          <p:cNvSpPr/>
          <p:nvPr/>
        </p:nvSpPr>
        <p:spPr>
          <a:xfrm>
            <a:off x="331927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Accent Teal ★</a:t>
            </a:r>
            <a:endParaRPr lang="en-US" sz="850" dirty="0"/>
          </a:p>
        </p:txBody>
      </p:sp>
      <p:sp>
        <p:nvSpPr>
          <p:cNvPr id="31" name="Text 29"/>
          <p:cNvSpPr/>
          <p:nvPr/>
        </p:nvSpPr>
        <p:spPr>
          <a:xfrm>
            <a:off x="331927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CTAs · Positive trends · LIVE indicator · CTA buttons</a:t>
            </a:r>
            <a:endParaRPr lang="en-US" sz="750" dirty="0"/>
          </a:p>
        </p:txBody>
      </p:sp>
      <p:sp>
        <p:nvSpPr>
          <p:cNvPr id="32" name="Shape 30"/>
          <p:cNvSpPr/>
          <p:nvPr/>
        </p:nvSpPr>
        <p:spPr>
          <a:xfrm>
            <a:off x="4686300" y="3438144"/>
            <a:ext cx="1371600" cy="731520"/>
          </a:xfrm>
          <a:prstGeom prst="rect">
            <a:avLst/>
          </a:prstGeom>
          <a:solidFill>
            <a:srgbClr val="F1C40F"/>
          </a:solidFill>
          <a:ln/>
          <a:effectLst>
            <a:outerShdw sx="100000" sy="100000" kx="0" ky="0" algn="bl" rotWithShape="0" blurRad="127000" dist="38100" dir="8100000">
              <a:srgbClr val="000000">
                <a:alpha val="10000"/>
              </a:srgbClr>
            </a:outerShdw>
          </a:effectLst>
        </p:spPr>
      </p:sp>
      <p:sp>
        <p:nvSpPr>
          <p:cNvPr id="33" name="Text 31"/>
          <p:cNvSpPr/>
          <p:nvPr/>
        </p:nvSpPr>
        <p:spPr>
          <a:xfrm>
            <a:off x="4686300" y="3584448"/>
            <a:ext cx="1371600" cy="274320"/>
          </a:xfrm>
          <a:prstGeom prst="rect">
            <a:avLst/>
          </a:prstGeom>
          <a:noFill/>
          <a:ln/>
        </p:spPr>
        <p:txBody>
          <a:bodyPr wrap="square" lIns="0" tIns="0" rIns="0" bIns="0" rtlCol="0" anchor="ctr"/>
          <a:lstStyle/>
          <a:p>
            <a:pPr algn="ctr" indent="0" marL="0">
              <a:buNone/>
            </a:pPr>
            <a:r>
              <a:rPr lang="en-US" sz="1000" b="1" dirty="0">
                <a:solidFill>
                  <a:srgbClr val="1A2C3E"/>
                </a:solidFill>
              </a:rPr>
              <a:t>#F1C40F</a:t>
            </a:r>
            <a:endParaRPr lang="en-US" sz="1000" dirty="0"/>
          </a:p>
        </p:txBody>
      </p:sp>
      <p:sp>
        <p:nvSpPr>
          <p:cNvPr id="34" name="Shape 32"/>
          <p:cNvSpPr/>
          <p:nvPr/>
        </p:nvSpPr>
        <p:spPr>
          <a:xfrm>
            <a:off x="468630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5" name="Text 33"/>
          <p:cNvSpPr/>
          <p:nvPr/>
        </p:nvSpPr>
        <p:spPr>
          <a:xfrm>
            <a:off x="475945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Gold ★</a:t>
            </a:r>
            <a:endParaRPr lang="en-US" sz="850" dirty="0"/>
          </a:p>
        </p:txBody>
      </p:sp>
      <p:sp>
        <p:nvSpPr>
          <p:cNvPr id="36" name="Text 34"/>
          <p:cNvSpPr/>
          <p:nvPr/>
        </p:nvSpPr>
        <p:spPr>
          <a:xfrm>
            <a:off x="475945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Highlights · Warnings · Premium features · Expiring</a:t>
            </a:r>
            <a:endParaRPr lang="en-US" sz="750" dirty="0"/>
          </a:p>
        </p:txBody>
      </p:sp>
      <p:sp>
        <p:nvSpPr>
          <p:cNvPr id="37" name="Shape 35"/>
          <p:cNvSpPr/>
          <p:nvPr/>
        </p:nvSpPr>
        <p:spPr>
          <a:xfrm>
            <a:off x="6126480" y="3438144"/>
            <a:ext cx="1371600" cy="731520"/>
          </a:xfrm>
          <a:prstGeom prst="rect">
            <a:avLst/>
          </a:prstGeom>
          <a:solidFill>
            <a:srgbClr val="E74C3C"/>
          </a:solidFill>
          <a:ln/>
          <a:effectLst>
            <a:outerShdw sx="100000" sy="100000" kx="0" ky="0" algn="bl" rotWithShape="0" blurRad="127000" dist="38100" dir="8100000">
              <a:srgbClr val="000000">
                <a:alpha val="10000"/>
              </a:srgbClr>
            </a:outerShdw>
          </a:effectLst>
        </p:spPr>
      </p:sp>
      <p:sp>
        <p:nvSpPr>
          <p:cNvPr id="38" name="Text 36"/>
          <p:cNvSpPr/>
          <p:nvPr/>
        </p:nvSpPr>
        <p:spPr>
          <a:xfrm>
            <a:off x="6126480" y="358444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#E74C3C</a:t>
            </a:r>
            <a:endParaRPr lang="en-US" sz="1000" dirty="0"/>
          </a:p>
        </p:txBody>
      </p:sp>
      <p:sp>
        <p:nvSpPr>
          <p:cNvPr id="39" name="Shape 37"/>
          <p:cNvSpPr/>
          <p:nvPr/>
        </p:nvSpPr>
        <p:spPr>
          <a:xfrm>
            <a:off x="612648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0" name="Text 38"/>
          <p:cNvSpPr/>
          <p:nvPr/>
        </p:nvSpPr>
        <p:spPr>
          <a:xfrm>
            <a:off x="619963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Alert Red</a:t>
            </a:r>
            <a:endParaRPr lang="en-US" sz="850" dirty="0"/>
          </a:p>
        </p:txBody>
      </p:sp>
      <p:sp>
        <p:nvSpPr>
          <p:cNvPr id="41" name="Text 39"/>
          <p:cNvSpPr/>
          <p:nvPr/>
        </p:nvSpPr>
        <p:spPr>
          <a:xfrm>
            <a:off x="619963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Negative trends · Errors · Policy changes</a:t>
            </a:r>
            <a:endParaRPr lang="en-US" sz="750" dirty="0"/>
          </a:p>
        </p:txBody>
      </p:sp>
      <p:sp>
        <p:nvSpPr>
          <p:cNvPr id="42" name="Shape 40"/>
          <p:cNvSpPr/>
          <p:nvPr/>
        </p:nvSpPr>
        <p:spPr>
          <a:xfrm>
            <a:off x="7566660" y="3438144"/>
            <a:ext cx="1371600" cy="731520"/>
          </a:xfrm>
          <a:prstGeom prst="rect">
            <a:avLst/>
          </a:prstGeom>
          <a:solidFill>
            <a:srgbClr val="3498DB"/>
          </a:solidFill>
          <a:ln/>
          <a:effectLst>
            <a:outerShdw sx="100000" sy="100000" kx="0" ky="0" algn="bl" rotWithShape="0" blurRad="127000" dist="38100" dir="8100000">
              <a:srgbClr val="000000">
                <a:alpha val="10000"/>
              </a:srgbClr>
            </a:outerShdw>
          </a:effectLst>
        </p:spPr>
      </p:sp>
      <p:sp>
        <p:nvSpPr>
          <p:cNvPr id="43" name="Text 41"/>
          <p:cNvSpPr/>
          <p:nvPr/>
        </p:nvSpPr>
        <p:spPr>
          <a:xfrm>
            <a:off x="7566660" y="358444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#3498DB</a:t>
            </a:r>
            <a:endParaRPr lang="en-US" sz="1000" dirty="0"/>
          </a:p>
        </p:txBody>
      </p:sp>
      <p:sp>
        <p:nvSpPr>
          <p:cNvPr id="44" name="Shape 42"/>
          <p:cNvSpPr/>
          <p:nvPr/>
        </p:nvSpPr>
        <p:spPr>
          <a:xfrm>
            <a:off x="756666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5" name="Text 43"/>
          <p:cNvSpPr/>
          <p:nvPr/>
        </p:nvSpPr>
        <p:spPr>
          <a:xfrm>
            <a:off x="763981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Blue</a:t>
            </a:r>
            <a:endParaRPr lang="en-US" sz="850" dirty="0"/>
          </a:p>
        </p:txBody>
      </p:sp>
      <p:sp>
        <p:nvSpPr>
          <p:cNvPr id="46" name="Text 44"/>
          <p:cNvSpPr/>
          <p:nvPr/>
        </p:nvSpPr>
        <p:spPr>
          <a:xfrm>
            <a:off x="763981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Sector growth · Competitor moves · Info badges</a:t>
            </a:r>
            <a:endParaRPr lang="en-US" sz="750" dirty="0"/>
          </a:p>
        </p:txBody>
      </p:sp>
      <p:sp>
        <p:nvSpPr>
          <p:cNvPr id="47" name="Shape 45"/>
          <p:cNvSpPr/>
          <p:nvPr/>
        </p:nvSpPr>
        <p:spPr>
          <a:xfrm>
            <a:off x="9006840" y="3438144"/>
            <a:ext cx="1371600" cy="731520"/>
          </a:xfrm>
          <a:prstGeom prst="rect">
            <a:avLst/>
          </a:prstGeom>
          <a:solidFill>
            <a:srgbClr val="9B59B6"/>
          </a:solidFill>
          <a:ln/>
          <a:effectLst>
            <a:outerShdw sx="100000" sy="100000" kx="0" ky="0" algn="bl" rotWithShape="0" blurRad="127000" dist="38100" dir="8100000">
              <a:srgbClr val="000000">
                <a:alpha val="10000"/>
              </a:srgbClr>
            </a:outerShdw>
          </a:effectLst>
        </p:spPr>
      </p:sp>
      <p:sp>
        <p:nvSpPr>
          <p:cNvPr id="48" name="Text 46"/>
          <p:cNvSpPr/>
          <p:nvPr/>
        </p:nvSpPr>
        <p:spPr>
          <a:xfrm>
            <a:off x="9006840" y="358444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rPr>
              <a:t>#9B59B6</a:t>
            </a:r>
            <a:endParaRPr lang="en-US" sz="1000" dirty="0"/>
          </a:p>
        </p:txBody>
      </p:sp>
      <p:sp>
        <p:nvSpPr>
          <p:cNvPr id="49" name="Shape 47"/>
          <p:cNvSpPr/>
          <p:nvPr/>
        </p:nvSpPr>
        <p:spPr>
          <a:xfrm>
            <a:off x="900684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0" name="Text 48"/>
          <p:cNvSpPr/>
          <p:nvPr/>
        </p:nvSpPr>
        <p:spPr>
          <a:xfrm>
            <a:off x="907999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Purple</a:t>
            </a:r>
            <a:endParaRPr lang="en-US" sz="850" dirty="0"/>
          </a:p>
        </p:txBody>
      </p:sp>
      <p:sp>
        <p:nvSpPr>
          <p:cNvPr id="51" name="Text 49"/>
          <p:cNvSpPr/>
          <p:nvPr/>
        </p:nvSpPr>
        <p:spPr>
          <a:xfrm>
            <a:off x="907999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PLATINUM grade · Competitor signals · Premium</a:t>
            </a:r>
            <a:endParaRPr lang="en-US" sz="750" dirty="0"/>
          </a:p>
        </p:txBody>
      </p:sp>
      <p:sp>
        <p:nvSpPr>
          <p:cNvPr id="52" name="Shape 50"/>
          <p:cNvSpPr/>
          <p:nvPr/>
        </p:nvSpPr>
        <p:spPr>
          <a:xfrm>
            <a:off x="10447020" y="3438144"/>
            <a:ext cx="1371600" cy="731520"/>
          </a:xfrm>
          <a:prstGeom prst="rect">
            <a:avLst/>
          </a:prstGeom>
          <a:solidFill>
            <a:srgbClr val="ECF0F1"/>
          </a:solidFill>
          <a:ln/>
          <a:effectLst>
            <a:outerShdw sx="100000" sy="100000" kx="0" ky="0" algn="bl" rotWithShape="0" blurRad="127000" dist="38100" dir="8100000">
              <a:srgbClr val="000000">
                <a:alpha val="10000"/>
              </a:srgbClr>
            </a:outerShdw>
          </a:effectLst>
        </p:spPr>
      </p:sp>
      <p:sp>
        <p:nvSpPr>
          <p:cNvPr id="53" name="Text 51"/>
          <p:cNvSpPr/>
          <p:nvPr/>
        </p:nvSpPr>
        <p:spPr>
          <a:xfrm>
            <a:off x="10447020" y="3584448"/>
            <a:ext cx="1371600" cy="274320"/>
          </a:xfrm>
          <a:prstGeom prst="rect">
            <a:avLst/>
          </a:prstGeom>
          <a:noFill/>
          <a:ln/>
        </p:spPr>
        <p:txBody>
          <a:bodyPr wrap="square" lIns="0" tIns="0" rIns="0" bIns="0" rtlCol="0" anchor="ctr"/>
          <a:lstStyle/>
          <a:p>
            <a:pPr algn="ctr" indent="0" marL="0">
              <a:buNone/>
            </a:pPr>
            <a:r>
              <a:rPr lang="en-US" sz="1000" b="1" dirty="0">
                <a:solidFill>
                  <a:srgbClr val="1A2C3E"/>
                </a:solidFill>
              </a:rPr>
              <a:t>#ECF0F1</a:t>
            </a:r>
            <a:endParaRPr lang="en-US" sz="1000" dirty="0"/>
          </a:p>
        </p:txBody>
      </p:sp>
      <p:sp>
        <p:nvSpPr>
          <p:cNvPr id="54" name="Shape 52"/>
          <p:cNvSpPr/>
          <p:nvPr/>
        </p:nvSpPr>
        <p:spPr>
          <a:xfrm>
            <a:off x="10447020" y="4224528"/>
            <a:ext cx="1371600" cy="9875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5" name="Text 53"/>
          <p:cNvSpPr/>
          <p:nvPr/>
        </p:nvSpPr>
        <p:spPr>
          <a:xfrm>
            <a:off x="10520172" y="4279392"/>
            <a:ext cx="1225296" cy="274320"/>
          </a:xfrm>
          <a:prstGeom prst="rect">
            <a:avLst/>
          </a:prstGeom>
          <a:noFill/>
          <a:ln/>
        </p:spPr>
        <p:txBody>
          <a:bodyPr wrap="square" lIns="0" tIns="0" rIns="0" bIns="0" rtlCol="0" anchor="ctr"/>
          <a:lstStyle/>
          <a:p>
            <a:pPr indent="0" marL="0">
              <a:buNone/>
            </a:pPr>
            <a:r>
              <a:rPr lang="en-US" sz="850" b="1" dirty="0">
                <a:solidFill>
                  <a:srgbClr val="1A2C3E"/>
                </a:solidFill>
              </a:rPr>
              <a:t>Light Gray</a:t>
            </a:r>
            <a:endParaRPr lang="en-US" sz="850" dirty="0"/>
          </a:p>
        </p:txBody>
      </p:sp>
      <p:sp>
        <p:nvSpPr>
          <p:cNvPr id="56" name="Text 54"/>
          <p:cNvSpPr/>
          <p:nvPr/>
        </p:nvSpPr>
        <p:spPr>
          <a:xfrm>
            <a:off x="10520172" y="4572000"/>
            <a:ext cx="1225296" cy="594360"/>
          </a:xfrm>
          <a:prstGeom prst="rect">
            <a:avLst/>
          </a:prstGeom>
          <a:noFill/>
          <a:ln/>
        </p:spPr>
        <p:txBody>
          <a:bodyPr wrap="square" lIns="0" tIns="0" rIns="0" bIns="0" rtlCol="0" anchor="ctr"/>
          <a:lstStyle/>
          <a:p>
            <a:pPr indent="0" marL="0">
              <a:lnSpc>
                <a:spcPct val="130000"/>
              </a:lnSpc>
              <a:buNone/>
            </a:pPr>
            <a:r>
              <a:rPr lang="en-US" sz="750" dirty="0">
                <a:solidFill>
                  <a:srgbClr val="7F8C8D"/>
                </a:solidFill>
              </a:rPr>
              <a:t>Borders · Dividers · Card backgrounds</a:t>
            </a:r>
            <a:endParaRPr lang="en-US" sz="750" dirty="0"/>
          </a:p>
        </p:txBody>
      </p:sp>
      <p:sp>
        <p:nvSpPr>
          <p:cNvPr id="57" name="Text 55"/>
          <p:cNvSpPr/>
          <p:nvPr/>
        </p:nvSpPr>
        <p:spPr>
          <a:xfrm>
            <a:off x="365760" y="5285232"/>
            <a:ext cx="4572000" cy="201168"/>
          </a:xfrm>
          <a:prstGeom prst="rect">
            <a:avLst/>
          </a:prstGeom>
          <a:noFill/>
          <a:ln/>
        </p:spPr>
        <p:txBody>
          <a:bodyPr wrap="square" lIns="0" tIns="0" rIns="0" bIns="0" rtlCol="0" anchor="ctr"/>
          <a:lstStyle/>
          <a:p>
            <a:pPr indent="0" marL="0">
              <a:buNone/>
            </a:pPr>
            <a:r>
              <a:rPr lang="en-US" sz="800" b="1" dirty="0">
                <a:solidFill>
                  <a:srgbClr val="2ECC71"/>
                </a:solidFill>
              </a:rPr>
              <a:t>★ Primary brand colors required on ALL pages</a:t>
            </a:r>
            <a:endParaRPr lang="en-US" sz="800" dirty="0"/>
          </a:p>
        </p:txBody>
      </p:sp>
      <p:sp>
        <p:nvSpPr>
          <p:cNvPr id="58" name="Text 56"/>
          <p:cNvSpPr/>
          <p:nvPr/>
        </p:nvSpPr>
        <p:spPr>
          <a:xfrm>
            <a:off x="365760" y="5541264"/>
            <a:ext cx="11430000" cy="201168"/>
          </a:xfrm>
          <a:prstGeom prst="rect">
            <a:avLst/>
          </a:prstGeom>
          <a:noFill/>
          <a:ln/>
        </p:spPr>
        <p:txBody>
          <a:bodyPr wrap="square" lIns="0" tIns="0" rIns="0" bIns="0" rtlCol="0" anchor="ctr"/>
          <a:lstStyle/>
          <a:p>
            <a:pPr indent="0" marL="0">
              <a:buNone/>
            </a:pPr>
            <a:r>
              <a:rPr lang="en-US" sz="800" b="1" spc="300" kern="0" dirty="0">
                <a:solidFill>
                  <a:srgbClr val="7F8C8D"/>
                </a:solidFill>
              </a:rPr>
              <a:t>TYPOGRAPHY</a:t>
            </a:r>
            <a:endParaRPr lang="en-US" sz="800" dirty="0"/>
          </a:p>
        </p:txBody>
      </p:sp>
      <p:sp>
        <p:nvSpPr>
          <p:cNvPr id="59" name="Shape 57"/>
          <p:cNvSpPr/>
          <p:nvPr/>
        </p:nvSpPr>
        <p:spPr>
          <a:xfrm>
            <a:off x="365760" y="5779008"/>
            <a:ext cx="5742432" cy="71323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0" name="Shape 58"/>
          <p:cNvSpPr/>
          <p:nvPr/>
        </p:nvSpPr>
        <p:spPr>
          <a:xfrm>
            <a:off x="365760" y="5779008"/>
            <a:ext cx="54864" cy="713232"/>
          </a:xfrm>
          <a:prstGeom prst="rect">
            <a:avLst/>
          </a:prstGeom>
          <a:solidFill>
            <a:srgbClr val="2ECC71"/>
          </a:solidFill>
          <a:ln/>
        </p:spPr>
      </p:sp>
      <p:sp>
        <p:nvSpPr>
          <p:cNvPr id="61" name="Text 59"/>
          <p:cNvSpPr/>
          <p:nvPr/>
        </p:nvSpPr>
        <p:spPr>
          <a:xfrm>
            <a:off x="566928" y="5833872"/>
            <a:ext cx="5303520" cy="256032"/>
          </a:xfrm>
          <a:prstGeom prst="rect">
            <a:avLst/>
          </a:prstGeom>
          <a:noFill/>
          <a:ln/>
        </p:spPr>
        <p:txBody>
          <a:bodyPr wrap="square" lIns="0" tIns="0" rIns="0" bIns="0" rtlCol="0" anchor="ctr"/>
          <a:lstStyle/>
          <a:p>
            <a:pPr indent="0" marL="0">
              <a:buNone/>
            </a:pPr>
            <a:r>
              <a:rPr lang="en-US" sz="1100" b="1" dirty="0">
                <a:solidFill>
                  <a:srgbClr val="1A2C3E"/>
                </a:solidFill>
              </a:rPr>
              <a:t>Inter / Helvetica Neue</a:t>
            </a:r>
            <a:endParaRPr lang="en-US" sz="1100" dirty="0"/>
          </a:p>
        </p:txBody>
      </p:sp>
      <p:sp>
        <p:nvSpPr>
          <p:cNvPr id="62" name="Text 60"/>
          <p:cNvSpPr/>
          <p:nvPr/>
        </p:nvSpPr>
        <p:spPr>
          <a:xfrm>
            <a:off x="566928" y="6089904"/>
            <a:ext cx="2926080" cy="310896"/>
          </a:xfrm>
          <a:prstGeom prst="rect">
            <a:avLst/>
          </a:prstGeom>
          <a:noFill/>
          <a:ln/>
        </p:spPr>
        <p:txBody>
          <a:bodyPr wrap="square" lIns="0" tIns="0" rIns="0" bIns="0" rtlCol="0" anchor="ctr"/>
          <a:lstStyle/>
          <a:p>
            <a:pPr indent="0" marL="0">
              <a:buNone/>
            </a:pPr>
            <a:r>
              <a:rPr lang="en-US" sz="1600" b="1" dirty="0">
                <a:solidFill>
                  <a:srgbClr val="1A2C3E"/>
                </a:solidFill>
              </a:rPr>
              <a:t>AaBbCc  Titles &amp; Body</a:t>
            </a:r>
            <a:endParaRPr lang="en-US" sz="1600" dirty="0"/>
          </a:p>
        </p:txBody>
      </p:sp>
      <p:sp>
        <p:nvSpPr>
          <p:cNvPr id="63" name="Text 61"/>
          <p:cNvSpPr/>
          <p:nvPr/>
        </p:nvSpPr>
        <p:spPr>
          <a:xfrm>
            <a:off x="3383280" y="6108192"/>
            <a:ext cx="2834640" cy="310896"/>
          </a:xfrm>
          <a:prstGeom prst="rect">
            <a:avLst/>
          </a:prstGeom>
          <a:noFill/>
          <a:ln/>
        </p:spPr>
        <p:txBody>
          <a:bodyPr wrap="square" lIns="0" tIns="0" rIns="0" bIns="0" rtlCol="0" anchor="ctr"/>
          <a:lstStyle/>
          <a:p>
            <a:pPr algn="r" indent="0" marL="0">
              <a:buNone/>
            </a:pPr>
            <a:r>
              <a:rPr lang="en-US" sz="800" dirty="0">
                <a:solidFill>
                  <a:srgbClr val="7F8C8D"/>
                </a:solidFill>
              </a:rPr>
              <a:t>All UI text — nav, body, labels, buttons, descriptions</a:t>
            </a:r>
            <a:endParaRPr lang="en-US" sz="800" dirty="0"/>
          </a:p>
        </p:txBody>
      </p:sp>
      <p:sp>
        <p:nvSpPr>
          <p:cNvPr id="64" name="Shape 62"/>
          <p:cNvSpPr/>
          <p:nvPr/>
        </p:nvSpPr>
        <p:spPr>
          <a:xfrm>
            <a:off x="6309360" y="5779008"/>
            <a:ext cx="5742432" cy="71323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5" name="Shape 63"/>
          <p:cNvSpPr/>
          <p:nvPr/>
        </p:nvSpPr>
        <p:spPr>
          <a:xfrm>
            <a:off x="6309360" y="5779008"/>
            <a:ext cx="54864" cy="713232"/>
          </a:xfrm>
          <a:prstGeom prst="rect">
            <a:avLst/>
          </a:prstGeom>
          <a:solidFill>
            <a:srgbClr val="2ECC71"/>
          </a:solidFill>
          <a:ln/>
        </p:spPr>
      </p:sp>
      <p:sp>
        <p:nvSpPr>
          <p:cNvPr id="66" name="Text 64"/>
          <p:cNvSpPr/>
          <p:nvPr/>
        </p:nvSpPr>
        <p:spPr>
          <a:xfrm>
            <a:off x="6510528" y="5833872"/>
            <a:ext cx="5303520" cy="256032"/>
          </a:xfrm>
          <a:prstGeom prst="rect">
            <a:avLst/>
          </a:prstGeom>
          <a:noFill/>
          <a:ln/>
        </p:spPr>
        <p:txBody>
          <a:bodyPr wrap="square" lIns="0" tIns="0" rIns="0" bIns="0" rtlCol="0" anchor="ctr"/>
          <a:lstStyle/>
          <a:p>
            <a:pPr indent="0" marL="0">
              <a:buNone/>
            </a:pPr>
            <a:r>
              <a:rPr lang="en-US" sz="1100" b="1" dirty="0">
                <a:solidFill>
                  <a:srgbClr val="1A2C3E"/>
                </a:solidFill>
              </a:rPr>
              <a:t>JetBrains Mono (Monospace)</a:t>
            </a:r>
            <a:endParaRPr lang="en-US" sz="1100" dirty="0"/>
          </a:p>
        </p:txBody>
      </p:sp>
      <p:sp>
        <p:nvSpPr>
          <p:cNvPr id="67" name="Text 65"/>
          <p:cNvSpPr/>
          <p:nvPr/>
        </p:nvSpPr>
        <p:spPr>
          <a:xfrm>
            <a:off x="6510528" y="6089904"/>
            <a:ext cx="2926080" cy="310896"/>
          </a:xfrm>
          <a:prstGeom prst="rect">
            <a:avLst/>
          </a:prstGeom>
          <a:noFill/>
          <a:ln/>
        </p:spPr>
        <p:txBody>
          <a:bodyPr wrap="square" lIns="0" tIns="0" rIns="0" bIns="0" rtlCol="0" anchor="ctr"/>
          <a:lstStyle/>
          <a:p>
            <a:pPr indent="0" marL="0">
              <a:buNone/>
            </a:pPr>
            <a:r>
              <a:rPr lang="en-US" sz="1600" b="1" dirty="0">
                <a:solidFill>
                  <a:srgbClr val="2ECC71"/>
                </a:solidFill>
                <a:latin typeface="Courier New" pitchFamily="34" charset="0"/>
                <a:ea typeface="Courier New" pitchFamily="34" charset="-122"/>
                <a:cs typeface="Courier New" pitchFamily="34" charset="-120"/>
              </a:rPr>
              <a:t>88.4  GOSA Score</a:t>
            </a:r>
            <a:endParaRPr lang="en-US" sz="1600" dirty="0"/>
          </a:p>
        </p:txBody>
      </p:sp>
      <p:sp>
        <p:nvSpPr>
          <p:cNvPr id="68" name="Text 66"/>
          <p:cNvSpPr/>
          <p:nvPr/>
        </p:nvSpPr>
        <p:spPr>
          <a:xfrm>
            <a:off x="9326880" y="6108192"/>
            <a:ext cx="2834640" cy="310896"/>
          </a:xfrm>
          <a:prstGeom prst="rect">
            <a:avLst/>
          </a:prstGeom>
          <a:noFill/>
          <a:ln/>
        </p:spPr>
        <p:txBody>
          <a:bodyPr wrap="square" lIns="0" tIns="0" rIns="0" bIns="0" rtlCol="0" anchor="ctr"/>
          <a:lstStyle/>
          <a:p>
            <a:pPr algn="r" indent="0" marL="0">
              <a:buNone/>
            </a:pPr>
            <a:r>
              <a:rPr lang="en-US" sz="800" dirty="0">
                <a:solidFill>
                  <a:srgbClr val="7F8C8D"/>
                </a:solidFill>
              </a:rPr>
              <a:t>All data/metrics — scores, percentages, financial figures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Platform Architecture</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Platform Hierarchy &amp; Component Relationships</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Complete system architecture — all layers and their technologies</a:t>
            </a:r>
            <a:endParaRPr lang="en-US" sz="1000" dirty="0"/>
          </a:p>
        </p:txBody>
      </p:sp>
      <p:sp>
        <p:nvSpPr>
          <p:cNvPr id="10" name="Shape 8"/>
          <p:cNvSpPr/>
          <p:nvPr/>
        </p:nvSpPr>
        <p:spPr>
          <a:xfrm>
            <a:off x="365760" y="1481328"/>
            <a:ext cx="11430000" cy="329184"/>
          </a:xfrm>
          <a:prstGeom prst="rect">
            <a:avLst/>
          </a:prstGeom>
          <a:solidFill>
            <a:srgbClr val="1A2C3E"/>
          </a:solidFill>
          <a:ln/>
        </p:spPr>
      </p:sp>
      <p:sp>
        <p:nvSpPr>
          <p:cNvPr id="11" name="Text 9"/>
          <p:cNvSpPr/>
          <p:nvPr/>
        </p:nvSpPr>
        <p:spPr>
          <a:xfrm>
            <a:off x="530352" y="1499616"/>
            <a:ext cx="4572000" cy="292608"/>
          </a:xfrm>
          <a:prstGeom prst="rect">
            <a:avLst/>
          </a:prstGeom>
          <a:noFill/>
          <a:ln/>
        </p:spPr>
        <p:txBody>
          <a:bodyPr wrap="square" lIns="0" tIns="0" rIns="0" bIns="0" rtlCol="0" anchor="ctr"/>
          <a:lstStyle/>
          <a:p>
            <a:pPr indent="0" marL="0">
              <a:buNone/>
            </a:pPr>
            <a:r>
              <a:rPr lang="en-US" sz="900" b="1" spc="200" kern="0" dirty="0">
                <a:solidFill>
                  <a:srgbClr val="2ECC71"/>
                </a:solidFill>
              </a:rPr>
              <a:t>PRESENTATION LAYER</a:t>
            </a:r>
            <a:endParaRPr lang="en-US" sz="900" dirty="0"/>
          </a:p>
        </p:txBody>
      </p:sp>
      <p:sp>
        <p:nvSpPr>
          <p:cNvPr id="12" name="Text 10"/>
          <p:cNvSpPr/>
          <p:nvPr/>
        </p:nvSpPr>
        <p:spPr>
          <a:xfrm>
            <a:off x="5120640" y="1517904"/>
            <a:ext cx="6858000" cy="256032"/>
          </a:xfrm>
          <a:prstGeom prst="rect">
            <a:avLst/>
          </a:prstGeom>
          <a:noFill/>
          <a:ln/>
        </p:spPr>
        <p:txBody>
          <a:bodyPr wrap="square" lIns="0" tIns="0" rIns="0" bIns="0" rtlCol="0" anchor="ctr"/>
          <a:lstStyle/>
          <a:p>
            <a:pPr algn="r" indent="0" marL="0">
              <a:buNone/>
            </a:pPr>
            <a:r>
              <a:rPr lang="en-US" sz="800" dirty="0">
                <a:solidFill>
                  <a:srgbClr val="2ECC71"/>
                </a:solidFill>
              </a:rPr>
              <a:t>React 18 · TypeScript · Next.js · Tailwind CSS · Three.js · D3.js · ag-Grid · Socket.io-client</a:t>
            </a:r>
            <a:endParaRPr lang="en-US" sz="800" dirty="0"/>
          </a:p>
        </p:txBody>
      </p:sp>
      <p:sp>
        <p:nvSpPr>
          <p:cNvPr id="13" name="Shape 11"/>
          <p:cNvSpPr/>
          <p:nvPr/>
        </p:nvSpPr>
        <p:spPr>
          <a:xfrm>
            <a:off x="365760"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4" name="Text 12"/>
          <p:cNvSpPr/>
          <p:nvPr/>
        </p:nvSpPr>
        <p:spPr>
          <a:xfrm>
            <a:off x="402336"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 Home (Public)</a:t>
            </a:r>
            <a:endParaRPr lang="en-US" sz="700" dirty="0"/>
          </a:p>
        </p:txBody>
      </p:sp>
      <p:sp>
        <p:nvSpPr>
          <p:cNvPr id="15" name="Shape 13"/>
          <p:cNvSpPr/>
          <p:nvPr/>
        </p:nvSpPr>
        <p:spPr>
          <a:xfrm>
            <a:off x="1444752"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6" name="Text 14"/>
          <p:cNvSpPr/>
          <p:nvPr/>
        </p:nvSpPr>
        <p:spPr>
          <a:xfrm>
            <a:off x="1481328"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Dashboard /dashboard</a:t>
            </a:r>
            <a:endParaRPr lang="en-US" sz="700" dirty="0"/>
          </a:p>
        </p:txBody>
      </p:sp>
      <p:sp>
        <p:nvSpPr>
          <p:cNvPr id="17" name="Shape 15"/>
          <p:cNvSpPr/>
          <p:nvPr/>
        </p:nvSpPr>
        <p:spPr>
          <a:xfrm>
            <a:off x="2523744"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8" name="Text 16"/>
          <p:cNvSpPr/>
          <p:nvPr/>
        </p:nvSpPr>
        <p:spPr>
          <a:xfrm>
            <a:off x="2560320"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Investment Analysis</a:t>
            </a:r>
            <a:endParaRPr lang="en-US" sz="700" dirty="0"/>
          </a:p>
        </p:txBody>
      </p:sp>
      <p:sp>
        <p:nvSpPr>
          <p:cNvPr id="19" name="Shape 17"/>
          <p:cNvSpPr/>
          <p:nvPr/>
        </p:nvSpPr>
        <p:spPr>
          <a:xfrm>
            <a:off x="3602736"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0" name="Text 18"/>
          <p:cNvSpPr/>
          <p:nvPr/>
        </p:nvSpPr>
        <p:spPr>
          <a:xfrm>
            <a:off x="3639312"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Publications</a:t>
            </a:r>
            <a:endParaRPr lang="en-US" sz="700" dirty="0"/>
          </a:p>
        </p:txBody>
      </p:sp>
      <p:sp>
        <p:nvSpPr>
          <p:cNvPr id="21" name="Shape 19"/>
          <p:cNvSpPr/>
          <p:nvPr/>
        </p:nvSpPr>
        <p:spPr>
          <a:xfrm>
            <a:off x="4681728"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2" name="Text 20"/>
          <p:cNvSpPr/>
          <p:nvPr/>
        </p:nvSpPr>
        <p:spPr>
          <a:xfrm>
            <a:off x="4718304"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GFR Ranking /gfr</a:t>
            </a:r>
            <a:endParaRPr lang="en-US" sz="700" dirty="0"/>
          </a:p>
        </p:txBody>
      </p:sp>
      <p:sp>
        <p:nvSpPr>
          <p:cNvPr id="23" name="Shape 21"/>
          <p:cNvSpPr/>
          <p:nvPr/>
        </p:nvSpPr>
        <p:spPr>
          <a:xfrm>
            <a:off x="5760720"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4" name="Text 22"/>
          <p:cNvSpPr/>
          <p:nvPr/>
        </p:nvSpPr>
        <p:spPr>
          <a:xfrm>
            <a:off x="5797296"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Mission Planning /pmp</a:t>
            </a:r>
            <a:endParaRPr lang="en-US" sz="700" dirty="0"/>
          </a:p>
        </p:txBody>
      </p:sp>
      <p:sp>
        <p:nvSpPr>
          <p:cNvPr id="25" name="Shape 23"/>
          <p:cNvSpPr/>
          <p:nvPr/>
        </p:nvSpPr>
        <p:spPr>
          <a:xfrm>
            <a:off x="6839712"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6" name="Text 24"/>
          <p:cNvSpPr/>
          <p:nvPr/>
        </p:nvSpPr>
        <p:spPr>
          <a:xfrm>
            <a:off x="6876288"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Reports /reports</a:t>
            </a:r>
            <a:endParaRPr lang="en-US" sz="700" dirty="0"/>
          </a:p>
        </p:txBody>
      </p:sp>
      <p:sp>
        <p:nvSpPr>
          <p:cNvPr id="27" name="Shape 25"/>
          <p:cNvSpPr/>
          <p:nvPr/>
        </p:nvSpPr>
        <p:spPr>
          <a:xfrm>
            <a:off x="7918704"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8" name="Text 26"/>
          <p:cNvSpPr/>
          <p:nvPr/>
        </p:nvSpPr>
        <p:spPr>
          <a:xfrm>
            <a:off x="7955280"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Signals /signals</a:t>
            </a:r>
            <a:endParaRPr lang="en-US" sz="700" dirty="0"/>
          </a:p>
        </p:txBody>
      </p:sp>
      <p:sp>
        <p:nvSpPr>
          <p:cNvPr id="29" name="Shape 27"/>
          <p:cNvSpPr/>
          <p:nvPr/>
        </p:nvSpPr>
        <p:spPr>
          <a:xfrm>
            <a:off x="8997696"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0" name="Text 28"/>
          <p:cNvSpPr/>
          <p:nvPr/>
        </p:nvSpPr>
        <p:spPr>
          <a:xfrm>
            <a:off x="9034272"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Newsletter /newsletter</a:t>
            </a:r>
            <a:endParaRPr lang="en-US" sz="700" dirty="0"/>
          </a:p>
        </p:txBody>
      </p:sp>
      <p:sp>
        <p:nvSpPr>
          <p:cNvPr id="31" name="Shape 29"/>
          <p:cNvSpPr/>
          <p:nvPr/>
        </p:nvSpPr>
        <p:spPr>
          <a:xfrm>
            <a:off x="10076688"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2" name="Text 30"/>
          <p:cNvSpPr/>
          <p:nvPr/>
        </p:nvSpPr>
        <p:spPr>
          <a:xfrm>
            <a:off x="10113264"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Pricing</a:t>
            </a:r>
            <a:endParaRPr lang="en-US" sz="700" dirty="0"/>
          </a:p>
        </p:txBody>
      </p:sp>
      <p:sp>
        <p:nvSpPr>
          <p:cNvPr id="33" name="Shape 31"/>
          <p:cNvSpPr/>
          <p:nvPr/>
        </p:nvSpPr>
        <p:spPr>
          <a:xfrm>
            <a:off x="11155680" y="1810512"/>
            <a:ext cx="1042416"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4" name="Text 32"/>
          <p:cNvSpPr/>
          <p:nvPr/>
        </p:nvSpPr>
        <p:spPr>
          <a:xfrm>
            <a:off x="11192256" y="1828800"/>
            <a:ext cx="969264" cy="274320"/>
          </a:xfrm>
          <a:prstGeom prst="rect">
            <a:avLst/>
          </a:prstGeom>
          <a:noFill/>
          <a:ln/>
        </p:spPr>
        <p:txBody>
          <a:bodyPr wrap="square" lIns="0" tIns="0" rIns="0" bIns="0" rtlCol="0" anchor="ctr"/>
          <a:lstStyle/>
          <a:p>
            <a:pPr indent="0" marL="0">
              <a:buNone/>
            </a:pPr>
            <a:r>
              <a:rPr lang="en-US" sz="700" dirty="0">
                <a:solidFill>
                  <a:srgbClr val="1A2C3E"/>
                </a:solidFill>
              </a:rPr>
              <a:t>About</a:t>
            </a:r>
            <a:endParaRPr lang="en-US" sz="700" dirty="0"/>
          </a:p>
        </p:txBody>
      </p:sp>
      <p:sp>
        <p:nvSpPr>
          <p:cNvPr id="35" name="Shape 33"/>
          <p:cNvSpPr/>
          <p:nvPr/>
        </p:nvSpPr>
        <p:spPr>
          <a:xfrm>
            <a:off x="6080760" y="2578608"/>
            <a:ext cx="0" cy="201168"/>
          </a:xfrm>
          <a:prstGeom prst="line">
            <a:avLst/>
          </a:prstGeom>
          <a:noFill/>
          <a:ln w="25400">
            <a:solidFill>
              <a:srgbClr val="2ECC71"/>
            </a:solidFill>
            <a:prstDash val="solid"/>
          </a:ln>
        </p:spPr>
      </p:sp>
      <p:sp>
        <p:nvSpPr>
          <p:cNvPr id="36" name="Text 34"/>
          <p:cNvSpPr/>
          <p:nvPr/>
        </p:nvSpPr>
        <p:spPr>
          <a:xfrm>
            <a:off x="5897880" y="2688336"/>
            <a:ext cx="365760" cy="182880"/>
          </a:xfrm>
          <a:prstGeom prst="rect">
            <a:avLst/>
          </a:prstGeom>
          <a:noFill/>
          <a:ln/>
        </p:spPr>
        <p:txBody>
          <a:bodyPr wrap="square" lIns="0" tIns="0" rIns="0" bIns="0" rtlCol="0" anchor="ctr"/>
          <a:lstStyle/>
          <a:p>
            <a:pPr algn="ctr" indent="0" marL="0">
              <a:buNone/>
            </a:pPr>
            <a:r>
              <a:rPr lang="en-US" sz="1100" dirty="0">
                <a:solidFill>
                  <a:srgbClr val="2ECC71"/>
                </a:solidFill>
              </a:rPr>
              <a:t>▼</a:t>
            </a:r>
            <a:endParaRPr lang="en-US" sz="1100" dirty="0"/>
          </a:p>
        </p:txBody>
      </p:sp>
      <p:sp>
        <p:nvSpPr>
          <p:cNvPr id="37" name="Shape 35"/>
          <p:cNvSpPr/>
          <p:nvPr/>
        </p:nvSpPr>
        <p:spPr>
          <a:xfrm>
            <a:off x="365760" y="3145536"/>
            <a:ext cx="11430000" cy="329184"/>
          </a:xfrm>
          <a:prstGeom prst="rect">
            <a:avLst/>
          </a:prstGeom>
          <a:solidFill>
            <a:srgbClr val="1E3A5F"/>
          </a:solidFill>
          <a:ln/>
        </p:spPr>
      </p:sp>
      <p:sp>
        <p:nvSpPr>
          <p:cNvPr id="38" name="Text 36"/>
          <p:cNvSpPr/>
          <p:nvPr/>
        </p:nvSpPr>
        <p:spPr>
          <a:xfrm>
            <a:off x="530352" y="3163824"/>
            <a:ext cx="4572000" cy="292608"/>
          </a:xfrm>
          <a:prstGeom prst="rect">
            <a:avLst/>
          </a:prstGeom>
          <a:noFill/>
          <a:ln/>
        </p:spPr>
        <p:txBody>
          <a:bodyPr wrap="square" lIns="0" tIns="0" rIns="0" bIns="0" rtlCol="0" anchor="ctr"/>
          <a:lstStyle/>
          <a:p>
            <a:pPr indent="0" marL="0">
              <a:buNone/>
            </a:pPr>
            <a:r>
              <a:rPr lang="en-US" sz="900" b="1" spc="200" kern="0" dirty="0">
                <a:solidFill>
                  <a:srgbClr val="F1C40F"/>
                </a:solidFill>
              </a:rPr>
              <a:t>API GATEWAY LAYER</a:t>
            </a:r>
            <a:endParaRPr lang="en-US" sz="900" dirty="0"/>
          </a:p>
        </p:txBody>
      </p:sp>
      <p:sp>
        <p:nvSpPr>
          <p:cNvPr id="39" name="Text 37"/>
          <p:cNvSpPr/>
          <p:nvPr/>
        </p:nvSpPr>
        <p:spPr>
          <a:xfrm>
            <a:off x="5120640" y="3182112"/>
            <a:ext cx="6858000" cy="256032"/>
          </a:xfrm>
          <a:prstGeom prst="rect">
            <a:avLst/>
          </a:prstGeom>
          <a:noFill/>
          <a:ln/>
        </p:spPr>
        <p:txBody>
          <a:bodyPr wrap="square" lIns="0" tIns="0" rIns="0" bIns="0" rtlCol="0" anchor="ctr"/>
          <a:lstStyle/>
          <a:p>
            <a:pPr algn="r" indent="0" marL="0">
              <a:buNone/>
            </a:pPr>
            <a:r>
              <a:rPr lang="en-US" sz="800" dirty="0">
                <a:solidFill>
                  <a:srgbClr val="F1C40F"/>
                </a:solidFill>
              </a:rPr>
              <a:t>Node.js · Express · JWT Authentication · WebSocket (Socket.io) · Redis Cache · Rate Limiting</a:t>
            </a:r>
            <a:endParaRPr lang="en-US" sz="800" dirty="0"/>
          </a:p>
        </p:txBody>
      </p:sp>
      <p:sp>
        <p:nvSpPr>
          <p:cNvPr id="40" name="Shape 38"/>
          <p:cNvSpPr/>
          <p:nvPr/>
        </p:nvSpPr>
        <p:spPr>
          <a:xfrm>
            <a:off x="365760" y="3474720"/>
            <a:ext cx="283464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1" name="Text 39"/>
          <p:cNvSpPr/>
          <p:nvPr/>
        </p:nvSpPr>
        <p:spPr>
          <a:xfrm>
            <a:off x="402336" y="3493008"/>
            <a:ext cx="2761488" cy="274320"/>
          </a:xfrm>
          <a:prstGeom prst="rect">
            <a:avLst/>
          </a:prstGeom>
          <a:noFill/>
          <a:ln/>
        </p:spPr>
        <p:txBody>
          <a:bodyPr wrap="square" lIns="0" tIns="0" rIns="0" bIns="0" rtlCol="0" anchor="ctr"/>
          <a:lstStyle/>
          <a:p>
            <a:pPr indent="0" marL="0">
              <a:buNone/>
            </a:pPr>
            <a:r>
              <a:rPr lang="en-US" sz="800" dirty="0">
                <a:solidFill>
                  <a:srgbClr val="1A2C3E"/>
                </a:solidFill>
              </a:rPr>
              <a:t>GET /api/countries · sectors · zones · signals · policies</a:t>
            </a:r>
            <a:endParaRPr lang="en-US" sz="800" dirty="0"/>
          </a:p>
        </p:txBody>
      </p:sp>
      <p:sp>
        <p:nvSpPr>
          <p:cNvPr id="42" name="Shape 40"/>
          <p:cNvSpPr/>
          <p:nvPr/>
        </p:nvSpPr>
        <p:spPr>
          <a:xfrm>
            <a:off x="3236976" y="3474720"/>
            <a:ext cx="283464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3" name="Text 41"/>
          <p:cNvSpPr/>
          <p:nvPr/>
        </p:nvSpPr>
        <p:spPr>
          <a:xfrm>
            <a:off x="3273552" y="3493008"/>
            <a:ext cx="2761488" cy="274320"/>
          </a:xfrm>
          <a:prstGeom prst="rect">
            <a:avLst/>
          </a:prstGeom>
          <a:noFill/>
          <a:ln/>
        </p:spPr>
        <p:txBody>
          <a:bodyPr wrap="square" lIns="0" tIns="0" rIns="0" bIns="0" rtlCol="0" anchor="ctr"/>
          <a:lstStyle/>
          <a:p>
            <a:pPr indent="0" marL="0">
              <a:buNone/>
            </a:pPr>
            <a:r>
              <a:rPr lang="en-US" sz="800" dirty="0">
                <a:solidFill>
                  <a:srgbClr val="1A2C3E"/>
                </a:solidFill>
              </a:rPr>
              <a:t>POST /api/reports/generate · auth/login · auth/register</a:t>
            </a:r>
            <a:endParaRPr lang="en-US" sz="800" dirty="0"/>
          </a:p>
        </p:txBody>
      </p:sp>
      <p:sp>
        <p:nvSpPr>
          <p:cNvPr id="44" name="Shape 42"/>
          <p:cNvSpPr/>
          <p:nvPr/>
        </p:nvSpPr>
        <p:spPr>
          <a:xfrm>
            <a:off x="6108192" y="3474720"/>
            <a:ext cx="283464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5" name="Text 43"/>
          <p:cNvSpPr/>
          <p:nvPr/>
        </p:nvSpPr>
        <p:spPr>
          <a:xfrm>
            <a:off x="6144768" y="3493008"/>
            <a:ext cx="2761488" cy="274320"/>
          </a:xfrm>
          <a:prstGeom prst="rect">
            <a:avLst/>
          </a:prstGeom>
          <a:noFill/>
          <a:ln/>
        </p:spPr>
        <p:txBody>
          <a:bodyPr wrap="square" lIns="0" tIns="0" rIns="0" bIns="0" rtlCol="0" anchor="ctr"/>
          <a:lstStyle/>
          <a:p>
            <a:pPr indent="0" marL="0">
              <a:buNone/>
            </a:pPr>
            <a:r>
              <a:rPr lang="en-US" sz="800" dirty="0">
                <a:solidFill>
                  <a:srgbClr val="1A2C3E"/>
                </a:solidFill>
              </a:rPr>
              <a:t>WS /ws/signals (2s real-time updates)</a:t>
            </a:r>
            <a:endParaRPr lang="en-US" sz="800" dirty="0"/>
          </a:p>
        </p:txBody>
      </p:sp>
      <p:sp>
        <p:nvSpPr>
          <p:cNvPr id="46" name="Shape 44"/>
          <p:cNvSpPr/>
          <p:nvPr/>
        </p:nvSpPr>
        <p:spPr>
          <a:xfrm>
            <a:off x="8979408" y="3474720"/>
            <a:ext cx="283464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7" name="Text 45"/>
          <p:cNvSpPr/>
          <p:nvPr/>
        </p:nvSpPr>
        <p:spPr>
          <a:xfrm>
            <a:off x="9015984" y="3493008"/>
            <a:ext cx="2761488" cy="274320"/>
          </a:xfrm>
          <a:prstGeom prst="rect">
            <a:avLst/>
          </a:prstGeom>
          <a:noFill/>
          <a:ln/>
        </p:spPr>
        <p:txBody>
          <a:bodyPr wrap="square" lIns="0" tIns="0" rIns="0" bIns="0" rtlCol="0" anchor="ctr"/>
          <a:lstStyle/>
          <a:p>
            <a:pPr indent="0" marL="0">
              <a:buNone/>
            </a:pPr>
            <a:r>
              <a:rPr lang="en-US" sz="800" dirty="0">
                <a:solidFill>
                  <a:srgbClr val="1A2C3E"/>
                </a:solidFill>
              </a:rPr>
              <a:t>JWT: Admin | Subscriber | Trial roles</a:t>
            </a:r>
            <a:endParaRPr lang="en-US" sz="800" dirty="0"/>
          </a:p>
        </p:txBody>
      </p:sp>
      <p:sp>
        <p:nvSpPr>
          <p:cNvPr id="48" name="Shape 46"/>
          <p:cNvSpPr/>
          <p:nvPr/>
        </p:nvSpPr>
        <p:spPr>
          <a:xfrm>
            <a:off x="6080760" y="3858768"/>
            <a:ext cx="0" cy="201168"/>
          </a:xfrm>
          <a:prstGeom prst="line">
            <a:avLst/>
          </a:prstGeom>
          <a:noFill/>
          <a:ln w="25400">
            <a:solidFill>
              <a:srgbClr val="2ECC71"/>
            </a:solidFill>
            <a:prstDash val="solid"/>
          </a:ln>
        </p:spPr>
      </p:sp>
      <p:sp>
        <p:nvSpPr>
          <p:cNvPr id="49" name="Text 47"/>
          <p:cNvSpPr/>
          <p:nvPr/>
        </p:nvSpPr>
        <p:spPr>
          <a:xfrm>
            <a:off x="5897880" y="3968496"/>
            <a:ext cx="365760" cy="182880"/>
          </a:xfrm>
          <a:prstGeom prst="rect">
            <a:avLst/>
          </a:prstGeom>
          <a:noFill/>
          <a:ln/>
        </p:spPr>
        <p:txBody>
          <a:bodyPr wrap="square" lIns="0" tIns="0" rIns="0" bIns="0" rtlCol="0" anchor="ctr"/>
          <a:lstStyle/>
          <a:p>
            <a:pPr algn="ctr" indent="0" marL="0">
              <a:buNone/>
            </a:pPr>
            <a:r>
              <a:rPr lang="en-US" sz="1100" dirty="0">
                <a:solidFill>
                  <a:srgbClr val="2ECC71"/>
                </a:solidFill>
              </a:rPr>
              <a:t>▼</a:t>
            </a:r>
            <a:endParaRPr lang="en-US" sz="1100" dirty="0"/>
          </a:p>
        </p:txBody>
      </p:sp>
      <p:sp>
        <p:nvSpPr>
          <p:cNvPr id="50" name="Shape 48"/>
          <p:cNvSpPr/>
          <p:nvPr/>
        </p:nvSpPr>
        <p:spPr>
          <a:xfrm>
            <a:off x="365760" y="4425696"/>
            <a:ext cx="11430000" cy="329184"/>
          </a:xfrm>
          <a:prstGeom prst="rect">
            <a:avLst/>
          </a:prstGeom>
          <a:solidFill>
            <a:srgbClr val="273C52"/>
          </a:solidFill>
          <a:ln/>
        </p:spPr>
      </p:sp>
      <p:sp>
        <p:nvSpPr>
          <p:cNvPr id="51" name="Text 49"/>
          <p:cNvSpPr/>
          <p:nvPr/>
        </p:nvSpPr>
        <p:spPr>
          <a:xfrm>
            <a:off x="530352" y="4443984"/>
            <a:ext cx="4572000" cy="292608"/>
          </a:xfrm>
          <a:prstGeom prst="rect">
            <a:avLst/>
          </a:prstGeom>
          <a:noFill/>
          <a:ln/>
        </p:spPr>
        <p:txBody>
          <a:bodyPr wrap="square" lIns="0" tIns="0" rIns="0" bIns="0" rtlCol="0" anchor="ctr"/>
          <a:lstStyle/>
          <a:p>
            <a:pPr indent="0" marL="0">
              <a:buNone/>
            </a:pPr>
            <a:r>
              <a:rPr lang="en-US" sz="900" b="1" spc="200" kern="0" dirty="0">
                <a:solidFill>
                  <a:srgbClr val="9BB0C7"/>
                </a:solidFill>
              </a:rPr>
              <a:t>APPLICATION &amp; AI AGENT LAYER</a:t>
            </a:r>
            <a:endParaRPr lang="en-US" sz="900" dirty="0"/>
          </a:p>
        </p:txBody>
      </p:sp>
      <p:sp>
        <p:nvSpPr>
          <p:cNvPr id="52" name="Text 50"/>
          <p:cNvSpPr/>
          <p:nvPr/>
        </p:nvSpPr>
        <p:spPr>
          <a:xfrm>
            <a:off x="5120640" y="4462272"/>
            <a:ext cx="6858000" cy="256032"/>
          </a:xfrm>
          <a:prstGeom prst="rect">
            <a:avLst/>
          </a:prstGeom>
          <a:noFill/>
          <a:ln/>
        </p:spPr>
        <p:txBody>
          <a:bodyPr wrap="square" lIns="0" tIns="0" rIns="0" bIns="0" rtlCol="0" anchor="ctr"/>
          <a:lstStyle/>
          <a:p>
            <a:pPr algn="r" indent="0" marL="0">
              <a:buNone/>
            </a:pPr>
            <a:r>
              <a:rPr lang="en-US" sz="800" dirty="0">
                <a:solidFill>
                  <a:srgbClr val="9BB0C7"/>
                </a:solidFill>
              </a:rPr>
              <a:t>Python 3.12 · 50+ Specialist Agents · AGT-01→06 Pipeline · Anthropic API · GPT-4</a:t>
            </a:r>
            <a:endParaRPr lang="en-US" sz="800" dirty="0"/>
          </a:p>
        </p:txBody>
      </p:sp>
      <p:sp>
        <p:nvSpPr>
          <p:cNvPr id="53" name="Shape 51"/>
          <p:cNvSpPr/>
          <p:nvPr/>
        </p:nvSpPr>
        <p:spPr>
          <a:xfrm>
            <a:off x="365760" y="4754880"/>
            <a:ext cx="182880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4" name="Text 52"/>
          <p:cNvSpPr/>
          <p:nvPr/>
        </p:nvSpPr>
        <p:spPr>
          <a:xfrm>
            <a:off x="402336" y="4773168"/>
            <a:ext cx="1755648" cy="274320"/>
          </a:xfrm>
          <a:prstGeom prst="rect">
            <a:avLst/>
          </a:prstGeom>
          <a:noFill/>
          <a:ln/>
        </p:spPr>
        <p:txBody>
          <a:bodyPr wrap="square" lIns="0" tIns="0" rIns="0" bIns="0" rtlCol="0" anchor="ctr"/>
          <a:lstStyle/>
          <a:p>
            <a:pPr indent="0" marL="0">
              <a:buNone/>
            </a:pPr>
            <a:r>
              <a:rPr lang="en-US" sz="800" dirty="0">
                <a:solidFill>
                  <a:srgbClr val="1A2C3E"/>
                </a:solidFill>
              </a:rPr>
              <a:t>AGT-01 Data Collection (304+ sources)</a:t>
            </a:r>
            <a:endParaRPr lang="en-US" sz="800" dirty="0"/>
          </a:p>
        </p:txBody>
      </p:sp>
      <p:sp>
        <p:nvSpPr>
          <p:cNvPr id="55" name="Shape 53"/>
          <p:cNvSpPr/>
          <p:nvPr/>
        </p:nvSpPr>
        <p:spPr>
          <a:xfrm>
            <a:off x="2231136" y="4754880"/>
            <a:ext cx="182880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6" name="Text 54"/>
          <p:cNvSpPr/>
          <p:nvPr/>
        </p:nvSpPr>
        <p:spPr>
          <a:xfrm>
            <a:off x="2267712" y="4773168"/>
            <a:ext cx="1755648" cy="274320"/>
          </a:xfrm>
          <a:prstGeom prst="rect">
            <a:avLst/>
          </a:prstGeom>
          <a:noFill/>
          <a:ln/>
        </p:spPr>
        <p:txBody>
          <a:bodyPr wrap="square" lIns="0" tIns="0" rIns="0" bIns="0" rtlCol="0" anchor="ctr"/>
          <a:lstStyle/>
          <a:p>
            <a:pPr indent="0" marL="0">
              <a:buNone/>
            </a:pPr>
            <a:r>
              <a:rPr lang="en-US" sz="800" dirty="0">
                <a:solidFill>
                  <a:srgbClr val="1A2C3E"/>
                </a:solidFill>
              </a:rPr>
              <a:t>AGT-02 Signal Detection &amp; SCI Scoring</a:t>
            </a:r>
            <a:endParaRPr lang="en-US" sz="800" dirty="0"/>
          </a:p>
        </p:txBody>
      </p:sp>
      <p:sp>
        <p:nvSpPr>
          <p:cNvPr id="57" name="Shape 55"/>
          <p:cNvSpPr/>
          <p:nvPr/>
        </p:nvSpPr>
        <p:spPr>
          <a:xfrm>
            <a:off x="4096512" y="4754880"/>
            <a:ext cx="182880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8" name="Text 56"/>
          <p:cNvSpPr/>
          <p:nvPr/>
        </p:nvSpPr>
        <p:spPr>
          <a:xfrm>
            <a:off x="4133088" y="4773168"/>
            <a:ext cx="1755648" cy="274320"/>
          </a:xfrm>
          <a:prstGeom prst="rect">
            <a:avLst/>
          </a:prstGeom>
          <a:noFill/>
          <a:ln/>
        </p:spPr>
        <p:txBody>
          <a:bodyPr wrap="square" lIns="0" tIns="0" rIns="0" bIns="0" rtlCol="0" anchor="ctr"/>
          <a:lstStyle/>
          <a:p>
            <a:pPr indent="0" marL="0">
              <a:buNone/>
            </a:pPr>
            <a:r>
              <a:rPr lang="en-US" sz="800" dirty="0">
                <a:solidFill>
                  <a:srgbClr val="1A2C3E"/>
                </a:solidFill>
              </a:rPr>
              <a:t>AGT-03 Signal Verification + SHA-256</a:t>
            </a:r>
            <a:endParaRPr lang="en-US" sz="800" dirty="0"/>
          </a:p>
        </p:txBody>
      </p:sp>
      <p:sp>
        <p:nvSpPr>
          <p:cNvPr id="59" name="Shape 57"/>
          <p:cNvSpPr/>
          <p:nvPr/>
        </p:nvSpPr>
        <p:spPr>
          <a:xfrm>
            <a:off x="5961888" y="4754880"/>
            <a:ext cx="182880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0" name="Text 58"/>
          <p:cNvSpPr/>
          <p:nvPr/>
        </p:nvSpPr>
        <p:spPr>
          <a:xfrm>
            <a:off x="5998464" y="4773168"/>
            <a:ext cx="1755648" cy="274320"/>
          </a:xfrm>
          <a:prstGeom prst="rect">
            <a:avLst/>
          </a:prstGeom>
          <a:noFill/>
          <a:ln/>
        </p:spPr>
        <p:txBody>
          <a:bodyPr wrap="square" lIns="0" tIns="0" rIns="0" bIns="0" rtlCol="0" anchor="ctr"/>
          <a:lstStyle/>
          <a:p>
            <a:pPr indent="0" marL="0">
              <a:buNone/>
            </a:pPr>
            <a:r>
              <a:rPr lang="en-US" sz="800" dirty="0">
                <a:solidFill>
                  <a:srgbClr val="1A2C3E"/>
                </a:solidFill>
              </a:rPr>
              <a:t>AGT-04 GOSA Scoring Engine</a:t>
            </a:r>
            <a:endParaRPr lang="en-US" sz="800" dirty="0"/>
          </a:p>
        </p:txBody>
      </p:sp>
      <p:sp>
        <p:nvSpPr>
          <p:cNvPr id="61" name="Shape 59"/>
          <p:cNvSpPr/>
          <p:nvPr/>
        </p:nvSpPr>
        <p:spPr>
          <a:xfrm>
            <a:off x="7827264" y="4754880"/>
            <a:ext cx="182880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2" name="Text 60"/>
          <p:cNvSpPr/>
          <p:nvPr/>
        </p:nvSpPr>
        <p:spPr>
          <a:xfrm>
            <a:off x="7863840" y="4773168"/>
            <a:ext cx="1755648" cy="274320"/>
          </a:xfrm>
          <a:prstGeom prst="rect">
            <a:avLst/>
          </a:prstGeom>
          <a:noFill/>
          <a:ln/>
        </p:spPr>
        <p:txBody>
          <a:bodyPr wrap="square" lIns="0" tIns="0" rIns="0" bIns="0" rtlCol="0" anchor="ctr"/>
          <a:lstStyle/>
          <a:p>
            <a:pPr indent="0" marL="0">
              <a:buNone/>
            </a:pPr>
            <a:r>
              <a:rPr lang="en-US" sz="800" dirty="0">
                <a:solidFill>
                  <a:srgbClr val="1A2C3E"/>
                </a:solidFill>
              </a:rPr>
              <a:t>AGT-05 GFR Ranking Agent</a:t>
            </a:r>
            <a:endParaRPr lang="en-US" sz="800" dirty="0"/>
          </a:p>
        </p:txBody>
      </p:sp>
      <p:sp>
        <p:nvSpPr>
          <p:cNvPr id="63" name="Shape 61"/>
          <p:cNvSpPr/>
          <p:nvPr/>
        </p:nvSpPr>
        <p:spPr>
          <a:xfrm>
            <a:off x="9692640" y="4754880"/>
            <a:ext cx="1828800" cy="310896"/>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4" name="Text 62"/>
          <p:cNvSpPr/>
          <p:nvPr/>
        </p:nvSpPr>
        <p:spPr>
          <a:xfrm>
            <a:off x="9729216" y="4773168"/>
            <a:ext cx="1755648" cy="274320"/>
          </a:xfrm>
          <a:prstGeom prst="rect">
            <a:avLst/>
          </a:prstGeom>
          <a:noFill/>
          <a:ln/>
        </p:spPr>
        <p:txBody>
          <a:bodyPr wrap="square" lIns="0" tIns="0" rIns="0" bIns="0" rtlCol="0" anchor="ctr"/>
          <a:lstStyle/>
          <a:p>
            <a:pPr indent="0" marL="0">
              <a:buNone/>
            </a:pPr>
            <a:r>
              <a:rPr lang="en-US" sz="800" dirty="0">
                <a:solidFill>
                  <a:srgbClr val="1A2C3E"/>
                </a:solidFill>
              </a:rPr>
              <a:t>AGT-06 Newsletter Generation</a:t>
            </a:r>
            <a:endParaRPr lang="en-US" sz="800" dirty="0"/>
          </a:p>
        </p:txBody>
      </p:sp>
      <p:sp>
        <p:nvSpPr>
          <p:cNvPr id="65" name="Shape 63"/>
          <p:cNvSpPr/>
          <p:nvPr/>
        </p:nvSpPr>
        <p:spPr>
          <a:xfrm>
            <a:off x="6080760" y="5084064"/>
            <a:ext cx="0" cy="201168"/>
          </a:xfrm>
          <a:prstGeom prst="line">
            <a:avLst/>
          </a:prstGeom>
          <a:noFill/>
          <a:ln w="25400">
            <a:solidFill>
              <a:srgbClr val="2ECC71"/>
            </a:solidFill>
            <a:prstDash val="solid"/>
          </a:ln>
        </p:spPr>
      </p:sp>
      <p:sp>
        <p:nvSpPr>
          <p:cNvPr id="66" name="Text 64"/>
          <p:cNvSpPr/>
          <p:nvPr/>
        </p:nvSpPr>
        <p:spPr>
          <a:xfrm>
            <a:off x="5897880" y="5193792"/>
            <a:ext cx="365760" cy="182880"/>
          </a:xfrm>
          <a:prstGeom prst="rect">
            <a:avLst/>
          </a:prstGeom>
          <a:noFill/>
          <a:ln/>
        </p:spPr>
        <p:txBody>
          <a:bodyPr wrap="square" lIns="0" tIns="0" rIns="0" bIns="0" rtlCol="0" anchor="ctr"/>
          <a:lstStyle/>
          <a:p>
            <a:pPr algn="ctr" indent="0" marL="0">
              <a:buNone/>
            </a:pPr>
            <a:r>
              <a:rPr lang="en-US" sz="1100" dirty="0">
                <a:solidFill>
                  <a:srgbClr val="2ECC71"/>
                </a:solidFill>
              </a:rPr>
              <a:t>▼</a:t>
            </a:r>
            <a:endParaRPr lang="en-US" sz="1100" dirty="0"/>
          </a:p>
        </p:txBody>
      </p:sp>
      <p:sp>
        <p:nvSpPr>
          <p:cNvPr id="67" name="Shape 65"/>
          <p:cNvSpPr/>
          <p:nvPr/>
        </p:nvSpPr>
        <p:spPr>
          <a:xfrm>
            <a:off x="365760" y="5577840"/>
            <a:ext cx="11430000" cy="329184"/>
          </a:xfrm>
          <a:prstGeom prst="rect">
            <a:avLst/>
          </a:prstGeom>
          <a:solidFill>
            <a:srgbClr val="1A2C3E"/>
          </a:solidFill>
          <a:ln/>
        </p:spPr>
      </p:sp>
      <p:sp>
        <p:nvSpPr>
          <p:cNvPr id="68" name="Text 66"/>
          <p:cNvSpPr/>
          <p:nvPr/>
        </p:nvSpPr>
        <p:spPr>
          <a:xfrm>
            <a:off x="530352" y="5596128"/>
            <a:ext cx="4572000" cy="292608"/>
          </a:xfrm>
          <a:prstGeom prst="rect">
            <a:avLst/>
          </a:prstGeom>
          <a:noFill/>
          <a:ln/>
        </p:spPr>
        <p:txBody>
          <a:bodyPr wrap="square" lIns="0" tIns="0" rIns="0" bIns="0" rtlCol="0" anchor="ctr"/>
          <a:lstStyle/>
          <a:p>
            <a:pPr indent="0" marL="0">
              <a:buNone/>
            </a:pPr>
            <a:r>
              <a:rPr lang="en-US" sz="900" b="1" spc="200" kern="0" dirty="0">
                <a:solidFill>
                  <a:srgbClr val="9BB0C7"/>
                </a:solidFill>
              </a:rPr>
              <a:t>DATA LAYER</a:t>
            </a:r>
            <a:endParaRPr lang="en-US" sz="900" dirty="0"/>
          </a:p>
        </p:txBody>
      </p:sp>
      <p:sp>
        <p:nvSpPr>
          <p:cNvPr id="69" name="Text 67"/>
          <p:cNvSpPr/>
          <p:nvPr/>
        </p:nvSpPr>
        <p:spPr>
          <a:xfrm>
            <a:off x="5120640" y="5614416"/>
            <a:ext cx="6858000" cy="256032"/>
          </a:xfrm>
          <a:prstGeom prst="rect">
            <a:avLst/>
          </a:prstGeom>
          <a:noFill/>
          <a:ln/>
        </p:spPr>
        <p:txBody>
          <a:bodyPr wrap="square" lIns="0" tIns="0" rIns="0" bIns="0" rtlCol="0" anchor="ctr"/>
          <a:lstStyle/>
          <a:p>
            <a:pPr algn="r" indent="0" marL="0">
              <a:buNone/>
            </a:pPr>
            <a:r>
              <a:rPr lang="en-US" sz="800" dirty="0">
                <a:solidFill>
                  <a:srgbClr val="9BB0C7"/>
                </a:solidFill>
              </a:rPr>
              <a:t>PostgreSQL 15 + PostGIS · Redis 7 · AWS S3 · 304 Official Source APIs</a:t>
            </a:r>
            <a:endParaRPr lang="en-US" sz="800" dirty="0"/>
          </a:p>
        </p:txBody>
      </p:sp>
      <p:sp>
        <p:nvSpPr>
          <p:cNvPr id="70" name="Shape 68"/>
          <p:cNvSpPr/>
          <p:nvPr/>
        </p:nvSpPr>
        <p:spPr>
          <a:xfrm>
            <a:off x="365760" y="5907024"/>
            <a:ext cx="2724912" cy="5303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71" name="Text 69"/>
          <p:cNvSpPr/>
          <p:nvPr/>
        </p:nvSpPr>
        <p:spPr>
          <a:xfrm>
            <a:off x="457200" y="5907024"/>
            <a:ext cx="2542032" cy="530352"/>
          </a:xfrm>
          <a:prstGeom prst="rect">
            <a:avLst/>
          </a:prstGeom>
          <a:noFill/>
          <a:ln/>
        </p:spPr>
        <p:txBody>
          <a:bodyPr wrap="square" lIns="0" tIns="0" rIns="0" bIns="0" rtlCol="0" anchor="ctr"/>
          <a:lstStyle/>
          <a:p>
            <a:pPr algn="ctr" indent="0" marL="0">
              <a:buNone/>
            </a:pPr>
            <a:r>
              <a:rPr lang="en-US" sz="1000" b="1" dirty="0">
                <a:solidFill>
                  <a:srgbClr val="1A2C3E"/>
                </a:solidFill>
              </a:rPr>
              <a:t>PostgreSQL+PostGIS</a:t>
            </a:r>
            <a:endParaRPr lang="en-US" sz="1000" dirty="0"/>
          </a:p>
        </p:txBody>
      </p:sp>
      <p:sp>
        <p:nvSpPr>
          <p:cNvPr id="72" name="Shape 70"/>
          <p:cNvSpPr/>
          <p:nvPr/>
        </p:nvSpPr>
        <p:spPr>
          <a:xfrm>
            <a:off x="3200400" y="5907024"/>
            <a:ext cx="2724912" cy="5303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73" name="Text 71"/>
          <p:cNvSpPr/>
          <p:nvPr/>
        </p:nvSpPr>
        <p:spPr>
          <a:xfrm>
            <a:off x="3291840" y="5907024"/>
            <a:ext cx="2542032" cy="530352"/>
          </a:xfrm>
          <a:prstGeom prst="rect">
            <a:avLst/>
          </a:prstGeom>
          <a:noFill/>
          <a:ln/>
        </p:spPr>
        <p:txBody>
          <a:bodyPr wrap="square" lIns="0" tIns="0" rIns="0" bIns="0" rtlCol="0" anchor="ctr"/>
          <a:lstStyle/>
          <a:p>
            <a:pPr algn="ctr" indent="0" marL="0">
              <a:buNone/>
            </a:pPr>
            <a:r>
              <a:rPr lang="en-US" sz="1000" b="1" dirty="0">
                <a:solidFill>
                  <a:srgbClr val="1A2C3E"/>
                </a:solidFill>
              </a:rPr>
              <a:t>Redis Cache</a:t>
            </a:r>
            <a:endParaRPr lang="en-US" sz="1000" dirty="0"/>
          </a:p>
        </p:txBody>
      </p:sp>
      <p:sp>
        <p:nvSpPr>
          <p:cNvPr id="74" name="Shape 72"/>
          <p:cNvSpPr/>
          <p:nvPr/>
        </p:nvSpPr>
        <p:spPr>
          <a:xfrm>
            <a:off x="6035040" y="5907024"/>
            <a:ext cx="2724912" cy="5303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75" name="Text 73"/>
          <p:cNvSpPr/>
          <p:nvPr/>
        </p:nvSpPr>
        <p:spPr>
          <a:xfrm>
            <a:off x="6126480" y="5907024"/>
            <a:ext cx="2542032" cy="530352"/>
          </a:xfrm>
          <a:prstGeom prst="rect">
            <a:avLst/>
          </a:prstGeom>
          <a:noFill/>
          <a:ln/>
        </p:spPr>
        <p:txBody>
          <a:bodyPr wrap="square" lIns="0" tIns="0" rIns="0" bIns="0" rtlCol="0" anchor="ctr"/>
          <a:lstStyle/>
          <a:p>
            <a:pPr algn="ctr" indent="0" marL="0">
              <a:buNone/>
            </a:pPr>
            <a:r>
              <a:rPr lang="en-US" sz="1000" b="1" dirty="0">
                <a:solidFill>
                  <a:srgbClr val="1A2C3E"/>
                </a:solidFill>
              </a:rPr>
              <a:t>AWS S3 Storage</a:t>
            </a:r>
            <a:endParaRPr lang="en-US" sz="1000" dirty="0"/>
          </a:p>
        </p:txBody>
      </p:sp>
      <p:sp>
        <p:nvSpPr>
          <p:cNvPr id="76" name="Shape 74"/>
          <p:cNvSpPr/>
          <p:nvPr/>
        </p:nvSpPr>
        <p:spPr>
          <a:xfrm>
            <a:off x="8869680" y="5907024"/>
            <a:ext cx="2724912" cy="530352"/>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77" name="Text 75"/>
          <p:cNvSpPr/>
          <p:nvPr/>
        </p:nvSpPr>
        <p:spPr>
          <a:xfrm>
            <a:off x="8961120" y="5907024"/>
            <a:ext cx="2542032" cy="530352"/>
          </a:xfrm>
          <a:prstGeom prst="rect">
            <a:avLst/>
          </a:prstGeom>
          <a:noFill/>
          <a:ln/>
        </p:spPr>
        <p:txBody>
          <a:bodyPr wrap="square" lIns="0" tIns="0" rIns="0" bIns="0" rtlCol="0" anchor="ctr"/>
          <a:lstStyle/>
          <a:p>
            <a:pPr algn="ctr" indent="0" marL="0">
              <a:buNone/>
            </a:pPr>
            <a:r>
              <a:rPr lang="en-US" sz="1000" b="1" dirty="0">
                <a:solidFill>
                  <a:srgbClr val="1A2C3E"/>
                </a:solidFill>
              </a:rPr>
              <a:t>Agent Pipeline DB</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AI Agent System</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Super Agent System — 6-Stage Data Pipeline</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All agents verified operational · Full pipeline runs in &lt;5ms · AGT-01 through AGT-06</a:t>
            </a:r>
            <a:endParaRPr lang="en-US" sz="1000" dirty="0"/>
          </a:p>
        </p:txBody>
      </p:sp>
      <p:sp>
        <p:nvSpPr>
          <p:cNvPr id="10" name="Shape 8"/>
          <p:cNvSpPr/>
          <p:nvPr/>
        </p:nvSpPr>
        <p:spPr>
          <a:xfrm>
            <a:off x="365760" y="1444752"/>
            <a:ext cx="3785616"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1" name="Shape 9"/>
          <p:cNvSpPr/>
          <p:nvPr/>
        </p:nvSpPr>
        <p:spPr>
          <a:xfrm>
            <a:off x="365760" y="1444752"/>
            <a:ext cx="3785616" cy="73152"/>
          </a:xfrm>
          <a:prstGeom prst="rect">
            <a:avLst/>
          </a:prstGeom>
          <a:solidFill>
            <a:srgbClr val="2ECC71"/>
          </a:solidFill>
          <a:ln/>
        </p:spPr>
      </p:sp>
      <p:sp>
        <p:nvSpPr>
          <p:cNvPr id="12" name="Shape 10"/>
          <p:cNvSpPr/>
          <p:nvPr/>
        </p:nvSpPr>
        <p:spPr>
          <a:xfrm>
            <a:off x="3364992" y="1536192"/>
            <a:ext cx="640080" cy="256032"/>
          </a:xfrm>
          <a:prstGeom prst="rect">
            <a:avLst/>
          </a:prstGeom>
          <a:solidFill>
            <a:srgbClr val="2ECC71"/>
          </a:solidFill>
          <a:ln/>
        </p:spPr>
      </p:sp>
      <p:sp>
        <p:nvSpPr>
          <p:cNvPr id="13" name="Text 11"/>
          <p:cNvSpPr/>
          <p:nvPr/>
        </p:nvSpPr>
        <p:spPr>
          <a:xfrm>
            <a:off x="3364992" y="1536192"/>
            <a:ext cx="640080" cy="256032"/>
          </a:xfrm>
          <a:prstGeom prst="rect">
            <a:avLst/>
          </a:prstGeom>
          <a:noFill/>
          <a:ln/>
        </p:spPr>
        <p:txBody>
          <a:bodyPr wrap="square" lIns="0" tIns="0" rIns="0" bIns="0" rtlCol="0" anchor="ctr"/>
          <a:lstStyle/>
          <a:p>
            <a:pPr algn="ctr" indent="0" marL="0">
              <a:buNone/>
            </a:pPr>
            <a:r>
              <a:rPr lang="en-US" sz="800" b="1" dirty="0">
                <a:solidFill>
                  <a:srgbClr val="FFFFFF"/>
                </a:solidFill>
              </a:rPr>
              <a:t>AGT-01</a:t>
            </a:r>
            <a:endParaRPr lang="en-US" sz="800" dirty="0"/>
          </a:p>
        </p:txBody>
      </p:sp>
      <p:sp>
        <p:nvSpPr>
          <p:cNvPr id="14" name="Text 12"/>
          <p:cNvSpPr/>
          <p:nvPr/>
        </p:nvSpPr>
        <p:spPr>
          <a:xfrm>
            <a:off x="493776" y="1554480"/>
            <a:ext cx="2743200" cy="274320"/>
          </a:xfrm>
          <a:prstGeom prst="rect">
            <a:avLst/>
          </a:prstGeom>
          <a:noFill/>
          <a:ln/>
        </p:spPr>
        <p:txBody>
          <a:bodyPr wrap="square" lIns="0" tIns="0" rIns="0" bIns="0" rtlCol="0" anchor="ctr"/>
          <a:lstStyle/>
          <a:p>
            <a:pPr indent="0" marL="0">
              <a:buNone/>
            </a:pPr>
            <a:r>
              <a:rPr lang="en-US" sz="1300" b="1" dirty="0">
                <a:solidFill>
                  <a:srgbClr val="1A2C3E"/>
                </a:solidFill>
              </a:rPr>
              <a:t>Data Collection</a:t>
            </a:r>
            <a:endParaRPr lang="en-US" sz="1300" dirty="0"/>
          </a:p>
        </p:txBody>
      </p:sp>
      <p:sp>
        <p:nvSpPr>
          <p:cNvPr id="15" name="Text 13"/>
          <p:cNvSpPr/>
          <p:nvPr/>
        </p:nvSpPr>
        <p:spPr>
          <a:xfrm>
            <a:off x="493776" y="1847088"/>
            <a:ext cx="3529584" cy="201168"/>
          </a:xfrm>
          <a:prstGeom prst="rect">
            <a:avLst/>
          </a:prstGeom>
          <a:noFill/>
          <a:ln/>
        </p:spPr>
        <p:txBody>
          <a:bodyPr wrap="square" lIns="0" tIns="0" rIns="0" bIns="0" rtlCol="0" anchor="ctr"/>
          <a:lstStyle/>
          <a:p>
            <a:pPr indent="0" marL="0">
              <a:buNone/>
            </a:pPr>
            <a:r>
              <a:rPr lang="en-US" sz="800" b="1" dirty="0">
                <a:solidFill>
                  <a:srgbClr val="2ECC71"/>
                </a:solidFill>
              </a:rPr>
              <a:t>Python + requests + BeautifulSoup + Playwright</a:t>
            </a:r>
            <a:endParaRPr lang="en-US" sz="800" dirty="0"/>
          </a:p>
        </p:txBody>
      </p:sp>
      <p:sp>
        <p:nvSpPr>
          <p:cNvPr id="16" name="Shape 14"/>
          <p:cNvSpPr/>
          <p:nvPr/>
        </p:nvSpPr>
        <p:spPr>
          <a:xfrm>
            <a:off x="493776" y="2084832"/>
            <a:ext cx="3529584" cy="0"/>
          </a:xfrm>
          <a:prstGeom prst="line">
            <a:avLst/>
          </a:prstGeom>
          <a:noFill/>
          <a:ln w="6350">
            <a:solidFill>
              <a:srgbClr val="ECF0F1"/>
            </a:solidFill>
            <a:prstDash val="solid"/>
          </a:ln>
        </p:spPr>
      </p:sp>
      <p:sp>
        <p:nvSpPr>
          <p:cNvPr id="17" name="Text 15"/>
          <p:cNvSpPr/>
          <p:nvPr/>
        </p:nvSpPr>
        <p:spPr>
          <a:xfrm>
            <a:off x="493776" y="2157984"/>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ECC71"/>
                </a:solidFill>
              </a:rPr>
              <a:t>▸ </a:t>
            </a:r>
            <a:pPr indent="0" marL="0">
              <a:lnSpc>
                <a:spcPct val="125000"/>
              </a:lnSpc>
              <a:buNone/>
            </a:pPr>
            <a:r>
              <a:rPr lang="en-US" sz="850" dirty="0">
                <a:solidFill>
                  <a:srgbClr val="1A2C3E"/>
                </a:solidFill>
              </a:rPr>
              <a:t>Monitors 304+ official government sources</a:t>
            </a:r>
            <a:endParaRPr lang="en-US" sz="850" dirty="0"/>
          </a:p>
        </p:txBody>
      </p:sp>
      <p:sp>
        <p:nvSpPr>
          <p:cNvPr id="18" name="Text 16"/>
          <p:cNvSpPr/>
          <p:nvPr/>
        </p:nvSpPr>
        <p:spPr>
          <a:xfrm>
            <a:off x="493776" y="2487168"/>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ECC71"/>
                </a:solidFill>
              </a:rPr>
              <a:t>▸ </a:t>
            </a:r>
            <a:pPr indent="0" marL="0">
              <a:lnSpc>
                <a:spcPct val="125000"/>
              </a:lnSpc>
              <a:buNone/>
            </a:pPr>
            <a:r>
              <a:rPr lang="en-US" sz="850" dirty="0">
                <a:solidFill>
                  <a:srgbClr val="1A2C3E"/>
                </a:solidFill>
              </a:rPr>
              <a:t>T1-T6 source tier classification</a:t>
            </a:r>
            <a:endParaRPr lang="en-US" sz="850" dirty="0"/>
          </a:p>
        </p:txBody>
      </p:sp>
      <p:sp>
        <p:nvSpPr>
          <p:cNvPr id="19" name="Text 17"/>
          <p:cNvSpPr/>
          <p:nvPr/>
        </p:nvSpPr>
        <p:spPr>
          <a:xfrm>
            <a:off x="493776" y="2816352"/>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ECC71"/>
                </a:solidFill>
              </a:rPr>
              <a:t>▸ </a:t>
            </a:r>
            <a:pPr indent="0" marL="0">
              <a:lnSpc>
                <a:spcPct val="125000"/>
              </a:lnSpc>
              <a:buNone/>
            </a:pPr>
            <a:r>
              <a:rPr lang="en-US" sz="850" dirty="0">
                <a:solidFill>
                  <a:srgbClr val="1A2C3E"/>
                </a:solidFill>
              </a:rPr>
              <a:t>Collects raw FDI signals &amp; policy data</a:t>
            </a:r>
            <a:endParaRPr lang="en-US" sz="850" dirty="0"/>
          </a:p>
        </p:txBody>
      </p:sp>
      <p:sp>
        <p:nvSpPr>
          <p:cNvPr id="20" name="Text 18"/>
          <p:cNvSpPr/>
          <p:nvPr/>
        </p:nvSpPr>
        <p:spPr>
          <a:xfrm>
            <a:off x="493776" y="3145536"/>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ECC71"/>
                </a:solidFill>
              </a:rPr>
              <a:t>▸ </a:t>
            </a:r>
            <a:pPr indent="0" marL="0">
              <a:lnSpc>
                <a:spcPct val="125000"/>
              </a:lnSpc>
              <a:buNone/>
            </a:pPr>
            <a:r>
              <a:rPr lang="en-US" sz="850" dirty="0">
                <a:solidFill>
                  <a:srgbClr val="1A2C3E"/>
                </a:solidFill>
              </a:rPr>
              <a:t>Supported sources: MISA, EDB, BOI, UNCTAD, World Bank...</a:t>
            </a:r>
            <a:endParaRPr lang="en-US" sz="850" dirty="0"/>
          </a:p>
        </p:txBody>
      </p:sp>
      <p:sp>
        <p:nvSpPr>
          <p:cNvPr id="21" name="Text 19"/>
          <p:cNvSpPr/>
          <p:nvPr/>
        </p:nvSpPr>
        <p:spPr>
          <a:xfrm>
            <a:off x="493776" y="3474720"/>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ECC71"/>
                </a:solidFill>
              </a:rPr>
              <a:t>▸ </a:t>
            </a:r>
            <a:pPr indent="0" marL="0">
              <a:lnSpc>
                <a:spcPct val="125000"/>
              </a:lnSpc>
              <a:buNone/>
            </a:pPr>
            <a:r>
              <a:rPr lang="en-US" sz="850" dirty="0">
                <a:solidFill>
                  <a:srgbClr val="1A2C3E"/>
                </a:solidFill>
              </a:rPr>
              <a:t>Returns structured raw_items payload</a:t>
            </a:r>
            <a:endParaRPr lang="en-US" sz="850" dirty="0"/>
          </a:p>
        </p:txBody>
      </p:sp>
      <p:sp>
        <p:nvSpPr>
          <p:cNvPr id="22" name="Shape 20"/>
          <p:cNvSpPr/>
          <p:nvPr/>
        </p:nvSpPr>
        <p:spPr>
          <a:xfrm>
            <a:off x="4297680" y="1444752"/>
            <a:ext cx="3785616"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3" name="Shape 21"/>
          <p:cNvSpPr/>
          <p:nvPr/>
        </p:nvSpPr>
        <p:spPr>
          <a:xfrm>
            <a:off x="4297680" y="1444752"/>
            <a:ext cx="3785616" cy="73152"/>
          </a:xfrm>
          <a:prstGeom prst="rect">
            <a:avLst/>
          </a:prstGeom>
          <a:solidFill>
            <a:srgbClr val="3498DB"/>
          </a:solidFill>
          <a:ln/>
        </p:spPr>
      </p:sp>
      <p:sp>
        <p:nvSpPr>
          <p:cNvPr id="24" name="Shape 22"/>
          <p:cNvSpPr/>
          <p:nvPr/>
        </p:nvSpPr>
        <p:spPr>
          <a:xfrm>
            <a:off x="7296912" y="1536192"/>
            <a:ext cx="640080" cy="256032"/>
          </a:xfrm>
          <a:prstGeom prst="rect">
            <a:avLst/>
          </a:prstGeom>
          <a:solidFill>
            <a:srgbClr val="3498DB"/>
          </a:solidFill>
          <a:ln/>
        </p:spPr>
      </p:sp>
      <p:sp>
        <p:nvSpPr>
          <p:cNvPr id="25" name="Text 23"/>
          <p:cNvSpPr/>
          <p:nvPr/>
        </p:nvSpPr>
        <p:spPr>
          <a:xfrm>
            <a:off x="7296912" y="1536192"/>
            <a:ext cx="640080" cy="256032"/>
          </a:xfrm>
          <a:prstGeom prst="rect">
            <a:avLst/>
          </a:prstGeom>
          <a:noFill/>
          <a:ln/>
        </p:spPr>
        <p:txBody>
          <a:bodyPr wrap="square" lIns="0" tIns="0" rIns="0" bIns="0" rtlCol="0" anchor="ctr"/>
          <a:lstStyle/>
          <a:p>
            <a:pPr algn="ctr" indent="0" marL="0">
              <a:buNone/>
            </a:pPr>
            <a:r>
              <a:rPr lang="en-US" sz="800" b="1" dirty="0">
                <a:solidFill>
                  <a:srgbClr val="FFFFFF"/>
                </a:solidFill>
              </a:rPr>
              <a:t>AGT-02</a:t>
            </a:r>
            <a:endParaRPr lang="en-US" sz="800" dirty="0"/>
          </a:p>
        </p:txBody>
      </p:sp>
      <p:sp>
        <p:nvSpPr>
          <p:cNvPr id="26" name="Text 24"/>
          <p:cNvSpPr/>
          <p:nvPr/>
        </p:nvSpPr>
        <p:spPr>
          <a:xfrm>
            <a:off x="4425696" y="1554480"/>
            <a:ext cx="2743200" cy="274320"/>
          </a:xfrm>
          <a:prstGeom prst="rect">
            <a:avLst/>
          </a:prstGeom>
          <a:noFill/>
          <a:ln/>
        </p:spPr>
        <p:txBody>
          <a:bodyPr wrap="square" lIns="0" tIns="0" rIns="0" bIns="0" rtlCol="0" anchor="ctr"/>
          <a:lstStyle/>
          <a:p>
            <a:pPr indent="0" marL="0">
              <a:buNone/>
            </a:pPr>
            <a:r>
              <a:rPr lang="en-US" sz="1300" b="1" dirty="0">
                <a:solidFill>
                  <a:srgbClr val="1A2C3E"/>
                </a:solidFill>
              </a:rPr>
              <a:t>Signal Detection</a:t>
            </a:r>
            <a:endParaRPr lang="en-US" sz="1300" dirty="0"/>
          </a:p>
        </p:txBody>
      </p:sp>
      <p:sp>
        <p:nvSpPr>
          <p:cNvPr id="27" name="Text 25"/>
          <p:cNvSpPr/>
          <p:nvPr/>
        </p:nvSpPr>
        <p:spPr>
          <a:xfrm>
            <a:off x="4425696" y="1847088"/>
            <a:ext cx="3529584" cy="201168"/>
          </a:xfrm>
          <a:prstGeom prst="rect">
            <a:avLst/>
          </a:prstGeom>
          <a:noFill/>
          <a:ln/>
        </p:spPr>
        <p:txBody>
          <a:bodyPr wrap="square" lIns="0" tIns="0" rIns="0" bIns="0" rtlCol="0" anchor="ctr"/>
          <a:lstStyle/>
          <a:p>
            <a:pPr indent="0" marL="0">
              <a:buNone/>
            </a:pPr>
            <a:r>
              <a:rPr lang="en-US" sz="800" b="1" dirty="0">
                <a:solidFill>
                  <a:srgbClr val="3498DB"/>
                </a:solidFill>
              </a:rPr>
              <a:t>Custom NLP + SCI Scoring Algorithm</a:t>
            </a:r>
            <a:endParaRPr lang="en-US" sz="800" dirty="0"/>
          </a:p>
        </p:txBody>
      </p:sp>
      <p:sp>
        <p:nvSpPr>
          <p:cNvPr id="28" name="Shape 26"/>
          <p:cNvSpPr/>
          <p:nvPr/>
        </p:nvSpPr>
        <p:spPr>
          <a:xfrm>
            <a:off x="4425696" y="2084832"/>
            <a:ext cx="3529584" cy="0"/>
          </a:xfrm>
          <a:prstGeom prst="line">
            <a:avLst/>
          </a:prstGeom>
          <a:noFill/>
          <a:ln w="6350">
            <a:solidFill>
              <a:srgbClr val="ECF0F1"/>
            </a:solidFill>
            <a:prstDash val="solid"/>
          </a:ln>
        </p:spPr>
      </p:sp>
      <p:sp>
        <p:nvSpPr>
          <p:cNvPr id="29" name="Text 27"/>
          <p:cNvSpPr/>
          <p:nvPr/>
        </p:nvSpPr>
        <p:spPr>
          <a:xfrm>
            <a:off x="4425696" y="2157984"/>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3498DB"/>
                </a:solidFill>
              </a:rPr>
              <a:t>▸ </a:t>
            </a:r>
            <a:pPr indent="0" marL="0">
              <a:lnSpc>
                <a:spcPct val="125000"/>
              </a:lnSpc>
              <a:buNone/>
            </a:pPr>
            <a:r>
              <a:rPr lang="en-US" sz="850" dirty="0">
                <a:solidFill>
                  <a:srgbClr val="1A2C3E"/>
                </a:solidFill>
              </a:rPr>
              <a:t>Classifies signals into 6 types</a:t>
            </a:r>
            <a:endParaRPr lang="en-US" sz="850" dirty="0"/>
          </a:p>
        </p:txBody>
      </p:sp>
      <p:sp>
        <p:nvSpPr>
          <p:cNvPr id="30" name="Text 28"/>
          <p:cNvSpPr/>
          <p:nvPr/>
        </p:nvSpPr>
        <p:spPr>
          <a:xfrm>
            <a:off x="4425696" y="2487168"/>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3498DB"/>
                </a:solidFill>
              </a:rPr>
              <a:t>▸ </a:t>
            </a:r>
            <a:pPr indent="0" marL="0">
              <a:lnSpc>
                <a:spcPct val="125000"/>
              </a:lnSpc>
              <a:buNone/>
            </a:pPr>
            <a:r>
              <a:rPr lang="en-US" sz="850" dirty="0">
                <a:solidFill>
                  <a:srgbClr val="1A2C3E"/>
                </a:solidFill>
              </a:rPr>
              <a:t>SCI = Source(30%) + Type(25%) + Recency(20%) + Impact(15%) + Geo(10%)</a:t>
            </a:r>
            <a:endParaRPr lang="en-US" sz="850" dirty="0"/>
          </a:p>
        </p:txBody>
      </p:sp>
      <p:sp>
        <p:nvSpPr>
          <p:cNvPr id="31" name="Text 29"/>
          <p:cNvSpPr/>
          <p:nvPr/>
        </p:nvSpPr>
        <p:spPr>
          <a:xfrm>
            <a:off x="4425696" y="2816352"/>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3498DB"/>
                </a:solidFill>
              </a:rPr>
              <a:t>▸ </a:t>
            </a:r>
            <a:pPr indent="0" marL="0">
              <a:lnSpc>
                <a:spcPct val="125000"/>
              </a:lnSpc>
              <a:buNone/>
            </a:pPr>
            <a:r>
              <a:rPr lang="en-US" sz="850" dirty="0">
                <a:solidFill>
                  <a:srgbClr val="1A2C3E"/>
                </a:solidFill>
              </a:rPr>
              <a:t>Grades: PLATINUM≥85 | GOLD 70-84 | SILVER 55-69</a:t>
            </a:r>
            <a:endParaRPr lang="en-US" sz="850" dirty="0"/>
          </a:p>
        </p:txBody>
      </p:sp>
      <p:sp>
        <p:nvSpPr>
          <p:cNvPr id="32" name="Text 30"/>
          <p:cNvSpPr/>
          <p:nvPr/>
        </p:nvSpPr>
        <p:spPr>
          <a:xfrm>
            <a:off x="4425696" y="3145536"/>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3498DB"/>
                </a:solidFill>
              </a:rPr>
              <a:t>▸ </a:t>
            </a:r>
            <a:pPr indent="0" marL="0">
              <a:lnSpc>
                <a:spcPct val="125000"/>
              </a:lnSpc>
              <a:buNone/>
            </a:pPr>
            <a:r>
              <a:rPr lang="en-US" sz="850" dirty="0">
                <a:solidFill>
                  <a:srgbClr val="1A2C3E"/>
                </a:solidFill>
              </a:rPr>
              <a:t>Discards signals below SCI threshold 40</a:t>
            </a:r>
            <a:endParaRPr lang="en-US" sz="850" dirty="0"/>
          </a:p>
        </p:txBody>
      </p:sp>
      <p:sp>
        <p:nvSpPr>
          <p:cNvPr id="33" name="Text 31"/>
          <p:cNvSpPr/>
          <p:nvPr/>
        </p:nvSpPr>
        <p:spPr>
          <a:xfrm>
            <a:off x="4425696" y="3474720"/>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3498DB"/>
                </a:solidFill>
              </a:rPr>
              <a:t>▸ </a:t>
            </a:r>
            <a:pPr indent="0" marL="0">
              <a:lnSpc>
                <a:spcPct val="125000"/>
              </a:lnSpc>
              <a:buNone/>
            </a:pPr>
            <a:r>
              <a:rPr lang="en-US" sz="850" dirty="0">
                <a:solidFill>
                  <a:srgbClr val="1A2C3E"/>
                </a:solidFill>
              </a:rPr>
              <a:t>Outputs typed &amp; scored signal objects</a:t>
            </a:r>
            <a:endParaRPr lang="en-US" sz="850" dirty="0"/>
          </a:p>
        </p:txBody>
      </p:sp>
      <p:sp>
        <p:nvSpPr>
          <p:cNvPr id="34" name="Shape 32"/>
          <p:cNvSpPr/>
          <p:nvPr/>
        </p:nvSpPr>
        <p:spPr>
          <a:xfrm>
            <a:off x="8229600" y="1444752"/>
            <a:ext cx="3785616"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5" name="Shape 33"/>
          <p:cNvSpPr/>
          <p:nvPr/>
        </p:nvSpPr>
        <p:spPr>
          <a:xfrm>
            <a:off x="8229600" y="1444752"/>
            <a:ext cx="3785616" cy="73152"/>
          </a:xfrm>
          <a:prstGeom prst="rect">
            <a:avLst/>
          </a:prstGeom>
          <a:solidFill>
            <a:srgbClr val="F1C40F"/>
          </a:solidFill>
          <a:ln/>
        </p:spPr>
      </p:sp>
      <p:sp>
        <p:nvSpPr>
          <p:cNvPr id="36" name="Shape 34"/>
          <p:cNvSpPr/>
          <p:nvPr/>
        </p:nvSpPr>
        <p:spPr>
          <a:xfrm>
            <a:off x="11228832" y="1536192"/>
            <a:ext cx="640080" cy="256032"/>
          </a:xfrm>
          <a:prstGeom prst="rect">
            <a:avLst/>
          </a:prstGeom>
          <a:solidFill>
            <a:srgbClr val="F1C40F"/>
          </a:solidFill>
          <a:ln/>
        </p:spPr>
      </p:sp>
      <p:sp>
        <p:nvSpPr>
          <p:cNvPr id="37" name="Text 35"/>
          <p:cNvSpPr/>
          <p:nvPr/>
        </p:nvSpPr>
        <p:spPr>
          <a:xfrm>
            <a:off x="11228832" y="1536192"/>
            <a:ext cx="640080" cy="256032"/>
          </a:xfrm>
          <a:prstGeom prst="rect">
            <a:avLst/>
          </a:prstGeom>
          <a:noFill/>
          <a:ln/>
        </p:spPr>
        <p:txBody>
          <a:bodyPr wrap="square" lIns="0" tIns="0" rIns="0" bIns="0" rtlCol="0" anchor="ctr"/>
          <a:lstStyle/>
          <a:p>
            <a:pPr algn="ctr" indent="0" marL="0">
              <a:buNone/>
            </a:pPr>
            <a:r>
              <a:rPr lang="en-US" sz="800" b="1" dirty="0">
                <a:solidFill>
                  <a:srgbClr val="FFFFFF"/>
                </a:solidFill>
              </a:rPr>
              <a:t>AGT-03</a:t>
            </a:r>
            <a:endParaRPr lang="en-US" sz="800" dirty="0"/>
          </a:p>
        </p:txBody>
      </p:sp>
      <p:sp>
        <p:nvSpPr>
          <p:cNvPr id="38" name="Text 36"/>
          <p:cNvSpPr/>
          <p:nvPr/>
        </p:nvSpPr>
        <p:spPr>
          <a:xfrm>
            <a:off x="8357616" y="1554480"/>
            <a:ext cx="2743200" cy="274320"/>
          </a:xfrm>
          <a:prstGeom prst="rect">
            <a:avLst/>
          </a:prstGeom>
          <a:noFill/>
          <a:ln/>
        </p:spPr>
        <p:txBody>
          <a:bodyPr wrap="square" lIns="0" tIns="0" rIns="0" bIns="0" rtlCol="0" anchor="ctr"/>
          <a:lstStyle/>
          <a:p>
            <a:pPr indent="0" marL="0">
              <a:buNone/>
            </a:pPr>
            <a:r>
              <a:rPr lang="en-US" sz="1300" b="1" dirty="0">
                <a:solidFill>
                  <a:srgbClr val="1A2C3E"/>
                </a:solidFill>
              </a:rPr>
              <a:t>Verification</a:t>
            </a:r>
            <a:endParaRPr lang="en-US" sz="1300" dirty="0"/>
          </a:p>
        </p:txBody>
      </p:sp>
      <p:sp>
        <p:nvSpPr>
          <p:cNvPr id="39" name="Text 37"/>
          <p:cNvSpPr/>
          <p:nvPr/>
        </p:nvSpPr>
        <p:spPr>
          <a:xfrm>
            <a:off x="8357616" y="1847088"/>
            <a:ext cx="3529584" cy="201168"/>
          </a:xfrm>
          <a:prstGeom prst="rect">
            <a:avLst/>
          </a:prstGeom>
          <a:noFill/>
          <a:ln/>
        </p:spPr>
        <p:txBody>
          <a:bodyPr wrap="square" lIns="0" tIns="0" rIns="0" bIns="0" rtlCol="0" anchor="ctr"/>
          <a:lstStyle/>
          <a:p>
            <a:pPr indent="0" marL="0">
              <a:buNone/>
            </a:pPr>
            <a:r>
              <a:rPr lang="en-US" sz="800" b="1" dirty="0">
                <a:solidFill>
                  <a:srgbClr val="F1C40F"/>
                </a:solidFill>
              </a:rPr>
              <a:t>SHA-256 Provenance + Deduplication</a:t>
            </a:r>
            <a:endParaRPr lang="en-US" sz="800" dirty="0"/>
          </a:p>
        </p:txBody>
      </p:sp>
      <p:sp>
        <p:nvSpPr>
          <p:cNvPr id="40" name="Shape 38"/>
          <p:cNvSpPr/>
          <p:nvPr/>
        </p:nvSpPr>
        <p:spPr>
          <a:xfrm>
            <a:off x="8357616" y="2084832"/>
            <a:ext cx="3529584" cy="0"/>
          </a:xfrm>
          <a:prstGeom prst="line">
            <a:avLst/>
          </a:prstGeom>
          <a:noFill/>
          <a:ln w="6350">
            <a:solidFill>
              <a:srgbClr val="ECF0F1"/>
            </a:solidFill>
            <a:prstDash val="solid"/>
          </a:ln>
        </p:spPr>
      </p:sp>
      <p:sp>
        <p:nvSpPr>
          <p:cNvPr id="41" name="Text 39"/>
          <p:cNvSpPr/>
          <p:nvPr/>
        </p:nvSpPr>
        <p:spPr>
          <a:xfrm>
            <a:off x="8357616" y="2157984"/>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F1C40F"/>
                </a:solidFill>
              </a:rPr>
              <a:t>▸ </a:t>
            </a:r>
            <a:pPr indent="0" marL="0">
              <a:lnSpc>
                <a:spcPct val="125000"/>
              </a:lnSpc>
              <a:buNone/>
            </a:pPr>
            <a:r>
              <a:rPr lang="en-US" sz="850" dirty="0">
                <a:solidFill>
                  <a:srgbClr val="1A2C3E"/>
                </a:solidFill>
              </a:rPr>
              <a:t>4-layer verification: Source auth + Content + Economy + Recency</a:t>
            </a:r>
            <a:endParaRPr lang="en-US" sz="850" dirty="0"/>
          </a:p>
        </p:txBody>
      </p:sp>
      <p:sp>
        <p:nvSpPr>
          <p:cNvPr id="42" name="Text 40"/>
          <p:cNvSpPr/>
          <p:nvPr/>
        </p:nvSpPr>
        <p:spPr>
          <a:xfrm>
            <a:off x="8357616" y="2487168"/>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F1C40F"/>
                </a:solidFill>
              </a:rPr>
              <a:t>▸ </a:t>
            </a:r>
            <a:pPr indent="0" marL="0">
              <a:lnSpc>
                <a:spcPct val="125000"/>
              </a:lnSpc>
              <a:buNone/>
            </a:pPr>
            <a:r>
              <a:rPr lang="en-US" sz="850" dirty="0">
                <a:solidFill>
                  <a:srgbClr val="1A2C3E"/>
                </a:solidFill>
              </a:rPr>
              <a:t>SHA-256 provenance hash for every signal</a:t>
            </a:r>
            <a:endParaRPr lang="en-US" sz="850" dirty="0"/>
          </a:p>
        </p:txBody>
      </p:sp>
      <p:sp>
        <p:nvSpPr>
          <p:cNvPr id="43" name="Text 41"/>
          <p:cNvSpPr/>
          <p:nvPr/>
        </p:nvSpPr>
        <p:spPr>
          <a:xfrm>
            <a:off x="8357616" y="2816352"/>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F1C40F"/>
                </a:solidFill>
              </a:rPr>
              <a:t>▸ </a:t>
            </a:r>
            <a:pPr indent="0" marL="0">
              <a:lnSpc>
                <a:spcPct val="125000"/>
              </a:lnSpc>
              <a:buNone/>
            </a:pPr>
            <a:r>
              <a:rPr lang="en-US" sz="850" dirty="0">
                <a:solidFill>
                  <a:srgbClr val="1A2C3E"/>
                </a:solidFill>
              </a:rPr>
              <a:t>Deduplication via content hash registry</a:t>
            </a:r>
            <a:endParaRPr lang="en-US" sz="850" dirty="0"/>
          </a:p>
        </p:txBody>
      </p:sp>
      <p:sp>
        <p:nvSpPr>
          <p:cNvPr id="44" name="Text 42"/>
          <p:cNvSpPr/>
          <p:nvPr/>
        </p:nvSpPr>
        <p:spPr>
          <a:xfrm>
            <a:off x="8357616" y="3145536"/>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F1C40F"/>
                </a:solidFill>
              </a:rPr>
              <a:t>▸ </a:t>
            </a:r>
            <a:pPr indent="0" marL="0">
              <a:lnSpc>
                <a:spcPct val="125000"/>
              </a:lnSpc>
              <a:buNone/>
            </a:pPr>
            <a:r>
              <a:rPr lang="en-US" sz="850" dirty="0">
                <a:solidFill>
                  <a:srgbClr val="1A2C3E"/>
                </a:solidFill>
              </a:rPr>
              <a:t>Verification score threshold: ≥60/100</a:t>
            </a:r>
            <a:endParaRPr lang="en-US" sz="850" dirty="0"/>
          </a:p>
        </p:txBody>
      </p:sp>
      <p:sp>
        <p:nvSpPr>
          <p:cNvPr id="45" name="Text 43"/>
          <p:cNvSpPr/>
          <p:nvPr/>
        </p:nvSpPr>
        <p:spPr>
          <a:xfrm>
            <a:off x="8357616" y="3474720"/>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F1C40F"/>
                </a:solidFill>
              </a:rPr>
              <a:t>▸ </a:t>
            </a:r>
            <a:pPr indent="0" marL="0">
              <a:lnSpc>
                <a:spcPct val="125000"/>
              </a:lnSpc>
              <a:buNone/>
            </a:pPr>
            <a:r>
              <a:rPr lang="en-US" sz="850" dirty="0">
                <a:solidFill>
                  <a:srgbClr val="1A2C3E"/>
                </a:solidFill>
              </a:rPr>
              <a:t>Audit trail maintained for all signals</a:t>
            </a:r>
            <a:endParaRPr lang="en-US" sz="850" dirty="0"/>
          </a:p>
        </p:txBody>
      </p:sp>
      <p:sp>
        <p:nvSpPr>
          <p:cNvPr id="46" name="Shape 44"/>
          <p:cNvSpPr/>
          <p:nvPr/>
        </p:nvSpPr>
        <p:spPr>
          <a:xfrm>
            <a:off x="365760" y="3968496"/>
            <a:ext cx="3785616"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7" name="Shape 45"/>
          <p:cNvSpPr/>
          <p:nvPr/>
        </p:nvSpPr>
        <p:spPr>
          <a:xfrm>
            <a:off x="365760" y="3968496"/>
            <a:ext cx="3785616" cy="73152"/>
          </a:xfrm>
          <a:prstGeom prst="rect">
            <a:avLst/>
          </a:prstGeom>
          <a:solidFill>
            <a:srgbClr val="9B59B6"/>
          </a:solidFill>
          <a:ln/>
        </p:spPr>
      </p:sp>
      <p:sp>
        <p:nvSpPr>
          <p:cNvPr id="48" name="Shape 46"/>
          <p:cNvSpPr/>
          <p:nvPr/>
        </p:nvSpPr>
        <p:spPr>
          <a:xfrm>
            <a:off x="3364992" y="4059936"/>
            <a:ext cx="640080" cy="256032"/>
          </a:xfrm>
          <a:prstGeom prst="rect">
            <a:avLst/>
          </a:prstGeom>
          <a:solidFill>
            <a:srgbClr val="9B59B6"/>
          </a:solidFill>
          <a:ln/>
        </p:spPr>
      </p:sp>
      <p:sp>
        <p:nvSpPr>
          <p:cNvPr id="49" name="Text 47"/>
          <p:cNvSpPr/>
          <p:nvPr/>
        </p:nvSpPr>
        <p:spPr>
          <a:xfrm>
            <a:off x="3364992" y="4059936"/>
            <a:ext cx="640080" cy="256032"/>
          </a:xfrm>
          <a:prstGeom prst="rect">
            <a:avLst/>
          </a:prstGeom>
          <a:noFill/>
          <a:ln/>
        </p:spPr>
        <p:txBody>
          <a:bodyPr wrap="square" lIns="0" tIns="0" rIns="0" bIns="0" rtlCol="0" anchor="ctr"/>
          <a:lstStyle/>
          <a:p>
            <a:pPr algn="ctr" indent="0" marL="0">
              <a:buNone/>
            </a:pPr>
            <a:r>
              <a:rPr lang="en-US" sz="800" b="1" dirty="0">
                <a:solidFill>
                  <a:srgbClr val="FFFFFF"/>
                </a:solidFill>
              </a:rPr>
              <a:t>AGT-04</a:t>
            </a:r>
            <a:endParaRPr lang="en-US" sz="800" dirty="0"/>
          </a:p>
        </p:txBody>
      </p:sp>
      <p:sp>
        <p:nvSpPr>
          <p:cNvPr id="50" name="Text 48"/>
          <p:cNvSpPr/>
          <p:nvPr/>
        </p:nvSpPr>
        <p:spPr>
          <a:xfrm>
            <a:off x="493776" y="4078224"/>
            <a:ext cx="2743200" cy="274320"/>
          </a:xfrm>
          <a:prstGeom prst="rect">
            <a:avLst/>
          </a:prstGeom>
          <a:noFill/>
          <a:ln/>
        </p:spPr>
        <p:txBody>
          <a:bodyPr wrap="square" lIns="0" tIns="0" rIns="0" bIns="0" rtlCol="0" anchor="ctr"/>
          <a:lstStyle/>
          <a:p>
            <a:pPr indent="0" marL="0">
              <a:buNone/>
            </a:pPr>
            <a:r>
              <a:rPr lang="en-US" sz="1300" b="1" dirty="0">
                <a:solidFill>
                  <a:srgbClr val="1A2C3E"/>
                </a:solidFill>
              </a:rPr>
              <a:t>GOSA Scoring</a:t>
            </a:r>
            <a:endParaRPr lang="en-US" sz="1300" dirty="0"/>
          </a:p>
        </p:txBody>
      </p:sp>
      <p:sp>
        <p:nvSpPr>
          <p:cNvPr id="51" name="Text 49"/>
          <p:cNvSpPr/>
          <p:nvPr/>
        </p:nvSpPr>
        <p:spPr>
          <a:xfrm>
            <a:off x="493776" y="4370832"/>
            <a:ext cx="3529584" cy="201168"/>
          </a:xfrm>
          <a:prstGeom prst="rect">
            <a:avLst/>
          </a:prstGeom>
          <a:noFill/>
          <a:ln/>
        </p:spPr>
        <p:txBody>
          <a:bodyPr wrap="square" lIns="0" tIns="0" rIns="0" bIns="0" rtlCol="0" anchor="ctr"/>
          <a:lstStyle/>
          <a:p>
            <a:pPr indent="0" marL="0">
              <a:buNone/>
            </a:pPr>
            <a:r>
              <a:rPr lang="en-US" sz="800" b="1" dirty="0">
                <a:solidFill>
                  <a:srgbClr val="9B59B6"/>
                </a:solidFill>
              </a:rPr>
              <a:t>4-Layer Weighted Scoring Engine</a:t>
            </a:r>
            <a:endParaRPr lang="en-US" sz="800" dirty="0"/>
          </a:p>
        </p:txBody>
      </p:sp>
      <p:sp>
        <p:nvSpPr>
          <p:cNvPr id="52" name="Shape 50"/>
          <p:cNvSpPr/>
          <p:nvPr/>
        </p:nvSpPr>
        <p:spPr>
          <a:xfrm>
            <a:off x="493776" y="4608576"/>
            <a:ext cx="3529584" cy="0"/>
          </a:xfrm>
          <a:prstGeom prst="line">
            <a:avLst/>
          </a:prstGeom>
          <a:noFill/>
          <a:ln w="6350">
            <a:solidFill>
              <a:srgbClr val="ECF0F1"/>
            </a:solidFill>
            <a:prstDash val="solid"/>
          </a:ln>
        </p:spPr>
      </p:sp>
      <p:sp>
        <p:nvSpPr>
          <p:cNvPr id="53" name="Text 51"/>
          <p:cNvSpPr/>
          <p:nvPr/>
        </p:nvSpPr>
        <p:spPr>
          <a:xfrm>
            <a:off x="493776" y="4681728"/>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9B59B6"/>
                </a:solidFill>
              </a:rPr>
              <a:t>▸ </a:t>
            </a:r>
            <a:pPr indent="0" marL="0">
              <a:lnSpc>
                <a:spcPct val="125000"/>
              </a:lnSpc>
              <a:buNone/>
            </a:pPr>
            <a:r>
              <a:rPr lang="en-US" sz="850" dirty="0">
                <a:solidFill>
                  <a:srgbClr val="1A2C3E"/>
                </a:solidFill>
              </a:rPr>
              <a:t>GOSA = (0.30×L1)+(0.20×L2)+(0.25×L3)+(0.25×L4)</a:t>
            </a:r>
            <a:endParaRPr lang="en-US" sz="850" dirty="0"/>
          </a:p>
        </p:txBody>
      </p:sp>
      <p:sp>
        <p:nvSpPr>
          <p:cNvPr id="54" name="Text 52"/>
          <p:cNvSpPr/>
          <p:nvPr/>
        </p:nvSpPr>
        <p:spPr>
          <a:xfrm>
            <a:off x="493776" y="5010912"/>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9B59B6"/>
                </a:solidFill>
              </a:rPr>
              <a:t>▸ </a:t>
            </a:r>
            <a:pPr indent="0" marL="0">
              <a:lnSpc>
                <a:spcPct val="125000"/>
              </a:lnSpc>
              <a:buNone/>
            </a:pPr>
            <a:r>
              <a:rPr lang="en-US" sz="850" dirty="0">
                <a:solidFill>
                  <a:srgbClr val="1A2C3E"/>
                </a:solidFill>
              </a:rPr>
              <a:t>Signal boosts applied for high-SCI verified signals</a:t>
            </a:r>
            <a:endParaRPr lang="en-US" sz="850" dirty="0"/>
          </a:p>
        </p:txBody>
      </p:sp>
      <p:sp>
        <p:nvSpPr>
          <p:cNvPr id="55" name="Text 53"/>
          <p:cNvSpPr/>
          <p:nvPr/>
        </p:nvSpPr>
        <p:spPr>
          <a:xfrm>
            <a:off x="493776" y="5340096"/>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9B59B6"/>
                </a:solidFill>
              </a:rPr>
              <a:t>▸ </a:t>
            </a:r>
            <a:pPr indent="0" marL="0">
              <a:lnSpc>
                <a:spcPct val="125000"/>
              </a:lnSpc>
              <a:buNone/>
            </a:pPr>
            <a:r>
              <a:rPr lang="en-US" sz="850" dirty="0">
                <a:solidFill>
                  <a:srgbClr val="1A2C3E"/>
                </a:solidFill>
              </a:rPr>
              <a:t>215 economy base scores maintained</a:t>
            </a:r>
            <a:endParaRPr lang="en-US" sz="850" dirty="0"/>
          </a:p>
        </p:txBody>
      </p:sp>
      <p:sp>
        <p:nvSpPr>
          <p:cNvPr id="56" name="Text 54"/>
          <p:cNvSpPr/>
          <p:nvPr/>
        </p:nvSpPr>
        <p:spPr>
          <a:xfrm>
            <a:off x="493776" y="5669280"/>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9B59B6"/>
                </a:solidFill>
              </a:rPr>
              <a:t>▸ </a:t>
            </a:r>
            <a:pPr indent="0" marL="0">
              <a:lnSpc>
                <a:spcPct val="125000"/>
              </a:lnSpc>
              <a:buNone/>
            </a:pPr>
            <a:r>
              <a:rPr lang="en-US" sz="850" dirty="0">
                <a:solidFill>
                  <a:srgbClr val="1A2C3E"/>
                </a:solidFill>
              </a:rPr>
              <a:t>Tiers: Top≥80 · High 60-79 · Developing&lt;60</a:t>
            </a:r>
            <a:endParaRPr lang="en-US" sz="850" dirty="0"/>
          </a:p>
        </p:txBody>
      </p:sp>
      <p:sp>
        <p:nvSpPr>
          <p:cNvPr id="57" name="Text 55"/>
          <p:cNvSpPr/>
          <p:nvPr/>
        </p:nvSpPr>
        <p:spPr>
          <a:xfrm>
            <a:off x="493776" y="5998464"/>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9B59B6"/>
                </a:solidFill>
              </a:rPr>
              <a:t>▸ </a:t>
            </a:r>
            <a:pPr indent="0" marL="0">
              <a:lnSpc>
                <a:spcPct val="125000"/>
              </a:lnSpc>
              <a:buNone/>
            </a:pPr>
            <a:r>
              <a:rPr lang="en-US" sz="850" dirty="0">
                <a:solidFill>
                  <a:srgbClr val="1A2C3E"/>
                </a:solidFill>
              </a:rPr>
              <a:t>Outputs ranked economy table</a:t>
            </a:r>
            <a:endParaRPr lang="en-US" sz="850" dirty="0"/>
          </a:p>
        </p:txBody>
      </p:sp>
      <p:sp>
        <p:nvSpPr>
          <p:cNvPr id="58" name="Shape 56"/>
          <p:cNvSpPr/>
          <p:nvPr/>
        </p:nvSpPr>
        <p:spPr>
          <a:xfrm>
            <a:off x="4297680" y="3968496"/>
            <a:ext cx="3785616"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9" name="Shape 57"/>
          <p:cNvSpPr/>
          <p:nvPr/>
        </p:nvSpPr>
        <p:spPr>
          <a:xfrm>
            <a:off x="4297680" y="3968496"/>
            <a:ext cx="3785616" cy="73152"/>
          </a:xfrm>
          <a:prstGeom prst="rect">
            <a:avLst/>
          </a:prstGeom>
          <a:solidFill>
            <a:srgbClr val="E74C3C"/>
          </a:solidFill>
          <a:ln/>
        </p:spPr>
      </p:sp>
      <p:sp>
        <p:nvSpPr>
          <p:cNvPr id="60" name="Shape 58"/>
          <p:cNvSpPr/>
          <p:nvPr/>
        </p:nvSpPr>
        <p:spPr>
          <a:xfrm>
            <a:off x="7296912" y="4059936"/>
            <a:ext cx="640080" cy="256032"/>
          </a:xfrm>
          <a:prstGeom prst="rect">
            <a:avLst/>
          </a:prstGeom>
          <a:solidFill>
            <a:srgbClr val="E74C3C"/>
          </a:solidFill>
          <a:ln/>
        </p:spPr>
      </p:sp>
      <p:sp>
        <p:nvSpPr>
          <p:cNvPr id="61" name="Text 59"/>
          <p:cNvSpPr/>
          <p:nvPr/>
        </p:nvSpPr>
        <p:spPr>
          <a:xfrm>
            <a:off x="7296912" y="4059936"/>
            <a:ext cx="640080" cy="256032"/>
          </a:xfrm>
          <a:prstGeom prst="rect">
            <a:avLst/>
          </a:prstGeom>
          <a:noFill/>
          <a:ln/>
        </p:spPr>
        <p:txBody>
          <a:bodyPr wrap="square" lIns="0" tIns="0" rIns="0" bIns="0" rtlCol="0" anchor="ctr"/>
          <a:lstStyle/>
          <a:p>
            <a:pPr algn="ctr" indent="0" marL="0">
              <a:buNone/>
            </a:pPr>
            <a:r>
              <a:rPr lang="en-US" sz="800" b="1" dirty="0">
                <a:solidFill>
                  <a:srgbClr val="FFFFFF"/>
                </a:solidFill>
              </a:rPr>
              <a:t>AGT-05</a:t>
            </a:r>
            <a:endParaRPr lang="en-US" sz="800" dirty="0"/>
          </a:p>
        </p:txBody>
      </p:sp>
      <p:sp>
        <p:nvSpPr>
          <p:cNvPr id="62" name="Text 60"/>
          <p:cNvSpPr/>
          <p:nvPr/>
        </p:nvSpPr>
        <p:spPr>
          <a:xfrm>
            <a:off x="4425696" y="4078224"/>
            <a:ext cx="2743200" cy="274320"/>
          </a:xfrm>
          <a:prstGeom prst="rect">
            <a:avLst/>
          </a:prstGeom>
          <a:noFill/>
          <a:ln/>
        </p:spPr>
        <p:txBody>
          <a:bodyPr wrap="square" lIns="0" tIns="0" rIns="0" bIns="0" rtlCol="0" anchor="ctr"/>
          <a:lstStyle/>
          <a:p>
            <a:pPr indent="0" marL="0">
              <a:buNone/>
            </a:pPr>
            <a:r>
              <a:rPr lang="en-US" sz="1300" b="1" dirty="0">
                <a:solidFill>
                  <a:srgbClr val="1A2C3E"/>
                </a:solidFill>
              </a:rPr>
              <a:t>GFR Ranking</a:t>
            </a:r>
            <a:endParaRPr lang="en-US" sz="1300" dirty="0"/>
          </a:p>
        </p:txBody>
      </p:sp>
      <p:sp>
        <p:nvSpPr>
          <p:cNvPr id="63" name="Text 61"/>
          <p:cNvSpPr/>
          <p:nvPr/>
        </p:nvSpPr>
        <p:spPr>
          <a:xfrm>
            <a:off x="4425696" y="4370832"/>
            <a:ext cx="3529584" cy="201168"/>
          </a:xfrm>
          <a:prstGeom prst="rect">
            <a:avLst/>
          </a:prstGeom>
          <a:noFill/>
          <a:ln/>
        </p:spPr>
        <p:txBody>
          <a:bodyPr wrap="square" lIns="0" tIns="0" rIns="0" bIns="0" rtlCol="0" anchor="ctr"/>
          <a:lstStyle/>
          <a:p>
            <a:pPr indent="0" marL="0">
              <a:buNone/>
            </a:pPr>
            <a:r>
              <a:rPr lang="en-US" sz="800" b="1" dirty="0">
                <a:solidFill>
                  <a:srgbClr val="E74C3C"/>
                </a:solidFill>
              </a:rPr>
              <a:t>6-Dimension Composite Scoring</a:t>
            </a:r>
            <a:endParaRPr lang="en-US" sz="800" dirty="0"/>
          </a:p>
        </p:txBody>
      </p:sp>
      <p:sp>
        <p:nvSpPr>
          <p:cNvPr id="64" name="Shape 62"/>
          <p:cNvSpPr/>
          <p:nvPr/>
        </p:nvSpPr>
        <p:spPr>
          <a:xfrm>
            <a:off x="4425696" y="4608576"/>
            <a:ext cx="3529584" cy="0"/>
          </a:xfrm>
          <a:prstGeom prst="line">
            <a:avLst/>
          </a:prstGeom>
          <a:noFill/>
          <a:ln w="6350">
            <a:solidFill>
              <a:srgbClr val="ECF0F1"/>
            </a:solidFill>
            <a:prstDash val="solid"/>
          </a:ln>
        </p:spPr>
      </p:sp>
      <p:sp>
        <p:nvSpPr>
          <p:cNvPr id="65" name="Text 63"/>
          <p:cNvSpPr/>
          <p:nvPr/>
        </p:nvSpPr>
        <p:spPr>
          <a:xfrm>
            <a:off x="4425696" y="4681728"/>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E74C3C"/>
                </a:solidFill>
              </a:rPr>
              <a:t>▸ </a:t>
            </a:r>
            <a:pPr indent="0" marL="0">
              <a:lnSpc>
                <a:spcPct val="125000"/>
              </a:lnSpc>
              <a:buNone/>
            </a:pPr>
            <a:r>
              <a:rPr lang="en-US" sz="850" dirty="0">
                <a:solidFill>
                  <a:srgbClr val="1A2C3E"/>
                </a:solidFill>
              </a:rPr>
              <a:t>ETR(20%)+ICT(18%)+TCM(18%)+DTF(16%)+SGT(15%)+GRP(13%)</a:t>
            </a:r>
            <a:endParaRPr lang="en-US" sz="850" dirty="0"/>
          </a:p>
        </p:txBody>
      </p:sp>
      <p:sp>
        <p:nvSpPr>
          <p:cNvPr id="66" name="Text 64"/>
          <p:cNvSpPr/>
          <p:nvPr/>
        </p:nvSpPr>
        <p:spPr>
          <a:xfrm>
            <a:off x="4425696" y="5010912"/>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E74C3C"/>
                </a:solidFill>
              </a:rPr>
              <a:t>▸ </a:t>
            </a:r>
            <a:pPr indent="0" marL="0">
              <a:lnSpc>
                <a:spcPct val="125000"/>
              </a:lnSpc>
              <a:buNone/>
            </a:pPr>
            <a:r>
              <a:rPr lang="en-US" sz="850" dirty="0">
                <a:solidFill>
                  <a:srgbClr val="1A2C3E"/>
                </a:solidFill>
              </a:rPr>
              <a:t>Global Future Readiness composite score</a:t>
            </a:r>
            <a:endParaRPr lang="en-US" sz="850" dirty="0"/>
          </a:p>
        </p:txBody>
      </p:sp>
      <p:sp>
        <p:nvSpPr>
          <p:cNvPr id="67" name="Text 65"/>
          <p:cNvSpPr/>
          <p:nvPr/>
        </p:nvSpPr>
        <p:spPr>
          <a:xfrm>
            <a:off x="4425696" y="5340096"/>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E74C3C"/>
                </a:solidFill>
              </a:rPr>
              <a:t>▸ </a:t>
            </a:r>
            <a:pPr indent="0" marL="0">
              <a:lnSpc>
                <a:spcPct val="125000"/>
              </a:lnSpc>
              <a:buNone/>
            </a:pPr>
            <a:r>
              <a:rPr lang="en-US" sz="850" dirty="0">
                <a:solidFill>
                  <a:srgbClr val="1A2C3E"/>
                </a:solidFill>
              </a:rPr>
              <a:t>Rankings updated weekly from signal data</a:t>
            </a:r>
            <a:endParaRPr lang="en-US" sz="850" dirty="0"/>
          </a:p>
        </p:txBody>
      </p:sp>
      <p:sp>
        <p:nvSpPr>
          <p:cNvPr id="68" name="Text 66"/>
          <p:cNvSpPr/>
          <p:nvPr/>
        </p:nvSpPr>
        <p:spPr>
          <a:xfrm>
            <a:off x="4425696" y="5669280"/>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E74C3C"/>
                </a:solidFill>
              </a:rPr>
              <a:t>▸ </a:t>
            </a:r>
            <a:pPr indent="0" marL="0">
              <a:lnSpc>
                <a:spcPct val="125000"/>
              </a:lnSpc>
              <a:buNone/>
            </a:pPr>
            <a:r>
              <a:rPr lang="en-US" sz="850" dirty="0">
                <a:solidFill>
                  <a:srgbClr val="1A2C3E"/>
                </a:solidFill>
              </a:rPr>
              <a:t>Feeds GFR Ranking page /gfr</a:t>
            </a:r>
            <a:endParaRPr lang="en-US" sz="850" dirty="0"/>
          </a:p>
        </p:txBody>
      </p:sp>
      <p:sp>
        <p:nvSpPr>
          <p:cNvPr id="69" name="Text 67"/>
          <p:cNvSpPr/>
          <p:nvPr/>
        </p:nvSpPr>
        <p:spPr>
          <a:xfrm>
            <a:off x="4425696" y="5998464"/>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E74C3C"/>
                </a:solidFill>
              </a:rPr>
              <a:t>▸ </a:t>
            </a:r>
            <a:pPr indent="0" marL="0">
              <a:lnSpc>
                <a:spcPct val="125000"/>
              </a:lnSpc>
              <a:buNone/>
            </a:pPr>
            <a:r>
              <a:rPr lang="en-US" sz="850" dirty="0">
                <a:solidFill>
                  <a:srgbClr val="1A2C3E"/>
                </a:solidFill>
              </a:rPr>
              <a:t>Core feature — fully functional</a:t>
            </a:r>
            <a:endParaRPr lang="en-US" sz="850" dirty="0"/>
          </a:p>
        </p:txBody>
      </p:sp>
      <p:sp>
        <p:nvSpPr>
          <p:cNvPr id="70" name="Shape 68"/>
          <p:cNvSpPr/>
          <p:nvPr/>
        </p:nvSpPr>
        <p:spPr>
          <a:xfrm>
            <a:off x="8229600" y="3968496"/>
            <a:ext cx="3785616" cy="239572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71" name="Shape 69"/>
          <p:cNvSpPr/>
          <p:nvPr/>
        </p:nvSpPr>
        <p:spPr>
          <a:xfrm>
            <a:off x="8229600" y="3968496"/>
            <a:ext cx="3785616" cy="73152"/>
          </a:xfrm>
          <a:prstGeom prst="rect">
            <a:avLst/>
          </a:prstGeom>
          <a:solidFill>
            <a:srgbClr val="27AE60"/>
          </a:solidFill>
          <a:ln/>
        </p:spPr>
      </p:sp>
      <p:sp>
        <p:nvSpPr>
          <p:cNvPr id="72" name="Shape 70"/>
          <p:cNvSpPr/>
          <p:nvPr/>
        </p:nvSpPr>
        <p:spPr>
          <a:xfrm>
            <a:off x="11228832" y="4059936"/>
            <a:ext cx="640080" cy="256032"/>
          </a:xfrm>
          <a:prstGeom prst="rect">
            <a:avLst/>
          </a:prstGeom>
          <a:solidFill>
            <a:srgbClr val="27AE60"/>
          </a:solidFill>
          <a:ln/>
        </p:spPr>
      </p:sp>
      <p:sp>
        <p:nvSpPr>
          <p:cNvPr id="73" name="Text 71"/>
          <p:cNvSpPr/>
          <p:nvPr/>
        </p:nvSpPr>
        <p:spPr>
          <a:xfrm>
            <a:off x="11228832" y="4059936"/>
            <a:ext cx="640080" cy="256032"/>
          </a:xfrm>
          <a:prstGeom prst="rect">
            <a:avLst/>
          </a:prstGeom>
          <a:noFill/>
          <a:ln/>
        </p:spPr>
        <p:txBody>
          <a:bodyPr wrap="square" lIns="0" tIns="0" rIns="0" bIns="0" rtlCol="0" anchor="ctr"/>
          <a:lstStyle/>
          <a:p>
            <a:pPr algn="ctr" indent="0" marL="0">
              <a:buNone/>
            </a:pPr>
            <a:r>
              <a:rPr lang="en-US" sz="800" b="1" dirty="0">
                <a:solidFill>
                  <a:srgbClr val="FFFFFF"/>
                </a:solidFill>
              </a:rPr>
              <a:t>AGT-06</a:t>
            </a:r>
            <a:endParaRPr lang="en-US" sz="800" dirty="0"/>
          </a:p>
        </p:txBody>
      </p:sp>
      <p:sp>
        <p:nvSpPr>
          <p:cNvPr id="74" name="Text 72"/>
          <p:cNvSpPr/>
          <p:nvPr/>
        </p:nvSpPr>
        <p:spPr>
          <a:xfrm>
            <a:off x="8357616" y="4078224"/>
            <a:ext cx="2743200" cy="274320"/>
          </a:xfrm>
          <a:prstGeom prst="rect">
            <a:avLst/>
          </a:prstGeom>
          <a:noFill/>
          <a:ln/>
        </p:spPr>
        <p:txBody>
          <a:bodyPr wrap="square" lIns="0" tIns="0" rIns="0" bIns="0" rtlCol="0" anchor="ctr"/>
          <a:lstStyle/>
          <a:p>
            <a:pPr indent="0" marL="0">
              <a:buNone/>
            </a:pPr>
            <a:r>
              <a:rPr lang="en-US" sz="1300" b="1" dirty="0">
                <a:solidFill>
                  <a:srgbClr val="1A2C3E"/>
                </a:solidFill>
              </a:rPr>
              <a:t>Newsletter Gen</a:t>
            </a:r>
            <a:endParaRPr lang="en-US" sz="1300" dirty="0"/>
          </a:p>
        </p:txBody>
      </p:sp>
      <p:sp>
        <p:nvSpPr>
          <p:cNvPr id="75" name="Text 73"/>
          <p:cNvSpPr/>
          <p:nvPr/>
        </p:nvSpPr>
        <p:spPr>
          <a:xfrm>
            <a:off x="8357616" y="4370832"/>
            <a:ext cx="3529584" cy="201168"/>
          </a:xfrm>
          <a:prstGeom prst="rect">
            <a:avLst/>
          </a:prstGeom>
          <a:noFill/>
          <a:ln/>
        </p:spPr>
        <p:txBody>
          <a:bodyPr wrap="square" lIns="0" tIns="0" rIns="0" bIns="0" rtlCol="0" anchor="ctr"/>
          <a:lstStyle/>
          <a:p>
            <a:pPr indent="0" marL="0">
              <a:buNone/>
            </a:pPr>
            <a:r>
              <a:rPr lang="en-US" sz="800" b="1" dirty="0">
                <a:solidFill>
                  <a:srgbClr val="27AE60"/>
                </a:solidFill>
              </a:rPr>
              <a:t>GPT-4 + HTML Template Engine</a:t>
            </a:r>
            <a:endParaRPr lang="en-US" sz="800" dirty="0"/>
          </a:p>
        </p:txBody>
      </p:sp>
      <p:sp>
        <p:nvSpPr>
          <p:cNvPr id="76" name="Shape 74"/>
          <p:cNvSpPr/>
          <p:nvPr/>
        </p:nvSpPr>
        <p:spPr>
          <a:xfrm>
            <a:off x="8357616" y="4608576"/>
            <a:ext cx="3529584" cy="0"/>
          </a:xfrm>
          <a:prstGeom prst="line">
            <a:avLst/>
          </a:prstGeom>
          <a:noFill/>
          <a:ln w="6350">
            <a:solidFill>
              <a:srgbClr val="ECF0F1"/>
            </a:solidFill>
            <a:prstDash val="solid"/>
          </a:ln>
        </p:spPr>
      </p:sp>
      <p:sp>
        <p:nvSpPr>
          <p:cNvPr id="77" name="Text 75"/>
          <p:cNvSpPr/>
          <p:nvPr/>
        </p:nvSpPr>
        <p:spPr>
          <a:xfrm>
            <a:off x="8357616" y="4681728"/>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7AE60"/>
                </a:solidFill>
              </a:rPr>
              <a:t>▸ </a:t>
            </a:r>
            <a:pPr indent="0" marL="0">
              <a:lnSpc>
                <a:spcPct val="125000"/>
              </a:lnSpc>
              <a:buNone/>
            </a:pPr>
            <a:r>
              <a:rPr lang="en-US" sz="850" dirty="0">
                <a:solidFill>
                  <a:srgbClr val="1A2C3E"/>
                </a:solidFill>
              </a:rPr>
              <a:t>Generates weekly FDI Intelligence Brief</a:t>
            </a:r>
            <a:endParaRPr lang="en-US" sz="850" dirty="0"/>
          </a:p>
        </p:txBody>
      </p:sp>
      <p:sp>
        <p:nvSpPr>
          <p:cNvPr id="78" name="Text 76"/>
          <p:cNvSpPr/>
          <p:nvPr/>
        </p:nvSpPr>
        <p:spPr>
          <a:xfrm>
            <a:off x="8357616" y="5010912"/>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7AE60"/>
                </a:solidFill>
              </a:rPr>
              <a:t>▸ </a:t>
            </a:r>
            <a:pPr indent="0" marL="0">
              <a:lnSpc>
                <a:spcPct val="125000"/>
              </a:lnSpc>
              <a:buNone/>
            </a:pPr>
            <a:r>
              <a:rPr lang="en-US" sz="850" dirty="0">
                <a:solidFill>
                  <a:srgbClr val="1A2C3E"/>
                </a:solidFill>
              </a:rPr>
              <a:t>Selects top 5 signals by SCI score</a:t>
            </a:r>
            <a:endParaRPr lang="en-US" sz="850" dirty="0"/>
          </a:p>
        </p:txBody>
      </p:sp>
      <p:sp>
        <p:nvSpPr>
          <p:cNvPr id="79" name="Text 77"/>
          <p:cNvSpPr/>
          <p:nvPr/>
        </p:nvSpPr>
        <p:spPr>
          <a:xfrm>
            <a:off x="8357616" y="5340096"/>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7AE60"/>
                </a:solidFill>
              </a:rPr>
              <a:t>▸ </a:t>
            </a:r>
            <a:pPr indent="0" marL="0">
              <a:lnSpc>
                <a:spcPct val="125000"/>
              </a:lnSpc>
              <a:buNone/>
            </a:pPr>
            <a:r>
              <a:rPr lang="en-US" sz="850" dirty="0">
                <a:solidFill>
                  <a:srgbClr val="1A2C3E"/>
                </a:solidFill>
              </a:rPr>
              <a:t>AI executive summary (GPT-4)</a:t>
            </a:r>
            <a:endParaRPr lang="en-US" sz="850" dirty="0"/>
          </a:p>
        </p:txBody>
      </p:sp>
      <p:sp>
        <p:nvSpPr>
          <p:cNvPr id="80" name="Text 78"/>
          <p:cNvSpPr/>
          <p:nvPr/>
        </p:nvSpPr>
        <p:spPr>
          <a:xfrm>
            <a:off x="8357616" y="5669280"/>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7AE60"/>
                </a:solidFill>
              </a:rPr>
              <a:t>▸ </a:t>
            </a:r>
            <a:pPr indent="0" marL="0">
              <a:lnSpc>
                <a:spcPct val="125000"/>
              </a:lnSpc>
              <a:buNone/>
            </a:pPr>
            <a:r>
              <a:rPr lang="en-US" sz="850" dirty="0">
                <a:solidFill>
                  <a:srgbClr val="1A2C3E"/>
                </a:solidFill>
              </a:rPr>
              <a:t>4-section HTML email + 4-page PDF</a:t>
            </a:r>
            <a:endParaRPr lang="en-US" sz="850" dirty="0"/>
          </a:p>
        </p:txBody>
      </p:sp>
      <p:sp>
        <p:nvSpPr>
          <p:cNvPr id="81" name="Text 79"/>
          <p:cNvSpPr/>
          <p:nvPr/>
        </p:nvSpPr>
        <p:spPr>
          <a:xfrm>
            <a:off x="8357616" y="5998464"/>
            <a:ext cx="3529584" cy="310896"/>
          </a:xfrm>
          <a:prstGeom prst="rect">
            <a:avLst/>
          </a:prstGeom>
          <a:noFill/>
          <a:ln/>
        </p:spPr>
        <p:txBody>
          <a:bodyPr wrap="square" lIns="0" tIns="0" rIns="0" bIns="0" rtlCol="0" anchor="ctr"/>
          <a:lstStyle/>
          <a:p>
            <a:pPr indent="0" marL="0">
              <a:lnSpc>
                <a:spcPct val="125000"/>
              </a:lnSpc>
              <a:buNone/>
            </a:pPr>
            <a:r>
              <a:rPr lang="en-US" sz="850" b="1" dirty="0">
                <a:solidFill>
                  <a:srgbClr val="27AE60"/>
                </a:solidFill>
              </a:rPr>
              <a:t>▸ </a:t>
            </a:r>
            <a:pPr indent="0" marL="0">
              <a:lnSpc>
                <a:spcPct val="125000"/>
              </a:lnSpc>
              <a:buNone/>
            </a:pPr>
            <a:r>
              <a:rPr lang="en-US" sz="850" dirty="0">
                <a:solidFill>
                  <a:srgbClr val="1A2C3E"/>
                </a:solidFill>
              </a:rPr>
              <a:t>Status: draft → admin review → distribute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Hero Dashboard</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Hero Dashboard  /dashboard  —  7 Interactive Widgets</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Click any country on the 3D globe → all 6 other widgets update instantly via Redux state</a:t>
            </a:r>
            <a:endParaRPr lang="en-US" sz="1000" dirty="0"/>
          </a:p>
        </p:txBody>
      </p:sp>
      <p:sp>
        <p:nvSpPr>
          <p:cNvPr id="10" name="Shape 8"/>
          <p:cNvSpPr/>
          <p:nvPr/>
        </p:nvSpPr>
        <p:spPr>
          <a:xfrm>
            <a:off x="365760" y="1481328"/>
            <a:ext cx="5687568" cy="124358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1" name="Shape 9"/>
          <p:cNvSpPr/>
          <p:nvPr/>
        </p:nvSpPr>
        <p:spPr>
          <a:xfrm>
            <a:off x="365760" y="1481328"/>
            <a:ext cx="73152" cy="1243584"/>
          </a:xfrm>
          <a:prstGeom prst="rect">
            <a:avLst/>
          </a:prstGeom>
          <a:solidFill>
            <a:srgbClr val="2ECC71"/>
          </a:solidFill>
          <a:ln/>
        </p:spPr>
      </p:sp>
      <p:sp>
        <p:nvSpPr>
          <p:cNvPr id="12" name="Shape 10"/>
          <p:cNvSpPr/>
          <p:nvPr/>
        </p:nvSpPr>
        <p:spPr>
          <a:xfrm>
            <a:off x="5458968" y="1572768"/>
            <a:ext cx="502920" cy="274320"/>
          </a:xfrm>
          <a:prstGeom prst="rect">
            <a:avLst/>
          </a:prstGeom>
          <a:solidFill>
            <a:srgbClr val="2ECC71"/>
          </a:solidFill>
          <a:ln/>
        </p:spPr>
      </p:sp>
      <p:sp>
        <p:nvSpPr>
          <p:cNvPr id="13" name="Text 11"/>
          <p:cNvSpPr/>
          <p:nvPr/>
        </p:nvSpPr>
        <p:spPr>
          <a:xfrm>
            <a:off x="5458968" y="1572768"/>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rPr>
              <a:t>W1</a:t>
            </a:r>
            <a:endParaRPr lang="en-US" sz="1000" dirty="0"/>
          </a:p>
        </p:txBody>
      </p:sp>
      <p:sp>
        <p:nvSpPr>
          <p:cNvPr id="14" name="Text 12"/>
          <p:cNvSpPr/>
          <p:nvPr/>
        </p:nvSpPr>
        <p:spPr>
          <a:xfrm>
            <a:off x="548640" y="1572768"/>
            <a:ext cx="4681728" cy="274320"/>
          </a:xfrm>
          <a:prstGeom prst="rect">
            <a:avLst/>
          </a:prstGeom>
          <a:noFill/>
          <a:ln/>
        </p:spPr>
        <p:txBody>
          <a:bodyPr wrap="square" lIns="0" tIns="0" rIns="0" bIns="0" rtlCol="0" anchor="ctr"/>
          <a:lstStyle/>
          <a:p>
            <a:pPr indent="0" marL="0">
              <a:buNone/>
            </a:pPr>
            <a:r>
              <a:rPr lang="en-US" sz="1200" b="1" dirty="0">
                <a:solidFill>
                  <a:srgbClr val="1A2C3E"/>
                </a:solidFill>
              </a:rPr>
              <a:t>Global Opportunity Map</a:t>
            </a:r>
            <a:endParaRPr lang="en-US" sz="1200" dirty="0"/>
          </a:p>
        </p:txBody>
      </p:sp>
      <p:sp>
        <p:nvSpPr>
          <p:cNvPr id="15" name="Text 13"/>
          <p:cNvSpPr/>
          <p:nvPr/>
        </p:nvSpPr>
        <p:spPr>
          <a:xfrm>
            <a:off x="548640" y="1883664"/>
            <a:ext cx="2926080" cy="201168"/>
          </a:xfrm>
          <a:prstGeom prst="rect">
            <a:avLst/>
          </a:prstGeom>
          <a:noFill/>
          <a:ln/>
        </p:spPr>
        <p:txBody>
          <a:bodyPr wrap="square" lIns="0" tIns="0" rIns="0" bIns="0" rtlCol="0" anchor="ctr"/>
          <a:lstStyle/>
          <a:p>
            <a:pPr indent="0" marL="0">
              <a:buNone/>
            </a:pPr>
            <a:r>
              <a:rPr lang="en-US" sz="850" b="1" dirty="0">
                <a:solidFill>
                  <a:srgbClr val="2ECC71"/>
                </a:solidFill>
              </a:rPr>
              <a:t>Tech: Three.js + React Three Fiber</a:t>
            </a:r>
            <a:endParaRPr lang="en-US" sz="850" dirty="0"/>
          </a:p>
        </p:txBody>
      </p:sp>
      <p:sp>
        <p:nvSpPr>
          <p:cNvPr id="16" name="Text 14"/>
          <p:cNvSpPr/>
          <p:nvPr/>
        </p:nvSpPr>
        <p:spPr>
          <a:xfrm>
            <a:off x="3566160" y="1883664"/>
            <a:ext cx="2377440" cy="201168"/>
          </a:xfrm>
          <a:prstGeom prst="rect">
            <a:avLst/>
          </a:prstGeom>
          <a:noFill/>
          <a:ln/>
        </p:spPr>
        <p:txBody>
          <a:bodyPr wrap="square" lIns="0" tIns="0" rIns="0" bIns="0" rtlCol="0" anchor="ctr"/>
          <a:lstStyle/>
          <a:p>
            <a:pPr algn="r" indent="0" marL="0">
              <a:buNone/>
            </a:pPr>
            <a:r>
              <a:rPr lang="en-US" sz="800" dirty="0">
                <a:solidFill>
                  <a:srgbClr val="7F8C8D"/>
                </a:solidFill>
              </a:rPr>
              <a:t>AI Agent: AGT-04 GOSA Scoring</a:t>
            </a:r>
            <a:endParaRPr lang="en-US" sz="800" dirty="0"/>
          </a:p>
        </p:txBody>
      </p:sp>
      <p:sp>
        <p:nvSpPr>
          <p:cNvPr id="17" name="Shape 15"/>
          <p:cNvSpPr/>
          <p:nvPr/>
        </p:nvSpPr>
        <p:spPr>
          <a:xfrm>
            <a:off x="548640" y="2121408"/>
            <a:ext cx="5321808" cy="0"/>
          </a:xfrm>
          <a:prstGeom prst="line">
            <a:avLst/>
          </a:prstGeom>
          <a:noFill/>
          <a:ln w="6350">
            <a:solidFill>
              <a:srgbClr val="ECF0F1"/>
            </a:solidFill>
            <a:prstDash val="solid"/>
          </a:ln>
        </p:spPr>
      </p:sp>
      <p:sp>
        <p:nvSpPr>
          <p:cNvPr id="18" name="Text 16"/>
          <p:cNvSpPr/>
          <p:nvPr/>
        </p:nvSpPr>
        <p:spPr>
          <a:xfrm>
            <a:off x="548640" y="2176272"/>
            <a:ext cx="5358384" cy="493776"/>
          </a:xfrm>
          <a:prstGeom prst="rect">
            <a:avLst/>
          </a:prstGeom>
          <a:noFill/>
          <a:ln/>
        </p:spPr>
        <p:txBody>
          <a:bodyPr wrap="square" lIns="0" tIns="0" rIns="0" bIns="0" rtlCol="0" anchor="ctr"/>
          <a:lstStyle/>
          <a:p>
            <a:pPr indent="0" marL="0">
              <a:lnSpc>
                <a:spcPct val="130000"/>
              </a:lnSpc>
              <a:buNone/>
            </a:pPr>
            <a:r>
              <a:rPr lang="en-US" sz="850" dirty="0">
                <a:solidFill>
                  <a:srgbClr val="7F8C8D"/>
                </a:solidFill>
              </a:rPr>
              <a:t>Full-width 500px 3D interactive Earth. Countries colored by GOSA: Top(#2ecc71) / High(#3498db) / Dev(#f1c40f). Raycaster click → Redux action updates W2-W7. OrbitControls: zoom, pan, auto-rotate. 60fps, LOD.</a:t>
            </a:r>
            <a:endParaRPr lang="en-US" sz="850" dirty="0"/>
          </a:p>
        </p:txBody>
      </p:sp>
      <p:sp>
        <p:nvSpPr>
          <p:cNvPr id="19" name="Shape 17"/>
          <p:cNvSpPr/>
          <p:nvPr/>
        </p:nvSpPr>
        <p:spPr>
          <a:xfrm>
            <a:off x="365760" y="2779776"/>
            <a:ext cx="5687568" cy="124358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0" name="Shape 18"/>
          <p:cNvSpPr/>
          <p:nvPr/>
        </p:nvSpPr>
        <p:spPr>
          <a:xfrm>
            <a:off x="365760" y="2779776"/>
            <a:ext cx="73152" cy="1243584"/>
          </a:xfrm>
          <a:prstGeom prst="rect">
            <a:avLst/>
          </a:prstGeom>
          <a:solidFill>
            <a:srgbClr val="3498DB"/>
          </a:solidFill>
          <a:ln/>
        </p:spPr>
      </p:sp>
      <p:sp>
        <p:nvSpPr>
          <p:cNvPr id="21" name="Shape 19"/>
          <p:cNvSpPr/>
          <p:nvPr/>
        </p:nvSpPr>
        <p:spPr>
          <a:xfrm>
            <a:off x="5458968" y="2871216"/>
            <a:ext cx="502920" cy="274320"/>
          </a:xfrm>
          <a:prstGeom prst="rect">
            <a:avLst/>
          </a:prstGeom>
          <a:solidFill>
            <a:srgbClr val="3498DB"/>
          </a:solidFill>
          <a:ln/>
        </p:spPr>
      </p:sp>
      <p:sp>
        <p:nvSpPr>
          <p:cNvPr id="22" name="Text 20"/>
          <p:cNvSpPr/>
          <p:nvPr/>
        </p:nvSpPr>
        <p:spPr>
          <a:xfrm>
            <a:off x="5458968" y="2871216"/>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rPr>
              <a:t>W2</a:t>
            </a:r>
            <a:endParaRPr lang="en-US" sz="1000" dirty="0"/>
          </a:p>
        </p:txBody>
      </p:sp>
      <p:sp>
        <p:nvSpPr>
          <p:cNvPr id="23" name="Text 21"/>
          <p:cNvSpPr/>
          <p:nvPr/>
        </p:nvSpPr>
        <p:spPr>
          <a:xfrm>
            <a:off x="548640" y="2871216"/>
            <a:ext cx="4681728" cy="274320"/>
          </a:xfrm>
          <a:prstGeom prst="rect">
            <a:avLst/>
          </a:prstGeom>
          <a:noFill/>
          <a:ln/>
        </p:spPr>
        <p:txBody>
          <a:bodyPr wrap="square" lIns="0" tIns="0" rIns="0" bIns="0" rtlCol="0" anchor="ctr"/>
          <a:lstStyle/>
          <a:p>
            <a:pPr indent="0" marL="0">
              <a:buNone/>
            </a:pPr>
            <a:r>
              <a:rPr lang="en-US" sz="1200" b="1" dirty="0">
                <a:solidFill>
                  <a:srgbClr val="1A2C3E"/>
                </a:solidFill>
              </a:rPr>
              <a:t>Global Investment Analysis</a:t>
            </a:r>
            <a:endParaRPr lang="en-US" sz="1200" dirty="0"/>
          </a:p>
        </p:txBody>
      </p:sp>
      <p:sp>
        <p:nvSpPr>
          <p:cNvPr id="24" name="Text 22"/>
          <p:cNvSpPr/>
          <p:nvPr/>
        </p:nvSpPr>
        <p:spPr>
          <a:xfrm>
            <a:off x="548640" y="3182112"/>
            <a:ext cx="2926080" cy="201168"/>
          </a:xfrm>
          <a:prstGeom prst="rect">
            <a:avLst/>
          </a:prstGeom>
          <a:noFill/>
          <a:ln/>
        </p:spPr>
        <p:txBody>
          <a:bodyPr wrap="square" lIns="0" tIns="0" rIns="0" bIns="0" rtlCol="0" anchor="ctr"/>
          <a:lstStyle/>
          <a:p>
            <a:pPr indent="0" marL="0">
              <a:buNone/>
            </a:pPr>
            <a:r>
              <a:rPr lang="en-US" sz="850" b="1" dirty="0">
                <a:solidFill>
                  <a:srgbClr val="3498DB"/>
                </a:solidFill>
              </a:rPr>
              <a:t>Tech: ag-Grid React / React Table</a:t>
            </a:r>
            <a:endParaRPr lang="en-US" sz="850" dirty="0"/>
          </a:p>
        </p:txBody>
      </p:sp>
      <p:sp>
        <p:nvSpPr>
          <p:cNvPr id="25" name="Text 23"/>
          <p:cNvSpPr/>
          <p:nvPr/>
        </p:nvSpPr>
        <p:spPr>
          <a:xfrm>
            <a:off x="3566160" y="3182112"/>
            <a:ext cx="2377440" cy="201168"/>
          </a:xfrm>
          <a:prstGeom prst="rect">
            <a:avLst/>
          </a:prstGeom>
          <a:noFill/>
          <a:ln/>
        </p:spPr>
        <p:txBody>
          <a:bodyPr wrap="square" lIns="0" tIns="0" rIns="0" bIns="0" rtlCol="0" anchor="ctr"/>
          <a:lstStyle/>
          <a:p>
            <a:pPr algn="r" indent="0" marL="0">
              <a:buNone/>
            </a:pPr>
            <a:r>
              <a:rPr lang="en-US" sz="800" dirty="0">
                <a:solidFill>
                  <a:srgbClr val="7F8C8D"/>
                </a:solidFill>
              </a:rPr>
              <a:t>AI Agent: AGT-04 GOSA Scoring</a:t>
            </a:r>
            <a:endParaRPr lang="en-US" sz="800" dirty="0"/>
          </a:p>
        </p:txBody>
      </p:sp>
      <p:sp>
        <p:nvSpPr>
          <p:cNvPr id="26" name="Shape 24"/>
          <p:cNvSpPr/>
          <p:nvPr/>
        </p:nvSpPr>
        <p:spPr>
          <a:xfrm>
            <a:off x="548640" y="3419856"/>
            <a:ext cx="5321808" cy="0"/>
          </a:xfrm>
          <a:prstGeom prst="line">
            <a:avLst/>
          </a:prstGeom>
          <a:noFill/>
          <a:ln w="6350">
            <a:solidFill>
              <a:srgbClr val="ECF0F1"/>
            </a:solidFill>
            <a:prstDash val="solid"/>
          </a:ln>
        </p:spPr>
      </p:sp>
      <p:sp>
        <p:nvSpPr>
          <p:cNvPr id="27" name="Text 25"/>
          <p:cNvSpPr/>
          <p:nvPr/>
        </p:nvSpPr>
        <p:spPr>
          <a:xfrm>
            <a:off x="548640" y="3474720"/>
            <a:ext cx="5358384" cy="493776"/>
          </a:xfrm>
          <a:prstGeom prst="rect">
            <a:avLst/>
          </a:prstGeom>
          <a:noFill/>
          <a:ln/>
        </p:spPr>
        <p:txBody>
          <a:bodyPr wrap="square" lIns="0" tIns="0" rIns="0" bIns="0" rtlCol="0" anchor="ctr"/>
          <a:lstStyle/>
          <a:p>
            <a:pPr indent="0" marL="0">
              <a:lnSpc>
                <a:spcPct val="130000"/>
              </a:lnSpc>
              <a:buNone/>
            </a:pPr>
            <a:r>
              <a:rPr lang="en-US" sz="850" dirty="0">
                <a:solidFill>
                  <a:srgbClr val="7F8C8D"/>
                </a:solidFill>
              </a:rPr>
              <a:t>Top 5 economies by GOSA. Click to select → updates Doing Business panel. Shows ▲▼ trend arrows and MoM Δ. [View Full Analysis] → /investment-analysis Tab 2. WebSocket real-time score updates.</a:t>
            </a:r>
            <a:endParaRPr lang="en-US" sz="850" dirty="0"/>
          </a:p>
        </p:txBody>
      </p:sp>
      <p:sp>
        <p:nvSpPr>
          <p:cNvPr id="28" name="Shape 26"/>
          <p:cNvSpPr/>
          <p:nvPr/>
        </p:nvSpPr>
        <p:spPr>
          <a:xfrm>
            <a:off x="365760" y="4078224"/>
            <a:ext cx="5687568" cy="124358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9" name="Shape 27"/>
          <p:cNvSpPr/>
          <p:nvPr/>
        </p:nvSpPr>
        <p:spPr>
          <a:xfrm>
            <a:off x="365760" y="4078224"/>
            <a:ext cx="73152" cy="1243584"/>
          </a:xfrm>
          <a:prstGeom prst="rect">
            <a:avLst/>
          </a:prstGeom>
          <a:solidFill>
            <a:srgbClr val="F1C40F"/>
          </a:solidFill>
          <a:ln/>
        </p:spPr>
      </p:sp>
      <p:sp>
        <p:nvSpPr>
          <p:cNvPr id="30" name="Shape 28"/>
          <p:cNvSpPr/>
          <p:nvPr/>
        </p:nvSpPr>
        <p:spPr>
          <a:xfrm>
            <a:off x="5458968" y="4169664"/>
            <a:ext cx="502920" cy="274320"/>
          </a:xfrm>
          <a:prstGeom prst="rect">
            <a:avLst/>
          </a:prstGeom>
          <a:solidFill>
            <a:srgbClr val="F1C40F"/>
          </a:solidFill>
          <a:ln/>
        </p:spPr>
      </p:sp>
      <p:sp>
        <p:nvSpPr>
          <p:cNvPr id="31" name="Text 29"/>
          <p:cNvSpPr/>
          <p:nvPr/>
        </p:nvSpPr>
        <p:spPr>
          <a:xfrm>
            <a:off x="5458968" y="4169664"/>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rPr>
              <a:t>W3</a:t>
            </a:r>
            <a:endParaRPr lang="en-US" sz="1000" dirty="0"/>
          </a:p>
        </p:txBody>
      </p:sp>
      <p:sp>
        <p:nvSpPr>
          <p:cNvPr id="32" name="Text 30"/>
          <p:cNvSpPr/>
          <p:nvPr/>
        </p:nvSpPr>
        <p:spPr>
          <a:xfrm>
            <a:off x="548640" y="4169664"/>
            <a:ext cx="4681728" cy="274320"/>
          </a:xfrm>
          <a:prstGeom prst="rect">
            <a:avLst/>
          </a:prstGeom>
          <a:noFill/>
          <a:ln/>
        </p:spPr>
        <p:txBody>
          <a:bodyPr wrap="square" lIns="0" tIns="0" rIns="0" bIns="0" rtlCol="0" anchor="ctr"/>
          <a:lstStyle/>
          <a:p>
            <a:pPr indent="0" marL="0">
              <a:buNone/>
            </a:pPr>
            <a:r>
              <a:rPr lang="en-US" sz="1200" b="1" dirty="0">
                <a:solidFill>
                  <a:srgbClr val="1A2C3E"/>
                </a:solidFill>
              </a:rPr>
              <a:t>Doing Business Panel</a:t>
            </a:r>
            <a:endParaRPr lang="en-US" sz="1200" dirty="0"/>
          </a:p>
        </p:txBody>
      </p:sp>
      <p:sp>
        <p:nvSpPr>
          <p:cNvPr id="33" name="Text 31"/>
          <p:cNvSpPr/>
          <p:nvPr/>
        </p:nvSpPr>
        <p:spPr>
          <a:xfrm>
            <a:off x="548640" y="4480560"/>
            <a:ext cx="2926080" cy="201168"/>
          </a:xfrm>
          <a:prstGeom prst="rect">
            <a:avLst/>
          </a:prstGeom>
          <a:noFill/>
          <a:ln/>
        </p:spPr>
        <p:txBody>
          <a:bodyPr wrap="square" lIns="0" tIns="0" rIns="0" bIns="0" rtlCol="0" anchor="ctr"/>
          <a:lstStyle/>
          <a:p>
            <a:pPr indent="0" marL="0">
              <a:buNone/>
            </a:pPr>
            <a:r>
              <a:rPr lang="en-US" sz="850" b="1" dirty="0">
                <a:solidFill>
                  <a:srgbClr val="F1C40F"/>
                </a:solidFill>
              </a:rPr>
              <a:t>Tech: D3.js Progress Bars</a:t>
            </a:r>
            <a:endParaRPr lang="en-US" sz="850" dirty="0"/>
          </a:p>
        </p:txBody>
      </p:sp>
      <p:sp>
        <p:nvSpPr>
          <p:cNvPr id="34" name="Text 32"/>
          <p:cNvSpPr/>
          <p:nvPr/>
        </p:nvSpPr>
        <p:spPr>
          <a:xfrm>
            <a:off x="3566160" y="4480560"/>
            <a:ext cx="2377440" cy="201168"/>
          </a:xfrm>
          <a:prstGeom prst="rect">
            <a:avLst/>
          </a:prstGeom>
          <a:noFill/>
          <a:ln/>
        </p:spPr>
        <p:txBody>
          <a:bodyPr wrap="square" lIns="0" tIns="0" rIns="0" bIns="0" rtlCol="0" anchor="ctr"/>
          <a:lstStyle/>
          <a:p>
            <a:pPr algn="r" indent="0" marL="0">
              <a:buNone/>
            </a:pPr>
            <a:r>
              <a:rPr lang="en-US" sz="800" dirty="0">
                <a:solidFill>
                  <a:srgbClr val="7F8C8D"/>
                </a:solidFill>
              </a:rPr>
              <a:t>AI Agent: AGT-01 Data Collection</a:t>
            </a:r>
            <a:endParaRPr lang="en-US" sz="800" dirty="0"/>
          </a:p>
        </p:txBody>
      </p:sp>
      <p:sp>
        <p:nvSpPr>
          <p:cNvPr id="35" name="Shape 33"/>
          <p:cNvSpPr/>
          <p:nvPr/>
        </p:nvSpPr>
        <p:spPr>
          <a:xfrm>
            <a:off x="548640" y="4718304"/>
            <a:ext cx="5321808" cy="0"/>
          </a:xfrm>
          <a:prstGeom prst="line">
            <a:avLst/>
          </a:prstGeom>
          <a:noFill/>
          <a:ln w="6350">
            <a:solidFill>
              <a:srgbClr val="ECF0F1"/>
            </a:solidFill>
            <a:prstDash val="solid"/>
          </a:ln>
        </p:spPr>
      </p:sp>
      <p:sp>
        <p:nvSpPr>
          <p:cNvPr id="36" name="Text 34"/>
          <p:cNvSpPr/>
          <p:nvPr/>
        </p:nvSpPr>
        <p:spPr>
          <a:xfrm>
            <a:off x="548640" y="4773168"/>
            <a:ext cx="5358384" cy="493776"/>
          </a:xfrm>
          <a:prstGeom prst="rect">
            <a:avLst/>
          </a:prstGeom>
          <a:noFill/>
          <a:ln/>
        </p:spPr>
        <p:txBody>
          <a:bodyPr wrap="square" lIns="0" tIns="0" rIns="0" bIns="0" rtlCol="0" anchor="ctr"/>
          <a:lstStyle/>
          <a:p>
            <a:pPr indent="0" marL="0">
              <a:lnSpc>
                <a:spcPct val="130000"/>
              </a:lnSpc>
              <a:buNone/>
            </a:pPr>
            <a:r>
              <a:rPr lang="en-US" sz="850" dirty="0">
                <a:solidFill>
                  <a:srgbClr val="7F8C8D"/>
                </a:solidFill>
              </a:rPr>
              <a:t>All 10 World Bank Doing Business indicators for globe-selected country. Dual progress bars: economy score vs global avg. Hover → mini trend chart tooltip. [Historical Trends] + [Compare Countries] CTAs.</a:t>
            </a:r>
            <a:endParaRPr lang="en-US" sz="850" dirty="0"/>
          </a:p>
        </p:txBody>
      </p:sp>
      <p:sp>
        <p:nvSpPr>
          <p:cNvPr id="37" name="Shape 35"/>
          <p:cNvSpPr/>
          <p:nvPr/>
        </p:nvSpPr>
        <p:spPr>
          <a:xfrm>
            <a:off x="365760" y="5376672"/>
            <a:ext cx="5687568" cy="124358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8" name="Shape 36"/>
          <p:cNvSpPr/>
          <p:nvPr/>
        </p:nvSpPr>
        <p:spPr>
          <a:xfrm>
            <a:off x="365760" y="5376672"/>
            <a:ext cx="73152" cy="1243584"/>
          </a:xfrm>
          <a:prstGeom prst="rect">
            <a:avLst/>
          </a:prstGeom>
          <a:solidFill>
            <a:srgbClr val="9B59B6"/>
          </a:solidFill>
          <a:ln/>
        </p:spPr>
      </p:sp>
      <p:sp>
        <p:nvSpPr>
          <p:cNvPr id="39" name="Shape 37"/>
          <p:cNvSpPr/>
          <p:nvPr/>
        </p:nvSpPr>
        <p:spPr>
          <a:xfrm>
            <a:off x="5458968" y="5468112"/>
            <a:ext cx="502920" cy="274320"/>
          </a:xfrm>
          <a:prstGeom prst="rect">
            <a:avLst/>
          </a:prstGeom>
          <a:solidFill>
            <a:srgbClr val="9B59B6"/>
          </a:solidFill>
          <a:ln/>
        </p:spPr>
      </p:sp>
      <p:sp>
        <p:nvSpPr>
          <p:cNvPr id="40" name="Text 38"/>
          <p:cNvSpPr/>
          <p:nvPr/>
        </p:nvSpPr>
        <p:spPr>
          <a:xfrm>
            <a:off x="5458968" y="5468112"/>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rPr>
              <a:t>W4</a:t>
            </a:r>
            <a:endParaRPr lang="en-US" sz="1000" dirty="0"/>
          </a:p>
        </p:txBody>
      </p:sp>
      <p:sp>
        <p:nvSpPr>
          <p:cNvPr id="41" name="Text 39"/>
          <p:cNvSpPr/>
          <p:nvPr/>
        </p:nvSpPr>
        <p:spPr>
          <a:xfrm>
            <a:off x="548640" y="5468112"/>
            <a:ext cx="4681728" cy="274320"/>
          </a:xfrm>
          <a:prstGeom prst="rect">
            <a:avLst/>
          </a:prstGeom>
          <a:noFill/>
          <a:ln/>
        </p:spPr>
        <p:txBody>
          <a:bodyPr wrap="square" lIns="0" tIns="0" rIns="0" bIns="0" rtlCol="0" anchor="ctr"/>
          <a:lstStyle/>
          <a:p>
            <a:pPr indent="0" marL="0">
              <a:buNone/>
            </a:pPr>
            <a:r>
              <a:rPr lang="en-US" sz="1200" b="1" dirty="0">
                <a:solidFill>
                  <a:srgbClr val="1A2C3E"/>
                </a:solidFill>
              </a:rPr>
              <a:t>Sector Attractiveness Matrix</a:t>
            </a:r>
            <a:endParaRPr lang="en-US" sz="1200" dirty="0"/>
          </a:p>
        </p:txBody>
      </p:sp>
      <p:sp>
        <p:nvSpPr>
          <p:cNvPr id="42" name="Text 40"/>
          <p:cNvSpPr/>
          <p:nvPr/>
        </p:nvSpPr>
        <p:spPr>
          <a:xfrm>
            <a:off x="548640" y="5779008"/>
            <a:ext cx="2926080" cy="201168"/>
          </a:xfrm>
          <a:prstGeom prst="rect">
            <a:avLst/>
          </a:prstGeom>
          <a:noFill/>
          <a:ln/>
        </p:spPr>
        <p:txBody>
          <a:bodyPr wrap="square" lIns="0" tIns="0" rIns="0" bIns="0" rtlCol="0" anchor="ctr"/>
          <a:lstStyle/>
          <a:p>
            <a:pPr indent="0" marL="0">
              <a:buNone/>
            </a:pPr>
            <a:r>
              <a:rPr lang="en-US" sz="850" b="1" dirty="0">
                <a:solidFill>
                  <a:srgbClr val="9B59B6"/>
                </a:solidFill>
              </a:rPr>
              <a:t>Tech: D3.js Scatter Plot</a:t>
            </a:r>
            <a:endParaRPr lang="en-US" sz="850" dirty="0"/>
          </a:p>
        </p:txBody>
      </p:sp>
      <p:sp>
        <p:nvSpPr>
          <p:cNvPr id="43" name="Text 41"/>
          <p:cNvSpPr/>
          <p:nvPr/>
        </p:nvSpPr>
        <p:spPr>
          <a:xfrm>
            <a:off x="3566160" y="5779008"/>
            <a:ext cx="2377440" cy="201168"/>
          </a:xfrm>
          <a:prstGeom prst="rect">
            <a:avLst/>
          </a:prstGeom>
          <a:noFill/>
          <a:ln/>
        </p:spPr>
        <p:txBody>
          <a:bodyPr wrap="square" lIns="0" tIns="0" rIns="0" bIns="0" rtlCol="0" anchor="ctr"/>
          <a:lstStyle/>
          <a:p>
            <a:pPr algn="r" indent="0" marL="0">
              <a:buNone/>
            </a:pPr>
            <a:r>
              <a:rPr lang="en-US" sz="800" dirty="0">
                <a:solidFill>
                  <a:srgbClr val="7F8C8D"/>
                </a:solidFill>
              </a:rPr>
              <a:t>AI Agent: AGT-02 Signal Detection</a:t>
            </a:r>
            <a:endParaRPr lang="en-US" sz="800" dirty="0"/>
          </a:p>
        </p:txBody>
      </p:sp>
      <p:sp>
        <p:nvSpPr>
          <p:cNvPr id="44" name="Shape 42"/>
          <p:cNvSpPr/>
          <p:nvPr/>
        </p:nvSpPr>
        <p:spPr>
          <a:xfrm>
            <a:off x="548640" y="6016752"/>
            <a:ext cx="5321808" cy="0"/>
          </a:xfrm>
          <a:prstGeom prst="line">
            <a:avLst/>
          </a:prstGeom>
          <a:noFill/>
          <a:ln w="6350">
            <a:solidFill>
              <a:srgbClr val="ECF0F1"/>
            </a:solidFill>
            <a:prstDash val="solid"/>
          </a:ln>
        </p:spPr>
      </p:sp>
      <p:sp>
        <p:nvSpPr>
          <p:cNvPr id="45" name="Text 43"/>
          <p:cNvSpPr/>
          <p:nvPr/>
        </p:nvSpPr>
        <p:spPr>
          <a:xfrm>
            <a:off x="548640" y="6071616"/>
            <a:ext cx="5358384" cy="493776"/>
          </a:xfrm>
          <a:prstGeom prst="rect">
            <a:avLst/>
          </a:prstGeom>
          <a:noFill/>
          <a:ln/>
        </p:spPr>
        <p:txBody>
          <a:bodyPr wrap="square" lIns="0" tIns="0" rIns="0" bIns="0" rtlCol="0" anchor="ctr"/>
          <a:lstStyle/>
          <a:p>
            <a:pPr indent="0" marL="0">
              <a:lnSpc>
                <a:spcPct val="130000"/>
              </a:lnSpc>
              <a:buNone/>
            </a:pPr>
            <a:r>
              <a:rPr lang="en-US" sz="850" dirty="0">
                <a:solidFill>
                  <a:srgbClr val="7F8C8D"/>
                </a:solidFill>
              </a:rPr>
              <a:t>D3 scatter plot: X=Country Readiness, Y=Opportunity Score, Bubble=Investment Volume (12mo). Zoom/pan enabled. Hover → sector detail tooltip. Click bubble → filters entire dashboard by sector.</a:t>
            </a:r>
            <a:endParaRPr lang="en-US" sz="850" dirty="0"/>
          </a:p>
        </p:txBody>
      </p:sp>
      <p:sp>
        <p:nvSpPr>
          <p:cNvPr id="46" name="Shape 44"/>
          <p:cNvSpPr/>
          <p:nvPr/>
        </p:nvSpPr>
        <p:spPr>
          <a:xfrm>
            <a:off x="6144768" y="1481328"/>
            <a:ext cx="5687568" cy="124358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7" name="Shape 45"/>
          <p:cNvSpPr/>
          <p:nvPr/>
        </p:nvSpPr>
        <p:spPr>
          <a:xfrm>
            <a:off x="6144768" y="1481328"/>
            <a:ext cx="73152" cy="1243584"/>
          </a:xfrm>
          <a:prstGeom prst="rect">
            <a:avLst/>
          </a:prstGeom>
          <a:solidFill>
            <a:srgbClr val="E74C3C"/>
          </a:solidFill>
          <a:ln/>
        </p:spPr>
      </p:sp>
      <p:sp>
        <p:nvSpPr>
          <p:cNvPr id="48" name="Shape 46"/>
          <p:cNvSpPr/>
          <p:nvPr/>
        </p:nvSpPr>
        <p:spPr>
          <a:xfrm>
            <a:off x="11237976" y="1572768"/>
            <a:ext cx="502920" cy="274320"/>
          </a:xfrm>
          <a:prstGeom prst="rect">
            <a:avLst/>
          </a:prstGeom>
          <a:solidFill>
            <a:srgbClr val="E74C3C"/>
          </a:solidFill>
          <a:ln/>
        </p:spPr>
      </p:sp>
      <p:sp>
        <p:nvSpPr>
          <p:cNvPr id="49" name="Text 47"/>
          <p:cNvSpPr/>
          <p:nvPr/>
        </p:nvSpPr>
        <p:spPr>
          <a:xfrm>
            <a:off x="11237976" y="1572768"/>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rPr>
              <a:t>W5</a:t>
            </a:r>
            <a:endParaRPr lang="en-US" sz="1000" dirty="0"/>
          </a:p>
        </p:txBody>
      </p:sp>
      <p:sp>
        <p:nvSpPr>
          <p:cNvPr id="50" name="Text 48"/>
          <p:cNvSpPr/>
          <p:nvPr/>
        </p:nvSpPr>
        <p:spPr>
          <a:xfrm>
            <a:off x="6327648" y="1572768"/>
            <a:ext cx="4681728" cy="274320"/>
          </a:xfrm>
          <a:prstGeom prst="rect">
            <a:avLst/>
          </a:prstGeom>
          <a:noFill/>
          <a:ln/>
        </p:spPr>
        <p:txBody>
          <a:bodyPr wrap="square" lIns="0" tIns="0" rIns="0" bIns="0" rtlCol="0" anchor="ctr"/>
          <a:lstStyle/>
          <a:p>
            <a:pPr indent="0" marL="0">
              <a:buNone/>
            </a:pPr>
            <a:r>
              <a:rPr lang="en-US" sz="1200" b="1" dirty="0">
                <a:solidFill>
                  <a:srgbClr val="1A2C3E"/>
                </a:solidFill>
              </a:rPr>
              <a:t>Special Investment Zones Map</a:t>
            </a:r>
            <a:endParaRPr lang="en-US" sz="1200" dirty="0"/>
          </a:p>
        </p:txBody>
      </p:sp>
      <p:sp>
        <p:nvSpPr>
          <p:cNvPr id="51" name="Text 49"/>
          <p:cNvSpPr/>
          <p:nvPr/>
        </p:nvSpPr>
        <p:spPr>
          <a:xfrm>
            <a:off x="6327648" y="1883664"/>
            <a:ext cx="2926080" cy="201168"/>
          </a:xfrm>
          <a:prstGeom prst="rect">
            <a:avLst/>
          </a:prstGeom>
          <a:noFill/>
          <a:ln/>
        </p:spPr>
        <p:txBody>
          <a:bodyPr wrap="square" lIns="0" tIns="0" rIns="0" bIns="0" rtlCol="0" anchor="ctr"/>
          <a:lstStyle/>
          <a:p>
            <a:pPr indent="0" marL="0">
              <a:buNone/>
            </a:pPr>
            <a:r>
              <a:rPr lang="en-US" sz="850" b="1" dirty="0">
                <a:solidFill>
                  <a:srgbClr val="E74C3C"/>
                </a:solidFill>
              </a:rPr>
              <a:t>Tech: Three.js Extruded Polygons</a:t>
            </a:r>
            <a:endParaRPr lang="en-US" sz="850" dirty="0"/>
          </a:p>
        </p:txBody>
      </p:sp>
      <p:sp>
        <p:nvSpPr>
          <p:cNvPr id="52" name="Text 50"/>
          <p:cNvSpPr/>
          <p:nvPr/>
        </p:nvSpPr>
        <p:spPr>
          <a:xfrm>
            <a:off x="9345168" y="1883664"/>
            <a:ext cx="2377440" cy="201168"/>
          </a:xfrm>
          <a:prstGeom prst="rect">
            <a:avLst/>
          </a:prstGeom>
          <a:noFill/>
          <a:ln/>
        </p:spPr>
        <p:txBody>
          <a:bodyPr wrap="square" lIns="0" tIns="0" rIns="0" bIns="0" rtlCol="0" anchor="ctr"/>
          <a:lstStyle/>
          <a:p>
            <a:pPr algn="r" indent="0" marL="0">
              <a:buNone/>
            </a:pPr>
            <a:r>
              <a:rPr lang="en-US" sz="800" dirty="0">
                <a:solidFill>
                  <a:srgbClr val="7F8C8D"/>
                </a:solidFill>
              </a:rPr>
              <a:t>AI Agent: AGT-01 Data Collection</a:t>
            </a:r>
            <a:endParaRPr lang="en-US" sz="800" dirty="0"/>
          </a:p>
        </p:txBody>
      </p:sp>
      <p:sp>
        <p:nvSpPr>
          <p:cNvPr id="53" name="Shape 51"/>
          <p:cNvSpPr/>
          <p:nvPr/>
        </p:nvSpPr>
        <p:spPr>
          <a:xfrm>
            <a:off x="6327648" y="2121408"/>
            <a:ext cx="5321808" cy="0"/>
          </a:xfrm>
          <a:prstGeom prst="line">
            <a:avLst/>
          </a:prstGeom>
          <a:noFill/>
          <a:ln w="6350">
            <a:solidFill>
              <a:srgbClr val="ECF0F1"/>
            </a:solidFill>
            <a:prstDash val="solid"/>
          </a:ln>
        </p:spPr>
      </p:sp>
      <p:sp>
        <p:nvSpPr>
          <p:cNvPr id="54" name="Text 52"/>
          <p:cNvSpPr/>
          <p:nvPr/>
        </p:nvSpPr>
        <p:spPr>
          <a:xfrm>
            <a:off x="6327648" y="2176272"/>
            <a:ext cx="5358384" cy="493776"/>
          </a:xfrm>
          <a:prstGeom prst="rect">
            <a:avLst/>
          </a:prstGeom>
          <a:noFill/>
          <a:ln/>
        </p:spPr>
        <p:txBody>
          <a:bodyPr wrap="square" lIns="0" tIns="0" rIns="0" bIns="0" rtlCol="0" anchor="ctr"/>
          <a:lstStyle/>
          <a:p>
            <a:pPr indent="0" marL="0">
              <a:lnSpc>
                <a:spcPct val="130000"/>
              </a:lnSpc>
              <a:buNone/>
            </a:pPr>
            <a:r>
              <a:rPr lang="en-US" sz="850" dirty="0">
                <a:solidFill>
                  <a:srgbClr val="7F8C8D"/>
                </a:solidFill>
              </a:rPr>
              <a:t>3D extruded polygons per zone. Height = occupancy rate. Gradient: Green(low) → Red(high). Click → glassmorphism floating card: zone name, occupancy, land, infrastructure, incentives, tenants + [Generate Zone Report → PDF].</a:t>
            </a:r>
            <a:endParaRPr lang="en-US" sz="850" dirty="0"/>
          </a:p>
        </p:txBody>
      </p:sp>
      <p:sp>
        <p:nvSpPr>
          <p:cNvPr id="55" name="Shape 53"/>
          <p:cNvSpPr/>
          <p:nvPr/>
        </p:nvSpPr>
        <p:spPr>
          <a:xfrm>
            <a:off x="6144768" y="2779776"/>
            <a:ext cx="5687568" cy="124358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6" name="Shape 54"/>
          <p:cNvSpPr/>
          <p:nvPr/>
        </p:nvSpPr>
        <p:spPr>
          <a:xfrm>
            <a:off x="6144768" y="2779776"/>
            <a:ext cx="73152" cy="1243584"/>
          </a:xfrm>
          <a:prstGeom prst="rect">
            <a:avLst/>
          </a:prstGeom>
          <a:solidFill>
            <a:srgbClr val="27AE60"/>
          </a:solidFill>
          <a:ln/>
        </p:spPr>
      </p:sp>
      <p:sp>
        <p:nvSpPr>
          <p:cNvPr id="57" name="Shape 55"/>
          <p:cNvSpPr/>
          <p:nvPr/>
        </p:nvSpPr>
        <p:spPr>
          <a:xfrm>
            <a:off x="11237976" y="2871216"/>
            <a:ext cx="502920" cy="274320"/>
          </a:xfrm>
          <a:prstGeom prst="rect">
            <a:avLst/>
          </a:prstGeom>
          <a:solidFill>
            <a:srgbClr val="27AE60"/>
          </a:solidFill>
          <a:ln/>
        </p:spPr>
      </p:sp>
      <p:sp>
        <p:nvSpPr>
          <p:cNvPr id="58" name="Text 56"/>
          <p:cNvSpPr/>
          <p:nvPr/>
        </p:nvSpPr>
        <p:spPr>
          <a:xfrm>
            <a:off x="11237976" y="2871216"/>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rPr>
              <a:t>W6</a:t>
            </a:r>
            <a:endParaRPr lang="en-US" sz="1000" dirty="0"/>
          </a:p>
        </p:txBody>
      </p:sp>
      <p:sp>
        <p:nvSpPr>
          <p:cNvPr id="59" name="Text 57"/>
          <p:cNvSpPr/>
          <p:nvPr/>
        </p:nvSpPr>
        <p:spPr>
          <a:xfrm>
            <a:off x="6327648" y="2871216"/>
            <a:ext cx="4681728" cy="274320"/>
          </a:xfrm>
          <a:prstGeom prst="rect">
            <a:avLst/>
          </a:prstGeom>
          <a:noFill/>
          <a:ln/>
        </p:spPr>
        <p:txBody>
          <a:bodyPr wrap="square" lIns="0" tIns="0" rIns="0" bIns="0" rtlCol="0" anchor="ctr"/>
          <a:lstStyle/>
          <a:p>
            <a:pPr indent="0" marL="0">
              <a:buNone/>
            </a:pPr>
            <a:r>
              <a:rPr lang="en-US" sz="1200" b="1" dirty="0">
                <a:solidFill>
                  <a:srgbClr val="1A2C3E"/>
                </a:solidFill>
              </a:rPr>
              <a:t>Policy &amp; Incentives Widget</a:t>
            </a:r>
            <a:endParaRPr lang="en-US" sz="1200" dirty="0"/>
          </a:p>
        </p:txBody>
      </p:sp>
      <p:sp>
        <p:nvSpPr>
          <p:cNvPr id="60" name="Text 58"/>
          <p:cNvSpPr/>
          <p:nvPr/>
        </p:nvSpPr>
        <p:spPr>
          <a:xfrm>
            <a:off x="6327648" y="3182112"/>
            <a:ext cx="2926080" cy="201168"/>
          </a:xfrm>
          <a:prstGeom prst="rect">
            <a:avLst/>
          </a:prstGeom>
          <a:noFill/>
          <a:ln/>
        </p:spPr>
        <p:txBody>
          <a:bodyPr wrap="square" lIns="0" tIns="0" rIns="0" bIns="0" rtlCol="0" anchor="ctr"/>
          <a:lstStyle/>
          <a:p>
            <a:pPr indent="0" marL="0">
              <a:buNone/>
            </a:pPr>
            <a:r>
              <a:rPr lang="en-US" sz="850" b="1" dirty="0">
                <a:solidFill>
                  <a:srgbClr val="27AE60"/>
                </a:solidFill>
              </a:rPr>
              <a:t>Tech: React-Window (Virtualized)</a:t>
            </a:r>
            <a:endParaRPr lang="en-US" sz="850" dirty="0"/>
          </a:p>
        </p:txBody>
      </p:sp>
      <p:sp>
        <p:nvSpPr>
          <p:cNvPr id="61" name="Text 59"/>
          <p:cNvSpPr/>
          <p:nvPr/>
        </p:nvSpPr>
        <p:spPr>
          <a:xfrm>
            <a:off x="9345168" y="3182112"/>
            <a:ext cx="2377440" cy="201168"/>
          </a:xfrm>
          <a:prstGeom prst="rect">
            <a:avLst/>
          </a:prstGeom>
          <a:noFill/>
          <a:ln/>
        </p:spPr>
        <p:txBody>
          <a:bodyPr wrap="square" lIns="0" tIns="0" rIns="0" bIns="0" rtlCol="0" anchor="ctr"/>
          <a:lstStyle/>
          <a:p>
            <a:pPr algn="r" indent="0" marL="0">
              <a:buNone/>
            </a:pPr>
            <a:r>
              <a:rPr lang="en-US" sz="800" dirty="0">
                <a:solidFill>
                  <a:srgbClr val="7F8C8D"/>
                </a:solidFill>
              </a:rPr>
              <a:t>AI Agent: AGT-02 Signal Detection</a:t>
            </a:r>
            <a:endParaRPr lang="en-US" sz="800" dirty="0"/>
          </a:p>
        </p:txBody>
      </p:sp>
      <p:sp>
        <p:nvSpPr>
          <p:cNvPr id="62" name="Shape 60"/>
          <p:cNvSpPr/>
          <p:nvPr/>
        </p:nvSpPr>
        <p:spPr>
          <a:xfrm>
            <a:off x="6327648" y="3419856"/>
            <a:ext cx="5321808" cy="0"/>
          </a:xfrm>
          <a:prstGeom prst="line">
            <a:avLst/>
          </a:prstGeom>
          <a:noFill/>
          <a:ln w="6350">
            <a:solidFill>
              <a:srgbClr val="ECF0F1"/>
            </a:solidFill>
            <a:prstDash val="solid"/>
          </a:ln>
        </p:spPr>
      </p:sp>
      <p:sp>
        <p:nvSpPr>
          <p:cNvPr id="63" name="Text 61"/>
          <p:cNvSpPr/>
          <p:nvPr/>
        </p:nvSpPr>
        <p:spPr>
          <a:xfrm>
            <a:off x="6327648" y="3474720"/>
            <a:ext cx="5358384" cy="493776"/>
          </a:xfrm>
          <a:prstGeom prst="rect">
            <a:avLst/>
          </a:prstGeom>
          <a:noFill/>
          <a:ln/>
        </p:spPr>
        <p:txBody>
          <a:bodyPr wrap="square" lIns="0" tIns="0" rIns="0" bIns="0" rtlCol="0" anchor="ctr"/>
          <a:lstStyle/>
          <a:p>
            <a:pPr indent="0" marL="0">
              <a:lnSpc>
                <a:spcPct val="130000"/>
              </a:lnSpc>
              <a:buNone/>
            </a:pPr>
            <a:r>
              <a:rPr lang="en-US" sz="850" dirty="0">
                <a:solidFill>
                  <a:srgbClr val="7F8C8D"/>
                </a:solidFill>
              </a:rPr>
              <a:t>Virtualized card list for 500+ policies. Badges: NEW(#2ecc71) · ACTIVE(#3498db) · EXPIRING(#f1c40f). Each card: badge, country flag, sector, title, summary, source URL, validity date, [View Details].</a:t>
            </a:r>
            <a:endParaRPr lang="en-US" sz="850" dirty="0"/>
          </a:p>
        </p:txBody>
      </p:sp>
      <p:sp>
        <p:nvSpPr>
          <p:cNvPr id="64" name="Shape 62"/>
          <p:cNvSpPr/>
          <p:nvPr/>
        </p:nvSpPr>
        <p:spPr>
          <a:xfrm>
            <a:off x="6144768" y="4078224"/>
            <a:ext cx="5687568" cy="124358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5" name="Shape 63"/>
          <p:cNvSpPr/>
          <p:nvPr/>
        </p:nvSpPr>
        <p:spPr>
          <a:xfrm>
            <a:off x="6144768" y="4078224"/>
            <a:ext cx="73152" cy="1243584"/>
          </a:xfrm>
          <a:prstGeom prst="rect">
            <a:avLst/>
          </a:prstGeom>
          <a:solidFill>
            <a:srgbClr val="E67E22"/>
          </a:solidFill>
          <a:ln/>
        </p:spPr>
      </p:sp>
      <p:sp>
        <p:nvSpPr>
          <p:cNvPr id="66" name="Shape 64"/>
          <p:cNvSpPr/>
          <p:nvPr/>
        </p:nvSpPr>
        <p:spPr>
          <a:xfrm>
            <a:off x="11237976" y="4169664"/>
            <a:ext cx="502920" cy="274320"/>
          </a:xfrm>
          <a:prstGeom prst="rect">
            <a:avLst/>
          </a:prstGeom>
          <a:solidFill>
            <a:srgbClr val="E67E22"/>
          </a:solidFill>
          <a:ln/>
        </p:spPr>
      </p:sp>
      <p:sp>
        <p:nvSpPr>
          <p:cNvPr id="67" name="Text 65"/>
          <p:cNvSpPr/>
          <p:nvPr/>
        </p:nvSpPr>
        <p:spPr>
          <a:xfrm>
            <a:off x="11237976" y="4169664"/>
            <a:ext cx="502920" cy="274320"/>
          </a:xfrm>
          <a:prstGeom prst="rect">
            <a:avLst/>
          </a:prstGeom>
          <a:noFill/>
          <a:ln/>
        </p:spPr>
        <p:txBody>
          <a:bodyPr wrap="square" lIns="0" tIns="0" rIns="0" bIns="0" rtlCol="0" anchor="ctr"/>
          <a:lstStyle/>
          <a:p>
            <a:pPr algn="ctr" indent="0" marL="0">
              <a:buNone/>
            </a:pPr>
            <a:r>
              <a:rPr lang="en-US" sz="1000" b="1" dirty="0">
                <a:solidFill>
                  <a:srgbClr val="FFFFFF"/>
                </a:solidFill>
              </a:rPr>
              <a:t>W7</a:t>
            </a:r>
            <a:endParaRPr lang="en-US" sz="1000" dirty="0"/>
          </a:p>
        </p:txBody>
      </p:sp>
      <p:sp>
        <p:nvSpPr>
          <p:cNvPr id="68" name="Text 66"/>
          <p:cNvSpPr/>
          <p:nvPr/>
        </p:nvSpPr>
        <p:spPr>
          <a:xfrm>
            <a:off x="6327648" y="4169664"/>
            <a:ext cx="4681728" cy="274320"/>
          </a:xfrm>
          <a:prstGeom prst="rect">
            <a:avLst/>
          </a:prstGeom>
          <a:noFill/>
          <a:ln/>
        </p:spPr>
        <p:txBody>
          <a:bodyPr wrap="square" lIns="0" tIns="0" rIns="0" bIns="0" rtlCol="0" anchor="ctr"/>
          <a:lstStyle/>
          <a:p>
            <a:pPr indent="0" marL="0">
              <a:buNone/>
            </a:pPr>
            <a:r>
              <a:rPr lang="en-US" sz="1200" b="1" dirty="0">
                <a:solidFill>
                  <a:srgbClr val="1A2C3E"/>
                </a:solidFill>
              </a:rPr>
              <a:t>Investment Signals Feed</a:t>
            </a:r>
            <a:endParaRPr lang="en-US" sz="1200" dirty="0"/>
          </a:p>
        </p:txBody>
      </p:sp>
      <p:sp>
        <p:nvSpPr>
          <p:cNvPr id="69" name="Text 67"/>
          <p:cNvSpPr/>
          <p:nvPr/>
        </p:nvSpPr>
        <p:spPr>
          <a:xfrm>
            <a:off x="6327648" y="4480560"/>
            <a:ext cx="2926080" cy="201168"/>
          </a:xfrm>
          <a:prstGeom prst="rect">
            <a:avLst/>
          </a:prstGeom>
          <a:noFill/>
          <a:ln/>
        </p:spPr>
        <p:txBody>
          <a:bodyPr wrap="square" lIns="0" tIns="0" rIns="0" bIns="0" rtlCol="0" anchor="ctr"/>
          <a:lstStyle/>
          <a:p>
            <a:pPr indent="0" marL="0">
              <a:buNone/>
            </a:pPr>
            <a:r>
              <a:rPr lang="en-US" sz="850" b="1" dirty="0">
                <a:solidFill>
                  <a:srgbClr val="E67E22"/>
                </a:solidFill>
              </a:rPr>
              <a:t>Tech: Socket.io WebSocket</a:t>
            </a:r>
            <a:endParaRPr lang="en-US" sz="850" dirty="0"/>
          </a:p>
        </p:txBody>
      </p:sp>
      <p:sp>
        <p:nvSpPr>
          <p:cNvPr id="70" name="Text 68"/>
          <p:cNvSpPr/>
          <p:nvPr/>
        </p:nvSpPr>
        <p:spPr>
          <a:xfrm>
            <a:off x="9345168" y="4480560"/>
            <a:ext cx="2377440" cy="201168"/>
          </a:xfrm>
          <a:prstGeom prst="rect">
            <a:avLst/>
          </a:prstGeom>
          <a:noFill/>
          <a:ln/>
        </p:spPr>
        <p:txBody>
          <a:bodyPr wrap="square" lIns="0" tIns="0" rIns="0" bIns="0" rtlCol="0" anchor="ctr"/>
          <a:lstStyle/>
          <a:p>
            <a:pPr algn="r" indent="0" marL="0">
              <a:buNone/>
            </a:pPr>
            <a:r>
              <a:rPr lang="en-US" sz="800" dirty="0">
                <a:solidFill>
                  <a:srgbClr val="7F8C8D"/>
                </a:solidFill>
              </a:rPr>
              <a:t>AI Agent: AGT-02 Signal Detection</a:t>
            </a:r>
            <a:endParaRPr lang="en-US" sz="800" dirty="0"/>
          </a:p>
        </p:txBody>
      </p:sp>
      <p:sp>
        <p:nvSpPr>
          <p:cNvPr id="71" name="Shape 69"/>
          <p:cNvSpPr/>
          <p:nvPr/>
        </p:nvSpPr>
        <p:spPr>
          <a:xfrm>
            <a:off x="6327648" y="4718304"/>
            <a:ext cx="5321808" cy="0"/>
          </a:xfrm>
          <a:prstGeom prst="line">
            <a:avLst/>
          </a:prstGeom>
          <a:noFill/>
          <a:ln w="6350">
            <a:solidFill>
              <a:srgbClr val="ECF0F1"/>
            </a:solidFill>
            <a:prstDash val="solid"/>
          </a:ln>
        </p:spPr>
      </p:sp>
      <p:sp>
        <p:nvSpPr>
          <p:cNvPr id="72" name="Text 70"/>
          <p:cNvSpPr/>
          <p:nvPr/>
        </p:nvSpPr>
        <p:spPr>
          <a:xfrm>
            <a:off x="6327648" y="4773168"/>
            <a:ext cx="5358384" cy="493776"/>
          </a:xfrm>
          <a:prstGeom prst="rect">
            <a:avLst/>
          </a:prstGeom>
          <a:noFill/>
          <a:ln/>
        </p:spPr>
        <p:txBody>
          <a:bodyPr wrap="square" lIns="0" tIns="0" rIns="0" bIns="0" rtlCol="0" anchor="ctr"/>
          <a:lstStyle/>
          <a:p>
            <a:pPr indent="0" marL="0">
              <a:lnSpc>
                <a:spcPct val="130000"/>
              </a:lnSpc>
              <a:buNone/>
            </a:pPr>
            <a:r>
              <a:rPr lang="en-US" sz="850" dirty="0">
                <a:solidFill>
                  <a:srgbClr val="7F8C8D"/>
                </a:solidFill>
              </a:rPr>
              <a:t>Real-time WebSocket /ws/signals. 2s update frequency. 5 types: 🔴 Policy Change · 🟢 New Incentive · 🔵 Sector Growth · 🟡 Zone Available · 🟣 Competitor Move. Virtualized list (react-window) for 500+ signals. Shows strategic implications + source.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Investment Analysis</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Investment Analysis Page  /investment-analysis  —  4 Tabs</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Technology: React + ag-Grid + D3.js · AI Agent: AGT-04 GOSA Scoring + AGT-02 Signal Detection</a:t>
            </a:r>
            <a:endParaRPr lang="en-US" sz="1000" dirty="0"/>
          </a:p>
        </p:txBody>
      </p:sp>
      <p:sp>
        <p:nvSpPr>
          <p:cNvPr id="10" name="Shape 8"/>
          <p:cNvSpPr/>
          <p:nvPr/>
        </p:nvSpPr>
        <p:spPr>
          <a:xfrm>
            <a:off x="365760" y="1463040"/>
            <a:ext cx="2788920" cy="384048"/>
          </a:xfrm>
          <a:prstGeom prst="rect">
            <a:avLst/>
          </a:prstGeom>
          <a:solidFill>
            <a:srgbClr val="1A2C3E"/>
          </a:solidFill>
          <a:ln w="6350">
            <a:solidFill>
              <a:srgbClr val="DDE4EA"/>
            </a:solidFill>
            <a:prstDash val="solid"/>
          </a:ln>
        </p:spPr>
      </p:sp>
      <p:sp>
        <p:nvSpPr>
          <p:cNvPr id="11" name="Shape 9"/>
          <p:cNvSpPr/>
          <p:nvPr/>
        </p:nvSpPr>
        <p:spPr>
          <a:xfrm>
            <a:off x="365760" y="1828800"/>
            <a:ext cx="2788920" cy="45720"/>
          </a:xfrm>
          <a:prstGeom prst="rect">
            <a:avLst/>
          </a:prstGeom>
          <a:solidFill>
            <a:srgbClr val="2ECC71"/>
          </a:solidFill>
          <a:ln/>
        </p:spPr>
      </p:sp>
      <p:sp>
        <p:nvSpPr>
          <p:cNvPr id="12" name="Text 10"/>
          <p:cNvSpPr/>
          <p:nvPr/>
        </p:nvSpPr>
        <p:spPr>
          <a:xfrm>
            <a:off x="365760" y="1463040"/>
            <a:ext cx="2788920" cy="384048"/>
          </a:xfrm>
          <a:prstGeom prst="rect">
            <a:avLst/>
          </a:prstGeom>
          <a:noFill/>
          <a:ln/>
        </p:spPr>
        <p:txBody>
          <a:bodyPr wrap="square" lIns="0" tIns="0" rIns="0" bIns="0" rtlCol="0" anchor="ctr"/>
          <a:lstStyle/>
          <a:p>
            <a:pPr algn="ctr" indent="0" marL="0">
              <a:buNone/>
            </a:pPr>
            <a:r>
              <a:rPr lang="en-US" sz="900" b="1" dirty="0">
                <a:solidFill>
                  <a:srgbClr val="2ECC71"/>
                </a:solidFill>
              </a:rPr>
              <a:t>OVERVIEW</a:t>
            </a:r>
            <a:endParaRPr lang="en-US" sz="900" dirty="0"/>
          </a:p>
        </p:txBody>
      </p:sp>
      <p:sp>
        <p:nvSpPr>
          <p:cNvPr id="13" name="Shape 11"/>
          <p:cNvSpPr/>
          <p:nvPr/>
        </p:nvSpPr>
        <p:spPr>
          <a:xfrm>
            <a:off x="3218688" y="1463040"/>
            <a:ext cx="2788920" cy="384048"/>
          </a:xfrm>
          <a:prstGeom prst="rect">
            <a:avLst/>
          </a:prstGeom>
          <a:solidFill>
            <a:srgbClr val="FFFFFF"/>
          </a:solidFill>
          <a:ln w="6350">
            <a:solidFill>
              <a:srgbClr val="DDE4EA"/>
            </a:solidFill>
            <a:prstDash val="solid"/>
          </a:ln>
        </p:spPr>
      </p:sp>
      <p:sp>
        <p:nvSpPr>
          <p:cNvPr id="14" name="Text 12"/>
          <p:cNvSpPr/>
          <p:nvPr/>
        </p:nvSpPr>
        <p:spPr>
          <a:xfrm>
            <a:off x="3218688" y="1463040"/>
            <a:ext cx="2788920" cy="384048"/>
          </a:xfrm>
          <a:prstGeom prst="rect">
            <a:avLst/>
          </a:prstGeom>
          <a:noFill/>
          <a:ln/>
        </p:spPr>
        <p:txBody>
          <a:bodyPr wrap="square" lIns="0" tIns="0" rIns="0" bIns="0" rtlCol="0" anchor="ctr"/>
          <a:lstStyle/>
          <a:p>
            <a:pPr algn="ctr" indent="0" marL="0">
              <a:buNone/>
            </a:pPr>
            <a:r>
              <a:rPr lang="en-US" sz="900" b="1" dirty="0">
                <a:solidFill>
                  <a:srgbClr val="7F8C8D"/>
                </a:solidFill>
              </a:rPr>
              <a:t>GLOBAL INVESTMENT ANALYSIS</a:t>
            </a:r>
            <a:endParaRPr lang="en-US" sz="900" dirty="0"/>
          </a:p>
        </p:txBody>
      </p:sp>
      <p:sp>
        <p:nvSpPr>
          <p:cNvPr id="15" name="Shape 13"/>
          <p:cNvSpPr/>
          <p:nvPr/>
        </p:nvSpPr>
        <p:spPr>
          <a:xfrm>
            <a:off x="6071616" y="1463040"/>
            <a:ext cx="2788920" cy="384048"/>
          </a:xfrm>
          <a:prstGeom prst="rect">
            <a:avLst/>
          </a:prstGeom>
          <a:solidFill>
            <a:srgbClr val="FFFFFF"/>
          </a:solidFill>
          <a:ln w="6350">
            <a:solidFill>
              <a:srgbClr val="DDE4EA"/>
            </a:solidFill>
            <a:prstDash val="solid"/>
          </a:ln>
        </p:spPr>
      </p:sp>
      <p:sp>
        <p:nvSpPr>
          <p:cNvPr id="16" name="Text 14"/>
          <p:cNvSpPr/>
          <p:nvPr/>
        </p:nvSpPr>
        <p:spPr>
          <a:xfrm>
            <a:off x="6071616" y="1463040"/>
            <a:ext cx="2788920" cy="384048"/>
          </a:xfrm>
          <a:prstGeom prst="rect">
            <a:avLst/>
          </a:prstGeom>
          <a:noFill/>
          <a:ln/>
        </p:spPr>
        <p:txBody>
          <a:bodyPr wrap="square" lIns="0" tIns="0" rIns="0" bIns="0" rtlCol="0" anchor="ctr"/>
          <a:lstStyle/>
          <a:p>
            <a:pPr algn="ctr" indent="0" marL="0">
              <a:buNone/>
            </a:pPr>
            <a:r>
              <a:rPr lang="en-US" sz="900" b="1" dirty="0">
                <a:solidFill>
                  <a:srgbClr val="7F8C8D"/>
                </a:solidFill>
              </a:rPr>
              <a:t>BENCHMARK</a:t>
            </a:r>
            <a:endParaRPr lang="en-US" sz="900" dirty="0"/>
          </a:p>
        </p:txBody>
      </p:sp>
      <p:sp>
        <p:nvSpPr>
          <p:cNvPr id="17" name="Shape 15"/>
          <p:cNvSpPr/>
          <p:nvPr/>
        </p:nvSpPr>
        <p:spPr>
          <a:xfrm>
            <a:off x="8924544" y="1463040"/>
            <a:ext cx="2788920" cy="384048"/>
          </a:xfrm>
          <a:prstGeom prst="rect">
            <a:avLst/>
          </a:prstGeom>
          <a:solidFill>
            <a:srgbClr val="FFFFFF"/>
          </a:solidFill>
          <a:ln w="6350">
            <a:solidFill>
              <a:srgbClr val="DDE4EA"/>
            </a:solidFill>
            <a:prstDash val="solid"/>
          </a:ln>
        </p:spPr>
      </p:sp>
      <p:sp>
        <p:nvSpPr>
          <p:cNvPr id="18" name="Text 16"/>
          <p:cNvSpPr/>
          <p:nvPr/>
        </p:nvSpPr>
        <p:spPr>
          <a:xfrm>
            <a:off x="8924544" y="1463040"/>
            <a:ext cx="2788920" cy="384048"/>
          </a:xfrm>
          <a:prstGeom prst="rect">
            <a:avLst/>
          </a:prstGeom>
          <a:noFill/>
          <a:ln/>
        </p:spPr>
        <p:txBody>
          <a:bodyPr wrap="square" lIns="0" tIns="0" rIns="0" bIns="0" rtlCol="0" anchor="ctr"/>
          <a:lstStyle/>
          <a:p>
            <a:pPr algn="ctr" indent="0" marL="0">
              <a:buNone/>
            </a:pPr>
            <a:r>
              <a:rPr lang="en-US" sz="900" b="1" dirty="0">
                <a:solidFill>
                  <a:srgbClr val="7F8C8D"/>
                </a:solidFill>
              </a:rPr>
              <a:t>IMPACT ANALYSIS</a:t>
            </a:r>
            <a:endParaRPr lang="en-US" sz="900" dirty="0"/>
          </a:p>
        </p:txBody>
      </p:sp>
      <p:sp>
        <p:nvSpPr>
          <p:cNvPr id="19" name="Shape 17"/>
          <p:cNvSpPr/>
          <p:nvPr/>
        </p:nvSpPr>
        <p:spPr>
          <a:xfrm>
            <a:off x="365760" y="1975104"/>
            <a:ext cx="5760720" cy="224942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0" name="Shape 18"/>
          <p:cNvSpPr/>
          <p:nvPr/>
        </p:nvSpPr>
        <p:spPr>
          <a:xfrm>
            <a:off x="365760" y="1975104"/>
            <a:ext cx="5760720" cy="73152"/>
          </a:xfrm>
          <a:prstGeom prst="rect">
            <a:avLst/>
          </a:prstGeom>
          <a:solidFill>
            <a:srgbClr val="2ECC71"/>
          </a:solidFill>
          <a:ln/>
        </p:spPr>
      </p:sp>
      <p:sp>
        <p:nvSpPr>
          <p:cNvPr id="21" name="Text 19"/>
          <p:cNvSpPr/>
          <p:nvPr/>
        </p:nvSpPr>
        <p:spPr>
          <a:xfrm>
            <a:off x="493776" y="2103120"/>
            <a:ext cx="4114800" cy="274320"/>
          </a:xfrm>
          <a:prstGeom prst="rect">
            <a:avLst/>
          </a:prstGeom>
          <a:noFill/>
          <a:ln/>
        </p:spPr>
        <p:txBody>
          <a:bodyPr wrap="square" lIns="0" tIns="0" rIns="0" bIns="0" rtlCol="0" anchor="ctr"/>
          <a:lstStyle/>
          <a:p>
            <a:pPr indent="0" marL="0">
              <a:buNone/>
            </a:pPr>
            <a:r>
              <a:rPr lang="en-US" sz="1200" b="1" dirty="0">
                <a:solidFill>
                  <a:srgbClr val="2ECC71"/>
                </a:solidFill>
              </a:rPr>
              <a:t>TAB 1: OVERVIEW</a:t>
            </a:r>
            <a:endParaRPr lang="en-US" sz="1200" dirty="0"/>
          </a:p>
        </p:txBody>
      </p:sp>
      <p:sp>
        <p:nvSpPr>
          <p:cNvPr id="22" name="Text 20"/>
          <p:cNvSpPr/>
          <p:nvPr/>
        </p:nvSpPr>
        <p:spPr>
          <a:xfrm>
            <a:off x="493776" y="2395728"/>
            <a:ext cx="2926080" cy="182880"/>
          </a:xfrm>
          <a:prstGeom prst="rect">
            <a:avLst/>
          </a:prstGeom>
          <a:noFill/>
          <a:ln/>
        </p:spPr>
        <p:txBody>
          <a:bodyPr wrap="square" lIns="0" tIns="0" rIns="0" bIns="0" rtlCol="0" anchor="ctr"/>
          <a:lstStyle/>
          <a:p>
            <a:pPr indent="0" marL="0">
              <a:buNone/>
            </a:pPr>
            <a:r>
              <a:rPr lang="en-US" sz="850" b="1" dirty="0">
                <a:solidFill>
                  <a:srgbClr val="2ECC71"/>
                </a:solidFill>
              </a:rPr>
              <a:t>Tech: Static React</a:t>
            </a:r>
            <a:endParaRPr lang="en-US" sz="850" dirty="0"/>
          </a:p>
        </p:txBody>
      </p:sp>
      <p:sp>
        <p:nvSpPr>
          <p:cNvPr id="23" name="Text 21"/>
          <p:cNvSpPr/>
          <p:nvPr/>
        </p:nvSpPr>
        <p:spPr>
          <a:xfrm>
            <a:off x="3566160" y="2395728"/>
            <a:ext cx="2423160" cy="182880"/>
          </a:xfrm>
          <a:prstGeom prst="rect">
            <a:avLst/>
          </a:prstGeom>
          <a:noFill/>
          <a:ln/>
        </p:spPr>
        <p:txBody>
          <a:bodyPr wrap="square" lIns="0" tIns="0" rIns="0" bIns="0" rtlCol="0" anchor="ctr"/>
          <a:lstStyle/>
          <a:p>
            <a:pPr algn="r" indent="0" marL="0">
              <a:buNone/>
            </a:pPr>
            <a:r>
              <a:rPr lang="en-US" sz="800" dirty="0">
                <a:solidFill>
                  <a:srgbClr val="7F8C8D"/>
                </a:solidFill>
              </a:rPr>
              <a:t>Agent: N/A</a:t>
            </a:r>
            <a:endParaRPr lang="en-US" sz="800" dirty="0"/>
          </a:p>
        </p:txBody>
      </p:sp>
      <p:sp>
        <p:nvSpPr>
          <p:cNvPr id="24" name="Shape 22"/>
          <p:cNvSpPr/>
          <p:nvPr/>
        </p:nvSpPr>
        <p:spPr>
          <a:xfrm>
            <a:off x="493776" y="2633472"/>
            <a:ext cx="5486400" cy="0"/>
          </a:xfrm>
          <a:prstGeom prst="line">
            <a:avLst/>
          </a:prstGeom>
          <a:noFill/>
          <a:ln w="6350">
            <a:solidFill>
              <a:srgbClr val="ECF0F1"/>
            </a:solidFill>
            <a:prstDash val="solid"/>
          </a:ln>
        </p:spPr>
      </p:sp>
      <p:sp>
        <p:nvSpPr>
          <p:cNvPr id="25" name="Text 23"/>
          <p:cNvSpPr/>
          <p:nvPr/>
        </p:nvSpPr>
        <p:spPr>
          <a:xfrm>
            <a:off x="493776" y="2724912"/>
            <a:ext cx="5486400" cy="237744"/>
          </a:xfrm>
          <a:prstGeom prst="rect">
            <a:avLst/>
          </a:prstGeom>
          <a:noFill/>
          <a:ln/>
        </p:spPr>
        <p:txBody>
          <a:bodyPr wrap="square" lIns="0" tIns="0" rIns="0" bIns="0" rtlCol="0" anchor="ctr"/>
          <a:lstStyle/>
          <a:p>
            <a:pPr indent="0" marL="0">
              <a:buNone/>
            </a:pPr>
            <a:r>
              <a:rPr lang="en-US" sz="850" b="1" dirty="0">
                <a:solidFill>
                  <a:srgbClr val="2ECC71"/>
                </a:solidFill>
              </a:rPr>
              <a:t>▸ </a:t>
            </a:r>
            <a:pPr indent="0" marL="0">
              <a:buNone/>
            </a:pPr>
            <a:r>
              <a:rPr lang="en-US" sz="850" dirty="0">
                <a:solidFill>
                  <a:srgbClr val="1A2C3E"/>
                </a:solidFill>
              </a:rPr>
              <a:t>Section intro: Investment Analysis purpose &amp; tools overview</a:t>
            </a:r>
            <a:endParaRPr lang="en-US" sz="850" dirty="0"/>
          </a:p>
        </p:txBody>
      </p:sp>
      <p:sp>
        <p:nvSpPr>
          <p:cNvPr id="26" name="Text 24"/>
          <p:cNvSpPr/>
          <p:nvPr/>
        </p:nvSpPr>
        <p:spPr>
          <a:xfrm>
            <a:off x="493776" y="2980944"/>
            <a:ext cx="5486400" cy="237744"/>
          </a:xfrm>
          <a:prstGeom prst="rect">
            <a:avLst/>
          </a:prstGeom>
          <a:noFill/>
          <a:ln/>
        </p:spPr>
        <p:txBody>
          <a:bodyPr wrap="square" lIns="0" tIns="0" rIns="0" bIns="0" rtlCol="0" anchor="ctr"/>
          <a:lstStyle/>
          <a:p>
            <a:pPr indent="0" marL="0">
              <a:buNone/>
            </a:pPr>
            <a:r>
              <a:rPr lang="en-US" sz="850" b="1" dirty="0">
                <a:solidFill>
                  <a:srgbClr val="2ECC71"/>
                </a:solidFill>
              </a:rPr>
              <a:t>▸ </a:t>
            </a:r>
            <a:pPr indent="0" marL="0">
              <a:buNone/>
            </a:pPr>
            <a:r>
              <a:rPr lang="en-US" sz="850" dirty="0">
                <a:solidFill>
                  <a:srgbClr val="1A2C3E"/>
                </a:solidFill>
              </a:rPr>
              <a:t>Available Tools card grid: Global Investment Analysis · Benchmark · Impact Analysis</a:t>
            </a:r>
            <a:endParaRPr lang="en-US" sz="850" dirty="0"/>
          </a:p>
        </p:txBody>
      </p:sp>
      <p:sp>
        <p:nvSpPr>
          <p:cNvPr id="27" name="Text 25"/>
          <p:cNvSpPr/>
          <p:nvPr/>
        </p:nvSpPr>
        <p:spPr>
          <a:xfrm>
            <a:off x="493776" y="3236976"/>
            <a:ext cx="5486400" cy="237744"/>
          </a:xfrm>
          <a:prstGeom prst="rect">
            <a:avLst/>
          </a:prstGeom>
          <a:noFill/>
          <a:ln/>
        </p:spPr>
        <p:txBody>
          <a:bodyPr wrap="square" lIns="0" tIns="0" rIns="0" bIns="0" rtlCol="0" anchor="ctr"/>
          <a:lstStyle/>
          <a:p>
            <a:pPr indent="0" marL="0">
              <a:buNone/>
            </a:pPr>
            <a:r>
              <a:rPr lang="en-US" sz="850" b="1" dirty="0">
                <a:solidFill>
                  <a:srgbClr val="2ECC71"/>
                </a:solidFill>
              </a:rPr>
              <a:t>▸ </a:t>
            </a:r>
            <a:pPr indent="0" marL="0">
              <a:buNone/>
            </a:pPr>
            <a:r>
              <a:rPr lang="en-US" sz="850" dirty="0">
                <a:solidFill>
                  <a:srgbClr val="1A2C3E"/>
                </a:solidFill>
              </a:rPr>
              <a:t>GOSA 4-Layer methodology with descriptions and weights</a:t>
            </a:r>
            <a:endParaRPr lang="en-US" sz="850" dirty="0"/>
          </a:p>
        </p:txBody>
      </p:sp>
      <p:sp>
        <p:nvSpPr>
          <p:cNvPr id="28" name="Text 26"/>
          <p:cNvSpPr/>
          <p:nvPr/>
        </p:nvSpPr>
        <p:spPr>
          <a:xfrm>
            <a:off x="493776" y="3493008"/>
            <a:ext cx="5486400" cy="237744"/>
          </a:xfrm>
          <a:prstGeom prst="rect">
            <a:avLst/>
          </a:prstGeom>
          <a:noFill/>
          <a:ln/>
        </p:spPr>
        <p:txBody>
          <a:bodyPr wrap="square" lIns="0" tIns="0" rIns="0" bIns="0" rtlCol="0" anchor="ctr"/>
          <a:lstStyle/>
          <a:p>
            <a:pPr indent="0" marL="0">
              <a:buNone/>
            </a:pPr>
            <a:r>
              <a:rPr lang="en-US" sz="850" b="1" dirty="0">
                <a:solidFill>
                  <a:srgbClr val="2ECC71"/>
                </a:solidFill>
              </a:rPr>
              <a:t>▸ </a:t>
            </a:r>
            <a:pPr indent="0" marL="0">
              <a:buNone/>
            </a:pPr>
            <a:r>
              <a:rPr lang="en-US" sz="850" dirty="0">
                <a:solidFill>
                  <a:srgbClr val="1A2C3E"/>
                </a:solidFill>
              </a:rPr>
              <a:t>Formula box: GOSA = (0.30×L1) + (0.20×L2) + (0.25×L3) + (0.25×L4)</a:t>
            </a:r>
            <a:endParaRPr lang="en-US" sz="850" dirty="0"/>
          </a:p>
        </p:txBody>
      </p:sp>
      <p:sp>
        <p:nvSpPr>
          <p:cNvPr id="29" name="Text 27"/>
          <p:cNvSpPr/>
          <p:nvPr/>
        </p:nvSpPr>
        <p:spPr>
          <a:xfrm>
            <a:off x="493776" y="3749040"/>
            <a:ext cx="5486400" cy="237744"/>
          </a:xfrm>
          <a:prstGeom prst="rect">
            <a:avLst/>
          </a:prstGeom>
          <a:noFill/>
          <a:ln/>
        </p:spPr>
        <p:txBody>
          <a:bodyPr wrap="square" lIns="0" tIns="0" rIns="0" bIns="0" rtlCol="0" anchor="ctr"/>
          <a:lstStyle/>
          <a:p>
            <a:pPr indent="0" marL="0">
              <a:buNone/>
            </a:pPr>
            <a:r>
              <a:rPr lang="en-US" sz="850" b="1" dirty="0">
                <a:solidFill>
                  <a:srgbClr val="2ECC71"/>
                </a:solidFill>
              </a:rPr>
              <a:t>▸ </a:t>
            </a:r>
            <a:pPr indent="0" marL="0">
              <a:buNone/>
            </a:pPr>
            <a:r>
              <a:rPr lang="en-US" sz="850" dirty="0">
                <a:solidFill>
                  <a:srgbClr val="1A2C3E"/>
                </a:solidFill>
              </a:rPr>
              <a:t>Score tier legend: Top Tier 80-100 · High Tier 60-79 · Developing &lt;60</a:t>
            </a:r>
            <a:endParaRPr lang="en-US" sz="850" dirty="0"/>
          </a:p>
        </p:txBody>
      </p:sp>
      <p:sp>
        <p:nvSpPr>
          <p:cNvPr id="30" name="Text 28"/>
          <p:cNvSpPr/>
          <p:nvPr/>
        </p:nvSpPr>
        <p:spPr>
          <a:xfrm>
            <a:off x="493776" y="4005072"/>
            <a:ext cx="5486400" cy="237744"/>
          </a:xfrm>
          <a:prstGeom prst="rect">
            <a:avLst/>
          </a:prstGeom>
          <a:noFill/>
          <a:ln/>
        </p:spPr>
        <p:txBody>
          <a:bodyPr wrap="square" lIns="0" tIns="0" rIns="0" bIns="0" rtlCol="0" anchor="ctr"/>
          <a:lstStyle/>
          <a:p>
            <a:pPr indent="0" marL="0">
              <a:buNone/>
            </a:pPr>
            <a:r>
              <a:rPr lang="en-US" sz="850" b="1" dirty="0">
                <a:solidFill>
                  <a:srgbClr val="2ECC71"/>
                </a:solidFill>
              </a:rPr>
              <a:t>▸ </a:t>
            </a:r>
            <a:pPr indent="0" marL="0">
              <a:buNone/>
            </a:pPr>
            <a:r>
              <a:rPr lang="en-US" sz="850" dirty="0">
                <a:solidFill>
                  <a:srgbClr val="1A2C3E"/>
                </a:solidFill>
              </a:rPr>
              <a:t>Quick links to all 3 analytical tabs</a:t>
            </a:r>
            <a:endParaRPr lang="en-US" sz="850" dirty="0"/>
          </a:p>
        </p:txBody>
      </p:sp>
      <p:sp>
        <p:nvSpPr>
          <p:cNvPr id="31" name="Shape 29"/>
          <p:cNvSpPr/>
          <p:nvPr/>
        </p:nvSpPr>
        <p:spPr>
          <a:xfrm>
            <a:off x="6309360" y="1975104"/>
            <a:ext cx="5760720" cy="224942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2" name="Shape 30"/>
          <p:cNvSpPr/>
          <p:nvPr/>
        </p:nvSpPr>
        <p:spPr>
          <a:xfrm>
            <a:off x="6309360" y="1975104"/>
            <a:ext cx="5760720" cy="73152"/>
          </a:xfrm>
          <a:prstGeom prst="rect">
            <a:avLst/>
          </a:prstGeom>
          <a:solidFill>
            <a:srgbClr val="3498DB"/>
          </a:solidFill>
          <a:ln/>
        </p:spPr>
      </p:sp>
      <p:sp>
        <p:nvSpPr>
          <p:cNvPr id="33" name="Text 31"/>
          <p:cNvSpPr/>
          <p:nvPr/>
        </p:nvSpPr>
        <p:spPr>
          <a:xfrm>
            <a:off x="6437376" y="2103120"/>
            <a:ext cx="4114800" cy="274320"/>
          </a:xfrm>
          <a:prstGeom prst="rect">
            <a:avLst/>
          </a:prstGeom>
          <a:noFill/>
          <a:ln/>
        </p:spPr>
        <p:txBody>
          <a:bodyPr wrap="square" lIns="0" tIns="0" rIns="0" bIns="0" rtlCol="0" anchor="ctr"/>
          <a:lstStyle/>
          <a:p>
            <a:pPr indent="0" marL="0">
              <a:buNone/>
            </a:pPr>
            <a:r>
              <a:rPr lang="en-US" sz="1200" b="1" dirty="0">
                <a:solidFill>
                  <a:srgbClr val="3498DB"/>
                </a:solidFill>
              </a:rPr>
              <a:t>TAB 2: GLOBAL INVESTMENT ANALYSIS</a:t>
            </a:r>
            <a:endParaRPr lang="en-US" sz="1200" dirty="0"/>
          </a:p>
        </p:txBody>
      </p:sp>
      <p:sp>
        <p:nvSpPr>
          <p:cNvPr id="34" name="Text 32"/>
          <p:cNvSpPr/>
          <p:nvPr/>
        </p:nvSpPr>
        <p:spPr>
          <a:xfrm>
            <a:off x="6437376" y="2395728"/>
            <a:ext cx="2926080" cy="182880"/>
          </a:xfrm>
          <a:prstGeom prst="rect">
            <a:avLst/>
          </a:prstGeom>
          <a:noFill/>
          <a:ln/>
        </p:spPr>
        <p:txBody>
          <a:bodyPr wrap="square" lIns="0" tIns="0" rIns="0" bIns="0" rtlCol="0" anchor="ctr"/>
          <a:lstStyle/>
          <a:p>
            <a:pPr indent="0" marL="0">
              <a:buNone/>
            </a:pPr>
            <a:r>
              <a:rPr lang="en-US" sz="850" b="1" dirty="0">
                <a:solidFill>
                  <a:srgbClr val="3498DB"/>
                </a:solidFill>
              </a:rPr>
              <a:t>Tech: ag-Grid 30.0+</a:t>
            </a:r>
            <a:endParaRPr lang="en-US" sz="850" dirty="0"/>
          </a:p>
        </p:txBody>
      </p:sp>
      <p:sp>
        <p:nvSpPr>
          <p:cNvPr id="35" name="Text 33"/>
          <p:cNvSpPr/>
          <p:nvPr/>
        </p:nvSpPr>
        <p:spPr>
          <a:xfrm>
            <a:off x="9509760" y="2395728"/>
            <a:ext cx="2423160" cy="182880"/>
          </a:xfrm>
          <a:prstGeom prst="rect">
            <a:avLst/>
          </a:prstGeom>
          <a:noFill/>
          <a:ln/>
        </p:spPr>
        <p:txBody>
          <a:bodyPr wrap="square" lIns="0" tIns="0" rIns="0" bIns="0" rtlCol="0" anchor="ctr"/>
          <a:lstStyle/>
          <a:p>
            <a:pPr algn="r" indent="0" marL="0">
              <a:buNone/>
            </a:pPr>
            <a:r>
              <a:rPr lang="en-US" sz="800" dirty="0">
                <a:solidFill>
                  <a:srgbClr val="7F8C8D"/>
                </a:solidFill>
              </a:rPr>
              <a:t>Agent: AGT-04 GOSA Scoring</a:t>
            </a:r>
            <a:endParaRPr lang="en-US" sz="800" dirty="0"/>
          </a:p>
        </p:txBody>
      </p:sp>
      <p:sp>
        <p:nvSpPr>
          <p:cNvPr id="36" name="Shape 34"/>
          <p:cNvSpPr/>
          <p:nvPr/>
        </p:nvSpPr>
        <p:spPr>
          <a:xfrm>
            <a:off x="6437376" y="2633472"/>
            <a:ext cx="5486400" cy="0"/>
          </a:xfrm>
          <a:prstGeom prst="line">
            <a:avLst/>
          </a:prstGeom>
          <a:noFill/>
          <a:ln w="6350">
            <a:solidFill>
              <a:srgbClr val="ECF0F1"/>
            </a:solidFill>
            <a:prstDash val="solid"/>
          </a:ln>
        </p:spPr>
      </p:sp>
      <p:sp>
        <p:nvSpPr>
          <p:cNvPr id="37" name="Text 35"/>
          <p:cNvSpPr/>
          <p:nvPr/>
        </p:nvSpPr>
        <p:spPr>
          <a:xfrm>
            <a:off x="6437376" y="2724912"/>
            <a:ext cx="5486400" cy="237744"/>
          </a:xfrm>
          <a:prstGeom prst="rect">
            <a:avLst/>
          </a:prstGeom>
          <a:noFill/>
          <a:ln/>
        </p:spPr>
        <p:txBody>
          <a:bodyPr wrap="square" lIns="0" tIns="0" rIns="0" bIns="0" rtlCol="0" anchor="ctr"/>
          <a:lstStyle/>
          <a:p>
            <a:pPr indent="0" marL="0">
              <a:buNone/>
            </a:pPr>
            <a:r>
              <a:rPr lang="en-US" sz="850" b="1" dirty="0">
                <a:solidFill>
                  <a:srgbClr val="3498DB"/>
                </a:solidFill>
              </a:rPr>
              <a:t>▸ </a:t>
            </a:r>
            <a:pPr indent="0" marL="0">
              <a:buNone/>
            </a:pPr>
            <a:r>
              <a:rPr lang="en-US" sz="850" dirty="0">
                <a:solidFill>
                  <a:srgbClr val="1A2C3E"/>
                </a:solidFill>
              </a:rPr>
              <a:t>Filters: Region · Sector (20+) · Investment Size · Search Country</a:t>
            </a:r>
            <a:endParaRPr lang="en-US" sz="850" dirty="0"/>
          </a:p>
        </p:txBody>
      </p:sp>
      <p:sp>
        <p:nvSpPr>
          <p:cNvPr id="38" name="Text 36"/>
          <p:cNvSpPr/>
          <p:nvPr/>
        </p:nvSpPr>
        <p:spPr>
          <a:xfrm>
            <a:off x="6437376" y="2980944"/>
            <a:ext cx="5486400" cy="237744"/>
          </a:xfrm>
          <a:prstGeom prst="rect">
            <a:avLst/>
          </a:prstGeom>
          <a:noFill/>
          <a:ln/>
        </p:spPr>
        <p:txBody>
          <a:bodyPr wrap="square" lIns="0" tIns="0" rIns="0" bIns="0" rtlCol="0" anchor="ctr"/>
          <a:lstStyle/>
          <a:p>
            <a:pPr indent="0" marL="0">
              <a:buNone/>
            </a:pPr>
            <a:r>
              <a:rPr lang="en-US" sz="850" b="1" dirty="0">
                <a:solidFill>
                  <a:srgbClr val="3498DB"/>
                </a:solidFill>
              </a:rPr>
              <a:t>▸ </a:t>
            </a:r>
            <a:pPr indent="0" marL="0">
              <a:buNone/>
            </a:pPr>
            <a:r>
              <a:rPr lang="en-US" sz="850" dirty="0">
                <a:solidFill>
                  <a:srgbClr val="1A2C3E"/>
                </a:solidFill>
              </a:rPr>
              <a:t>Full table: Country · GOSA · L1 · L2 · L3 · L4 · Trend ▲▼ · ΔMoM · Tier · DB Highlights</a:t>
            </a:r>
            <a:endParaRPr lang="en-US" sz="850" dirty="0"/>
          </a:p>
        </p:txBody>
      </p:sp>
      <p:sp>
        <p:nvSpPr>
          <p:cNvPr id="39" name="Text 37"/>
          <p:cNvSpPr/>
          <p:nvPr/>
        </p:nvSpPr>
        <p:spPr>
          <a:xfrm>
            <a:off x="6437376" y="3236976"/>
            <a:ext cx="5486400" cy="237744"/>
          </a:xfrm>
          <a:prstGeom prst="rect">
            <a:avLst/>
          </a:prstGeom>
          <a:noFill/>
          <a:ln/>
        </p:spPr>
        <p:txBody>
          <a:bodyPr wrap="square" lIns="0" tIns="0" rIns="0" bIns="0" rtlCol="0" anchor="ctr"/>
          <a:lstStyle/>
          <a:p>
            <a:pPr indent="0" marL="0">
              <a:buNone/>
            </a:pPr>
            <a:r>
              <a:rPr lang="en-US" sz="850" b="1" dirty="0">
                <a:solidFill>
                  <a:srgbClr val="3498DB"/>
                </a:solidFill>
              </a:rPr>
              <a:t>▸ </a:t>
            </a:r>
            <a:pPr indent="0" marL="0">
              <a:buNone/>
            </a:pPr>
            <a:r>
              <a:rPr lang="en-US" sz="850" dirty="0">
                <a:solidFill>
                  <a:srgbClr val="1A2C3E"/>
                </a:solidFill>
              </a:rPr>
              <a:t>195+ economies — sortable by every column (ag-Grid)</a:t>
            </a:r>
            <a:endParaRPr lang="en-US" sz="850" dirty="0"/>
          </a:p>
        </p:txBody>
      </p:sp>
      <p:sp>
        <p:nvSpPr>
          <p:cNvPr id="40" name="Text 38"/>
          <p:cNvSpPr/>
          <p:nvPr/>
        </p:nvSpPr>
        <p:spPr>
          <a:xfrm>
            <a:off x="6437376" y="3493008"/>
            <a:ext cx="5486400" cy="237744"/>
          </a:xfrm>
          <a:prstGeom prst="rect">
            <a:avLst/>
          </a:prstGeom>
          <a:noFill/>
          <a:ln/>
        </p:spPr>
        <p:txBody>
          <a:bodyPr wrap="square" lIns="0" tIns="0" rIns="0" bIns="0" rtlCol="0" anchor="ctr"/>
          <a:lstStyle/>
          <a:p>
            <a:pPr indent="0" marL="0">
              <a:buNone/>
            </a:pPr>
            <a:r>
              <a:rPr lang="en-US" sz="850" b="1" dirty="0">
                <a:solidFill>
                  <a:srgbClr val="F1C40F"/>
                </a:solidFill>
              </a:rPr>
              <a:t>★ </a:t>
            </a:r>
            <a:pPr indent="0" marL="0">
              <a:buNone/>
            </a:pPr>
            <a:r>
              <a:rPr lang="en-US" sz="850" dirty="0">
                <a:solidFill>
                  <a:srgbClr val="F1C40F"/>
                </a:solidFill>
              </a:rPr>
              <a:t>GFR RANKING TABLE — core feature, fully visible and functional here</a:t>
            </a:r>
            <a:endParaRPr lang="en-US" sz="850" dirty="0"/>
          </a:p>
        </p:txBody>
      </p:sp>
      <p:sp>
        <p:nvSpPr>
          <p:cNvPr id="41" name="Text 39"/>
          <p:cNvSpPr/>
          <p:nvPr/>
        </p:nvSpPr>
        <p:spPr>
          <a:xfrm>
            <a:off x="6437376" y="3749040"/>
            <a:ext cx="5486400" cy="237744"/>
          </a:xfrm>
          <a:prstGeom prst="rect">
            <a:avLst/>
          </a:prstGeom>
          <a:noFill/>
          <a:ln/>
        </p:spPr>
        <p:txBody>
          <a:bodyPr wrap="square" lIns="0" tIns="0" rIns="0" bIns="0" rtlCol="0" anchor="ctr"/>
          <a:lstStyle/>
          <a:p>
            <a:pPr indent="0" marL="0">
              <a:buNone/>
            </a:pPr>
            <a:r>
              <a:rPr lang="en-US" sz="850" b="1" dirty="0">
                <a:solidFill>
                  <a:srgbClr val="3498DB"/>
                </a:solidFill>
              </a:rPr>
              <a:t>▸ </a:t>
            </a:r>
            <a:pPr indent="0" marL="0">
              <a:buNone/>
            </a:pPr>
            <a:r>
              <a:rPr lang="en-US" sz="850" dirty="0">
                <a:solidFill>
                  <a:srgbClr val="1A2C3E"/>
                </a:solidFill>
              </a:rPr>
              <a:t>Note: Only word "ranking" removed from section title; table is FULLY PRESENT</a:t>
            </a:r>
            <a:endParaRPr lang="en-US" sz="850" dirty="0"/>
          </a:p>
        </p:txBody>
      </p:sp>
      <p:sp>
        <p:nvSpPr>
          <p:cNvPr id="42" name="Text 40"/>
          <p:cNvSpPr/>
          <p:nvPr/>
        </p:nvSpPr>
        <p:spPr>
          <a:xfrm>
            <a:off x="6437376" y="4005072"/>
            <a:ext cx="5486400" cy="237744"/>
          </a:xfrm>
          <a:prstGeom prst="rect">
            <a:avLst/>
          </a:prstGeom>
          <a:noFill/>
          <a:ln/>
        </p:spPr>
        <p:txBody>
          <a:bodyPr wrap="square" lIns="0" tIns="0" rIns="0" bIns="0" rtlCol="0" anchor="ctr"/>
          <a:lstStyle/>
          <a:p>
            <a:pPr indent="0" marL="0">
              <a:buNone/>
            </a:pPr>
            <a:r>
              <a:rPr lang="en-US" sz="850" b="1" dirty="0">
                <a:solidFill>
                  <a:srgbClr val="3498DB"/>
                </a:solidFill>
              </a:rPr>
              <a:t>▸ </a:t>
            </a:r>
            <a:pPr indent="0" marL="0">
              <a:buNone/>
            </a:pPr>
            <a:r>
              <a:rPr lang="en-US" sz="850" dirty="0">
                <a:solidFill>
                  <a:srgbClr val="1A2C3E"/>
                </a:solidFill>
              </a:rPr>
              <a:t>[Generate PDF Report] → POST /api/reports/generate endpoint</a:t>
            </a:r>
            <a:endParaRPr lang="en-US" sz="850" dirty="0"/>
          </a:p>
        </p:txBody>
      </p:sp>
      <p:sp>
        <p:nvSpPr>
          <p:cNvPr id="43" name="Shape 41"/>
          <p:cNvSpPr/>
          <p:nvPr/>
        </p:nvSpPr>
        <p:spPr>
          <a:xfrm>
            <a:off x="365760" y="4334256"/>
            <a:ext cx="5760720" cy="224942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4" name="Shape 42"/>
          <p:cNvSpPr/>
          <p:nvPr/>
        </p:nvSpPr>
        <p:spPr>
          <a:xfrm>
            <a:off x="365760" y="4334256"/>
            <a:ext cx="5760720" cy="73152"/>
          </a:xfrm>
          <a:prstGeom prst="rect">
            <a:avLst/>
          </a:prstGeom>
          <a:solidFill>
            <a:srgbClr val="9B59B6"/>
          </a:solidFill>
          <a:ln/>
        </p:spPr>
      </p:sp>
      <p:sp>
        <p:nvSpPr>
          <p:cNvPr id="45" name="Text 43"/>
          <p:cNvSpPr/>
          <p:nvPr/>
        </p:nvSpPr>
        <p:spPr>
          <a:xfrm>
            <a:off x="493776" y="4462272"/>
            <a:ext cx="4114800" cy="274320"/>
          </a:xfrm>
          <a:prstGeom prst="rect">
            <a:avLst/>
          </a:prstGeom>
          <a:noFill/>
          <a:ln/>
        </p:spPr>
        <p:txBody>
          <a:bodyPr wrap="square" lIns="0" tIns="0" rIns="0" bIns="0" rtlCol="0" anchor="ctr"/>
          <a:lstStyle/>
          <a:p>
            <a:pPr indent="0" marL="0">
              <a:buNone/>
            </a:pPr>
            <a:r>
              <a:rPr lang="en-US" sz="1200" b="1" dirty="0">
                <a:solidFill>
                  <a:srgbClr val="9B59B6"/>
                </a:solidFill>
              </a:rPr>
              <a:t>TAB 3: BENCHMARK</a:t>
            </a:r>
            <a:endParaRPr lang="en-US" sz="1200" dirty="0"/>
          </a:p>
        </p:txBody>
      </p:sp>
      <p:sp>
        <p:nvSpPr>
          <p:cNvPr id="46" name="Text 44"/>
          <p:cNvSpPr/>
          <p:nvPr/>
        </p:nvSpPr>
        <p:spPr>
          <a:xfrm>
            <a:off x="493776" y="4754880"/>
            <a:ext cx="2926080" cy="182880"/>
          </a:xfrm>
          <a:prstGeom prst="rect">
            <a:avLst/>
          </a:prstGeom>
          <a:noFill/>
          <a:ln/>
        </p:spPr>
        <p:txBody>
          <a:bodyPr wrap="square" lIns="0" tIns="0" rIns="0" bIns="0" rtlCol="0" anchor="ctr"/>
          <a:lstStyle/>
          <a:p>
            <a:pPr indent="0" marL="0">
              <a:buNone/>
            </a:pPr>
            <a:r>
              <a:rPr lang="en-US" sz="850" b="1" dirty="0">
                <a:solidFill>
                  <a:srgbClr val="9B59B6"/>
                </a:solidFill>
              </a:rPr>
              <a:t>Tech: D3.js Comparison Charts</a:t>
            </a:r>
            <a:endParaRPr lang="en-US" sz="850" dirty="0"/>
          </a:p>
        </p:txBody>
      </p:sp>
      <p:sp>
        <p:nvSpPr>
          <p:cNvPr id="47" name="Text 45"/>
          <p:cNvSpPr/>
          <p:nvPr/>
        </p:nvSpPr>
        <p:spPr>
          <a:xfrm>
            <a:off x="3566160" y="4754880"/>
            <a:ext cx="2423160" cy="182880"/>
          </a:xfrm>
          <a:prstGeom prst="rect">
            <a:avLst/>
          </a:prstGeom>
          <a:noFill/>
          <a:ln/>
        </p:spPr>
        <p:txBody>
          <a:bodyPr wrap="square" lIns="0" tIns="0" rIns="0" bIns="0" rtlCol="0" anchor="ctr"/>
          <a:lstStyle/>
          <a:p>
            <a:pPr algn="r" indent="0" marL="0">
              <a:buNone/>
            </a:pPr>
            <a:r>
              <a:rPr lang="en-US" sz="800" dirty="0">
                <a:solidFill>
                  <a:srgbClr val="7F8C8D"/>
                </a:solidFill>
              </a:rPr>
              <a:t>Agent: AGT-04 GOSA</a:t>
            </a:r>
            <a:endParaRPr lang="en-US" sz="800" dirty="0"/>
          </a:p>
        </p:txBody>
      </p:sp>
      <p:sp>
        <p:nvSpPr>
          <p:cNvPr id="48" name="Shape 46"/>
          <p:cNvSpPr/>
          <p:nvPr/>
        </p:nvSpPr>
        <p:spPr>
          <a:xfrm>
            <a:off x="493776" y="4992624"/>
            <a:ext cx="5486400" cy="0"/>
          </a:xfrm>
          <a:prstGeom prst="line">
            <a:avLst/>
          </a:prstGeom>
          <a:noFill/>
          <a:ln w="6350">
            <a:solidFill>
              <a:srgbClr val="ECF0F1"/>
            </a:solidFill>
            <a:prstDash val="solid"/>
          </a:ln>
        </p:spPr>
      </p:sp>
      <p:sp>
        <p:nvSpPr>
          <p:cNvPr id="49" name="Text 47"/>
          <p:cNvSpPr/>
          <p:nvPr/>
        </p:nvSpPr>
        <p:spPr>
          <a:xfrm>
            <a:off x="493776" y="5084064"/>
            <a:ext cx="5486400" cy="237744"/>
          </a:xfrm>
          <a:prstGeom prst="rect">
            <a:avLst/>
          </a:prstGeom>
          <a:noFill/>
          <a:ln/>
        </p:spPr>
        <p:txBody>
          <a:bodyPr wrap="square" lIns="0" tIns="0" rIns="0" bIns="0" rtlCol="0" anchor="ctr"/>
          <a:lstStyle/>
          <a:p>
            <a:pPr indent="0" marL="0">
              <a:buNone/>
            </a:pPr>
            <a:r>
              <a:rPr lang="en-US" sz="850" b="1" dirty="0">
                <a:solidFill>
                  <a:srgbClr val="9B59B6"/>
                </a:solidFill>
              </a:rPr>
              <a:t>▸ </a:t>
            </a:r>
            <a:pPr indent="0" marL="0">
              <a:buNone/>
            </a:pPr>
            <a:r>
              <a:rPr lang="en-US" sz="850" dirty="0">
                <a:solidFill>
                  <a:srgbClr val="1A2C3E"/>
                </a:solidFill>
              </a:rPr>
              <a:t>Multi-select 2–5 countries (dropdowns with full country list)</a:t>
            </a:r>
            <a:endParaRPr lang="en-US" sz="850" dirty="0"/>
          </a:p>
        </p:txBody>
      </p:sp>
      <p:sp>
        <p:nvSpPr>
          <p:cNvPr id="50" name="Text 48"/>
          <p:cNvSpPr/>
          <p:nvPr/>
        </p:nvSpPr>
        <p:spPr>
          <a:xfrm>
            <a:off x="493776" y="5340096"/>
            <a:ext cx="5486400" cy="237744"/>
          </a:xfrm>
          <a:prstGeom prst="rect">
            <a:avLst/>
          </a:prstGeom>
          <a:noFill/>
          <a:ln/>
        </p:spPr>
        <p:txBody>
          <a:bodyPr wrap="square" lIns="0" tIns="0" rIns="0" bIns="0" rtlCol="0" anchor="ctr"/>
          <a:lstStyle/>
          <a:p>
            <a:pPr indent="0" marL="0">
              <a:buNone/>
            </a:pPr>
            <a:r>
              <a:rPr lang="en-US" sz="850" b="1" dirty="0">
                <a:solidFill>
                  <a:srgbClr val="9B59B6"/>
                </a:solidFill>
              </a:rPr>
              <a:t>▸ </a:t>
            </a:r>
            <a:pPr indent="0" marL="0">
              <a:buNone/>
            </a:pPr>
            <a:r>
              <a:rPr lang="en-US" sz="850" dirty="0">
                <a:solidFill>
                  <a:srgbClr val="1A2C3E"/>
                </a:solidFill>
              </a:rPr>
              <a:t>Optional sector filter for sector-adjusted comparison scores</a:t>
            </a:r>
            <a:endParaRPr lang="en-US" sz="850" dirty="0"/>
          </a:p>
        </p:txBody>
      </p:sp>
      <p:sp>
        <p:nvSpPr>
          <p:cNvPr id="51" name="Text 49"/>
          <p:cNvSpPr/>
          <p:nvPr/>
        </p:nvSpPr>
        <p:spPr>
          <a:xfrm>
            <a:off x="493776" y="5596128"/>
            <a:ext cx="5486400" cy="237744"/>
          </a:xfrm>
          <a:prstGeom prst="rect">
            <a:avLst/>
          </a:prstGeom>
          <a:noFill/>
          <a:ln/>
        </p:spPr>
        <p:txBody>
          <a:bodyPr wrap="square" lIns="0" tIns="0" rIns="0" bIns="0" rtlCol="0" anchor="ctr"/>
          <a:lstStyle/>
          <a:p>
            <a:pPr indent="0" marL="0">
              <a:buNone/>
            </a:pPr>
            <a:r>
              <a:rPr lang="en-US" sz="850" b="1" dirty="0">
                <a:solidFill>
                  <a:srgbClr val="9B59B6"/>
                </a:solidFill>
              </a:rPr>
              <a:t>▸ </a:t>
            </a:r>
            <a:pPr indent="0" marL="0">
              <a:buNone/>
            </a:pPr>
            <a:r>
              <a:rPr lang="en-US" sz="850" dirty="0">
                <a:solidFill>
                  <a:srgbClr val="1A2C3E"/>
                </a:solidFill>
              </a:rPr>
              <a:t>GOSA comparison: horizontal bar chart per selected country</a:t>
            </a:r>
            <a:endParaRPr lang="en-US" sz="850" dirty="0"/>
          </a:p>
        </p:txBody>
      </p:sp>
      <p:sp>
        <p:nvSpPr>
          <p:cNvPr id="52" name="Text 50"/>
          <p:cNvSpPr/>
          <p:nvPr/>
        </p:nvSpPr>
        <p:spPr>
          <a:xfrm>
            <a:off x="493776" y="5852160"/>
            <a:ext cx="5486400" cy="237744"/>
          </a:xfrm>
          <a:prstGeom prst="rect">
            <a:avLst/>
          </a:prstGeom>
          <a:noFill/>
          <a:ln/>
        </p:spPr>
        <p:txBody>
          <a:bodyPr wrap="square" lIns="0" tIns="0" rIns="0" bIns="0" rtlCol="0" anchor="ctr"/>
          <a:lstStyle/>
          <a:p>
            <a:pPr indent="0" marL="0">
              <a:buNone/>
            </a:pPr>
            <a:r>
              <a:rPr lang="en-US" sz="850" b="1" dirty="0">
                <a:solidFill>
                  <a:srgbClr val="9B59B6"/>
                </a:solidFill>
              </a:rPr>
              <a:t>▸ </a:t>
            </a:r>
            <a:pPr indent="0" marL="0">
              <a:buNone/>
            </a:pPr>
            <a:r>
              <a:rPr lang="en-US" sz="850" dirty="0">
                <a:solidFill>
                  <a:srgbClr val="1A2C3E"/>
                </a:solidFill>
              </a:rPr>
              <a:t>L1 Doing Business: 10-indicator side-by-side comparison table</a:t>
            </a:r>
            <a:endParaRPr lang="en-US" sz="850" dirty="0"/>
          </a:p>
        </p:txBody>
      </p:sp>
      <p:sp>
        <p:nvSpPr>
          <p:cNvPr id="53" name="Text 51"/>
          <p:cNvSpPr/>
          <p:nvPr/>
        </p:nvSpPr>
        <p:spPr>
          <a:xfrm>
            <a:off x="493776" y="6108192"/>
            <a:ext cx="5486400" cy="237744"/>
          </a:xfrm>
          <a:prstGeom prst="rect">
            <a:avLst/>
          </a:prstGeom>
          <a:noFill/>
          <a:ln/>
        </p:spPr>
        <p:txBody>
          <a:bodyPr wrap="square" lIns="0" tIns="0" rIns="0" bIns="0" rtlCol="0" anchor="ctr"/>
          <a:lstStyle/>
          <a:p>
            <a:pPr indent="0" marL="0">
              <a:buNone/>
            </a:pPr>
            <a:r>
              <a:rPr lang="en-US" sz="850" b="1" dirty="0">
                <a:solidFill>
                  <a:srgbClr val="9B59B6"/>
                </a:solidFill>
              </a:rPr>
              <a:t>▸ </a:t>
            </a:r>
            <a:pPr indent="0" marL="0">
              <a:buNone/>
            </a:pPr>
            <a:r>
              <a:rPr lang="en-US" sz="850" dirty="0">
                <a:solidFill>
                  <a:srgbClr val="1A2C3E"/>
                </a:solidFill>
              </a:rPr>
              <a:t>L2 Sector · L3 Zone · L4 Market Intel — per-country comparison rows</a:t>
            </a:r>
            <a:endParaRPr lang="en-US" sz="850" dirty="0"/>
          </a:p>
        </p:txBody>
      </p:sp>
      <p:sp>
        <p:nvSpPr>
          <p:cNvPr id="54" name="Text 52"/>
          <p:cNvSpPr/>
          <p:nvPr/>
        </p:nvSpPr>
        <p:spPr>
          <a:xfrm>
            <a:off x="493776" y="6364224"/>
            <a:ext cx="5486400" cy="237744"/>
          </a:xfrm>
          <a:prstGeom prst="rect">
            <a:avLst/>
          </a:prstGeom>
          <a:noFill/>
          <a:ln/>
        </p:spPr>
        <p:txBody>
          <a:bodyPr wrap="square" lIns="0" tIns="0" rIns="0" bIns="0" rtlCol="0" anchor="ctr"/>
          <a:lstStyle/>
          <a:p>
            <a:pPr indent="0" marL="0">
              <a:buNone/>
            </a:pPr>
            <a:r>
              <a:rPr lang="en-US" sz="850" b="1" dirty="0">
                <a:solidFill>
                  <a:srgbClr val="9B59B6"/>
                </a:solidFill>
              </a:rPr>
              <a:t>▸ </a:t>
            </a:r>
            <a:pPr indent="0" marL="0">
              <a:buNone/>
            </a:pPr>
            <a:r>
              <a:rPr lang="en-US" sz="850" dirty="0">
                <a:solidFill>
                  <a:srgbClr val="1A2C3E"/>
                </a:solidFill>
              </a:rPr>
              <a:t>[Generate Benchmark Report → PDF] CTA</a:t>
            </a:r>
            <a:endParaRPr lang="en-US" sz="850" dirty="0"/>
          </a:p>
        </p:txBody>
      </p:sp>
      <p:sp>
        <p:nvSpPr>
          <p:cNvPr id="55" name="Shape 53"/>
          <p:cNvSpPr/>
          <p:nvPr/>
        </p:nvSpPr>
        <p:spPr>
          <a:xfrm>
            <a:off x="6309360" y="4334256"/>
            <a:ext cx="5760720" cy="224942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6" name="Shape 54"/>
          <p:cNvSpPr/>
          <p:nvPr/>
        </p:nvSpPr>
        <p:spPr>
          <a:xfrm>
            <a:off x="6309360" y="4334256"/>
            <a:ext cx="5760720" cy="73152"/>
          </a:xfrm>
          <a:prstGeom prst="rect">
            <a:avLst/>
          </a:prstGeom>
          <a:solidFill>
            <a:srgbClr val="F1C40F"/>
          </a:solidFill>
          <a:ln/>
        </p:spPr>
      </p:sp>
      <p:sp>
        <p:nvSpPr>
          <p:cNvPr id="57" name="Text 55"/>
          <p:cNvSpPr/>
          <p:nvPr/>
        </p:nvSpPr>
        <p:spPr>
          <a:xfrm>
            <a:off x="6437376" y="4462272"/>
            <a:ext cx="4114800" cy="274320"/>
          </a:xfrm>
          <a:prstGeom prst="rect">
            <a:avLst/>
          </a:prstGeom>
          <a:noFill/>
          <a:ln/>
        </p:spPr>
        <p:txBody>
          <a:bodyPr wrap="square" lIns="0" tIns="0" rIns="0" bIns="0" rtlCol="0" anchor="ctr"/>
          <a:lstStyle/>
          <a:p>
            <a:pPr indent="0" marL="0">
              <a:buNone/>
            </a:pPr>
            <a:r>
              <a:rPr lang="en-US" sz="1200" b="1" dirty="0">
                <a:solidFill>
                  <a:srgbClr val="F1C40F"/>
                </a:solidFill>
              </a:rPr>
              <a:t>TAB 4: IMPACT ANALYSIS</a:t>
            </a:r>
            <a:endParaRPr lang="en-US" sz="1200" dirty="0"/>
          </a:p>
        </p:txBody>
      </p:sp>
      <p:sp>
        <p:nvSpPr>
          <p:cNvPr id="58" name="Text 56"/>
          <p:cNvSpPr/>
          <p:nvPr/>
        </p:nvSpPr>
        <p:spPr>
          <a:xfrm>
            <a:off x="6437376" y="4754880"/>
            <a:ext cx="2926080" cy="182880"/>
          </a:xfrm>
          <a:prstGeom prst="rect">
            <a:avLst/>
          </a:prstGeom>
          <a:noFill/>
          <a:ln/>
        </p:spPr>
        <p:txBody>
          <a:bodyPr wrap="square" lIns="0" tIns="0" rIns="0" bIns="0" rtlCol="0" anchor="ctr"/>
          <a:lstStyle/>
          <a:p>
            <a:pPr indent="0" marL="0">
              <a:buNone/>
            </a:pPr>
            <a:r>
              <a:rPr lang="en-US" sz="850" b="1" dirty="0">
                <a:solidFill>
                  <a:srgbClr val="F1C40F"/>
                </a:solidFill>
              </a:rPr>
              <a:t>Tech: Custom AI Economic Model</a:t>
            </a:r>
            <a:endParaRPr lang="en-US" sz="850" dirty="0"/>
          </a:p>
        </p:txBody>
      </p:sp>
      <p:sp>
        <p:nvSpPr>
          <p:cNvPr id="59" name="Text 57"/>
          <p:cNvSpPr/>
          <p:nvPr/>
        </p:nvSpPr>
        <p:spPr>
          <a:xfrm>
            <a:off x="9509760" y="4754880"/>
            <a:ext cx="2423160" cy="182880"/>
          </a:xfrm>
          <a:prstGeom prst="rect">
            <a:avLst/>
          </a:prstGeom>
          <a:noFill/>
          <a:ln/>
        </p:spPr>
        <p:txBody>
          <a:bodyPr wrap="square" lIns="0" tIns="0" rIns="0" bIns="0" rtlCol="0" anchor="ctr"/>
          <a:lstStyle/>
          <a:p>
            <a:pPr algn="r" indent="0" marL="0">
              <a:buNone/>
            </a:pPr>
            <a:r>
              <a:rPr lang="en-US" sz="800" dirty="0">
                <a:solidFill>
                  <a:srgbClr val="7F8C8D"/>
                </a:solidFill>
              </a:rPr>
              <a:t>Agent: AGT-04 + Impact Model</a:t>
            </a:r>
            <a:endParaRPr lang="en-US" sz="800" dirty="0"/>
          </a:p>
        </p:txBody>
      </p:sp>
      <p:sp>
        <p:nvSpPr>
          <p:cNvPr id="60" name="Shape 58"/>
          <p:cNvSpPr/>
          <p:nvPr/>
        </p:nvSpPr>
        <p:spPr>
          <a:xfrm>
            <a:off x="6437376" y="4992624"/>
            <a:ext cx="5486400" cy="0"/>
          </a:xfrm>
          <a:prstGeom prst="line">
            <a:avLst/>
          </a:prstGeom>
          <a:noFill/>
          <a:ln w="6350">
            <a:solidFill>
              <a:srgbClr val="ECF0F1"/>
            </a:solidFill>
            <a:prstDash val="solid"/>
          </a:ln>
        </p:spPr>
      </p:sp>
      <p:sp>
        <p:nvSpPr>
          <p:cNvPr id="61" name="Text 59"/>
          <p:cNvSpPr/>
          <p:nvPr/>
        </p:nvSpPr>
        <p:spPr>
          <a:xfrm>
            <a:off x="6437376" y="5084064"/>
            <a:ext cx="5486400" cy="237744"/>
          </a:xfrm>
          <a:prstGeom prst="rect">
            <a:avLst/>
          </a:prstGeom>
          <a:noFill/>
          <a:ln/>
        </p:spPr>
        <p:txBody>
          <a:bodyPr wrap="square" lIns="0" tIns="0" rIns="0" bIns="0" rtlCol="0" anchor="ctr"/>
          <a:lstStyle/>
          <a:p>
            <a:pPr indent="0" marL="0">
              <a:buNone/>
            </a:pPr>
            <a:r>
              <a:rPr lang="en-US" sz="850" b="1" dirty="0">
                <a:solidFill>
                  <a:srgbClr val="F1C40F"/>
                </a:solidFill>
              </a:rPr>
              <a:t>▸ </a:t>
            </a:r>
            <a:pPr indent="0" marL="0">
              <a:buNone/>
            </a:pPr>
            <a:r>
              <a:rPr lang="en-US" sz="850" dirty="0">
                <a:solidFill>
                  <a:srgbClr val="1A2C3E"/>
                </a:solidFill>
              </a:rPr>
              <a:t>Scenario form: Country · Sector · Investment Size · Zone selection</a:t>
            </a:r>
            <a:endParaRPr lang="en-US" sz="850" dirty="0"/>
          </a:p>
        </p:txBody>
      </p:sp>
      <p:sp>
        <p:nvSpPr>
          <p:cNvPr id="62" name="Text 60"/>
          <p:cNvSpPr/>
          <p:nvPr/>
        </p:nvSpPr>
        <p:spPr>
          <a:xfrm>
            <a:off x="6437376" y="5340096"/>
            <a:ext cx="5486400" cy="237744"/>
          </a:xfrm>
          <a:prstGeom prst="rect">
            <a:avLst/>
          </a:prstGeom>
          <a:noFill/>
          <a:ln/>
        </p:spPr>
        <p:txBody>
          <a:bodyPr wrap="square" lIns="0" tIns="0" rIns="0" bIns="0" rtlCol="0" anchor="ctr"/>
          <a:lstStyle/>
          <a:p>
            <a:pPr indent="0" marL="0">
              <a:buNone/>
            </a:pPr>
            <a:r>
              <a:rPr lang="en-US" sz="850" b="1" dirty="0">
                <a:solidFill>
                  <a:srgbClr val="F1C40F"/>
                </a:solidFill>
              </a:rPr>
              <a:t>▸ </a:t>
            </a:r>
            <a:pPr indent="0" marL="0">
              <a:buNone/>
            </a:pPr>
            <a:r>
              <a:rPr lang="en-US" sz="850" dirty="0">
                <a:solidFill>
                  <a:srgbClr val="1A2C3E"/>
                </a:solidFill>
              </a:rPr>
              <a:t>Economic Impact: GDP contribution · Direct &amp; indirect jobs · Value added</a:t>
            </a:r>
            <a:endParaRPr lang="en-US" sz="850" dirty="0"/>
          </a:p>
        </p:txBody>
      </p:sp>
      <p:sp>
        <p:nvSpPr>
          <p:cNvPr id="63" name="Text 61"/>
          <p:cNvSpPr/>
          <p:nvPr/>
        </p:nvSpPr>
        <p:spPr>
          <a:xfrm>
            <a:off x="6437376" y="5596128"/>
            <a:ext cx="5486400" cy="237744"/>
          </a:xfrm>
          <a:prstGeom prst="rect">
            <a:avLst/>
          </a:prstGeom>
          <a:noFill/>
          <a:ln/>
        </p:spPr>
        <p:txBody>
          <a:bodyPr wrap="square" lIns="0" tIns="0" rIns="0" bIns="0" rtlCol="0" anchor="ctr"/>
          <a:lstStyle/>
          <a:p>
            <a:pPr indent="0" marL="0">
              <a:buNone/>
            </a:pPr>
            <a:r>
              <a:rPr lang="en-US" sz="850" b="1" dirty="0">
                <a:solidFill>
                  <a:srgbClr val="F1C40F"/>
                </a:solidFill>
              </a:rPr>
              <a:t>▸ </a:t>
            </a:r>
            <a:pPr indent="0" marL="0">
              <a:buNone/>
            </a:pPr>
            <a:r>
              <a:rPr lang="en-US" sz="850" dirty="0">
                <a:solidFill>
                  <a:srgbClr val="1A2C3E"/>
                </a:solidFill>
              </a:rPr>
              <a:t>Operational Feasibility: Time to operation · Regulatory risk level · Key permits</a:t>
            </a:r>
            <a:endParaRPr lang="en-US" sz="850" dirty="0"/>
          </a:p>
        </p:txBody>
      </p:sp>
      <p:sp>
        <p:nvSpPr>
          <p:cNvPr id="64" name="Text 62"/>
          <p:cNvSpPr/>
          <p:nvPr/>
        </p:nvSpPr>
        <p:spPr>
          <a:xfrm>
            <a:off x="6437376" y="5852160"/>
            <a:ext cx="5486400" cy="237744"/>
          </a:xfrm>
          <a:prstGeom prst="rect">
            <a:avLst/>
          </a:prstGeom>
          <a:noFill/>
          <a:ln/>
        </p:spPr>
        <p:txBody>
          <a:bodyPr wrap="square" lIns="0" tIns="0" rIns="0" bIns="0" rtlCol="0" anchor="ctr"/>
          <a:lstStyle/>
          <a:p>
            <a:pPr indent="0" marL="0">
              <a:buNone/>
            </a:pPr>
            <a:r>
              <a:rPr lang="en-US" sz="850" b="1" dirty="0">
                <a:solidFill>
                  <a:srgbClr val="F1C40F"/>
                </a:solidFill>
              </a:rPr>
              <a:t>▸ </a:t>
            </a:r>
            <a:pPr indent="0" marL="0">
              <a:buNone/>
            </a:pPr>
            <a:r>
              <a:rPr lang="en-US" sz="850" dirty="0">
                <a:solidFill>
                  <a:srgbClr val="1A2C3E"/>
                </a:solidFill>
              </a:rPr>
              <a:t>Incentive Impact: Tax savings · Package applicability · Total incentive value</a:t>
            </a:r>
            <a:endParaRPr lang="en-US" sz="850" dirty="0"/>
          </a:p>
        </p:txBody>
      </p:sp>
      <p:sp>
        <p:nvSpPr>
          <p:cNvPr id="65" name="Text 63"/>
          <p:cNvSpPr/>
          <p:nvPr/>
        </p:nvSpPr>
        <p:spPr>
          <a:xfrm>
            <a:off x="6437376" y="6108192"/>
            <a:ext cx="5486400" cy="237744"/>
          </a:xfrm>
          <a:prstGeom prst="rect">
            <a:avLst/>
          </a:prstGeom>
          <a:noFill/>
          <a:ln/>
        </p:spPr>
        <p:txBody>
          <a:bodyPr wrap="square" lIns="0" tIns="0" rIns="0" bIns="0" rtlCol="0" anchor="ctr"/>
          <a:lstStyle/>
          <a:p>
            <a:pPr indent="0" marL="0">
              <a:buNone/>
            </a:pPr>
            <a:r>
              <a:rPr lang="en-US" sz="850" b="1" dirty="0">
                <a:solidFill>
                  <a:srgbClr val="F1C40F"/>
                </a:solidFill>
              </a:rPr>
              <a:t>▸ </a:t>
            </a:r>
            <a:pPr indent="0" marL="0">
              <a:buNone/>
            </a:pPr>
            <a:r>
              <a:rPr lang="en-US" sz="850" dirty="0">
                <a:solidFill>
                  <a:srgbClr val="1A2C3E"/>
                </a:solidFill>
              </a:rPr>
              <a:t>Risk Assessment: Political · Market · Operational risk scores</a:t>
            </a:r>
            <a:endParaRPr lang="en-US" sz="850" dirty="0"/>
          </a:p>
        </p:txBody>
      </p:sp>
      <p:sp>
        <p:nvSpPr>
          <p:cNvPr id="66" name="Text 64"/>
          <p:cNvSpPr/>
          <p:nvPr/>
        </p:nvSpPr>
        <p:spPr>
          <a:xfrm>
            <a:off x="6437376" y="6364224"/>
            <a:ext cx="5486400" cy="237744"/>
          </a:xfrm>
          <a:prstGeom prst="rect">
            <a:avLst/>
          </a:prstGeom>
          <a:noFill/>
          <a:ln/>
        </p:spPr>
        <p:txBody>
          <a:bodyPr wrap="square" lIns="0" tIns="0" rIns="0" bIns="0" rtlCol="0" anchor="ctr"/>
          <a:lstStyle/>
          <a:p>
            <a:pPr indent="0" marL="0">
              <a:buNone/>
            </a:pPr>
            <a:r>
              <a:rPr lang="en-US" sz="850" b="1" dirty="0">
                <a:solidFill>
                  <a:srgbClr val="F1C40F"/>
                </a:solidFill>
              </a:rPr>
              <a:t>▸ </a:t>
            </a:r>
            <a:pPr indent="0" marL="0">
              <a:buNone/>
            </a:pPr>
            <a:r>
              <a:rPr lang="en-US" sz="850" dirty="0">
                <a:solidFill>
                  <a:srgbClr val="1A2C3E"/>
                </a:solidFill>
              </a:rPr>
              <a:t>Sensitivity Analysis: ROI by investment size bar chart · [Generate Impact Report → PDF]</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GFR Ranking</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GFR Ranking  /gfr  —  Global Future Readiness</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Core platform feature · 6-dimension composite scoring · Technology: AI Agent AGT-05 GFR Ranking Agent</a:t>
            </a:r>
            <a:endParaRPr lang="en-US" sz="1000" dirty="0"/>
          </a:p>
        </p:txBody>
      </p:sp>
      <p:sp>
        <p:nvSpPr>
          <p:cNvPr id="10" name="Shape 8"/>
          <p:cNvSpPr/>
          <p:nvPr/>
        </p:nvSpPr>
        <p:spPr>
          <a:xfrm>
            <a:off x="365760" y="1463040"/>
            <a:ext cx="3785616" cy="157276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1" name="Shape 9"/>
          <p:cNvSpPr/>
          <p:nvPr/>
        </p:nvSpPr>
        <p:spPr>
          <a:xfrm>
            <a:off x="365760" y="1463040"/>
            <a:ext cx="3785616" cy="73152"/>
          </a:xfrm>
          <a:prstGeom prst="rect">
            <a:avLst/>
          </a:prstGeom>
          <a:solidFill>
            <a:srgbClr val="1A2C3E"/>
          </a:solidFill>
          <a:ln/>
        </p:spPr>
      </p:sp>
      <p:sp>
        <p:nvSpPr>
          <p:cNvPr id="12" name="Shape 10"/>
          <p:cNvSpPr/>
          <p:nvPr/>
        </p:nvSpPr>
        <p:spPr>
          <a:xfrm>
            <a:off x="3401568" y="1572768"/>
            <a:ext cx="621792" cy="329184"/>
          </a:xfrm>
          <a:prstGeom prst="rect">
            <a:avLst/>
          </a:prstGeom>
          <a:solidFill>
            <a:srgbClr val="1A2C3E"/>
          </a:solidFill>
          <a:ln/>
        </p:spPr>
      </p:sp>
      <p:sp>
        <p:nvSpPr>
          <p:cNvPr id="13" name="Text 11"/>
          <p:cNvSpPr/>
          <p:nvPr/>
        </p:nvSpPr>
        <p:spPr>
          <a:xfrm>
            <a:off x="3401568" y="1572768"/>
            <a:ext cx="621792" cy="329184"/>
          </a:xfrm>
          <a:prstGeom prst="rect">
            <a:avLst/>
          </a:prstGeom>
          <a:noFill/>
          <a:ln/>
        </p:spPr>
        <p:txBody>
          <a:bodyPr wrap="square" lIns="0" tIns="0" rIns="0" bIns="0" rtlCol="0" anchor="ctr"/>
          <a:lstStyle/>
          <a:p>
            <a:pPr algn="ctr" indent="0" marL="0">
              <a:buNone/>
            </a:pPr>
            <a:r>
              <a:rPr lang="en-US" sz="1400" b="1" dirty="0">
                <a:solidFill>
                  <a:srgbClr val="FFFFFF"/>
                </a:solidFill>
              </a:rPr>
              <a:t>20%</a:t>
            </a:r>
            <a:endParaRPr lang="en-US" sz="1400" dirty="0"/>
          </a:p>
        </p:txBody>
      </p:sp>
      <p:sp>
        <p:nvSpPr>
          <p:cNvPr id="14" name="Text 12"/>
          <p:cNvSpPr/>
          <p:nvPr/>
        </p:nvSpPr>
        <p:spPr>
          <a:xfrm>
            <a:off x="493776" y="1591056"/>
            <a:ext cx="548640" cy="292608"/>
          </a:xfrm>
          <a:prstGeom prst="rect">
            <a:avLst/>
          </a:prstGeom>
          <a:noFill/>
          <a:ln/>
        </p:spPr>
        <p:txBody>
          <a:bodyPr wrap="square" lIns="0" tIns="0" rIns="0" bIns="0" rtlCol="0" anchor="ctr"/>
          <a:lstStyle/>
          <a:p>
            <a:pPr indent="0" marL="0">
              <a:buNone/>
            </a:pPr>
            <a:r>
              <a:rPr lang="en-US" sz="1600" b="1" dirty="0">
                <a:solidFill>
                  <a:srgbClr val="1A2C3E"/>
                </a:solidFill>
              </a:rPr>
              <a:t>ETR</a:t>
            </a:r>
            <a:endParaRPr lang="en-US" sz="1600" dirty="0"/>
          </a:p>
        </p:txBody>
      </p:sp>
      <p:sp>
        <p:nvSpPr>
          <p:cNvPr id="15" name="Text 13"/>
          <p:cNvSpPr/>
          <p:nvPr/>
        </p:nvSpPr>
        <p:spPr>
          <a:xfrm>
            <a:off x="1097280" y="1609344"/>
            <a:ext cx="2194560" cy="274320"/>
          </a:xfrm>
          <a:prstGeom prst="rect">
            <a:avLst/>
          </a:prstGeom>
          <a:noFill/>
          <a:ln/>
        </p:spPr>
        <p:txBody>
          <a:bodyPr wrap="square" lIns="0" tIns="0" rIns="0" bIns="0" rtlCol="0" anchor="ctr"/>
          <a:lstStyle/>
          <a:p>
            <a:pPr indent="0" marL="0">
              <a:buNone/>
            </a:pPr>
            <a:r>
              <a:rPr lang="en-US" sz="1100" b="1" dirty="0">
                <a:solidFill>
                  <a:srgbClr val="1A2C3E"/>
                </a:solidFill>
              </a:rPr>
              <a:t>Economic &amp; Trade Resilience</a:t>
            </a:r>
            <a:endParaRPr lang="en-US" sz="1100" dirty="0"/>
          </a:p>
        </p:txBody>
      </p:sp>
      <p:sp>
        <p:nvSpPr>
          <p:cNvPr id="16" name="Shape 14"/>
          <p:cNvSpPr/>
          <p:nvPr/>
        </p:nvSpPr>
        <p:spPr>
          <a:xfrm>
            <a:off x="493776" y="1956816"/>
            <a:ext cx="3529584" cy="0"/>
          </a:xfrm>
          <a:prstGeom prst="line">
            <a:avLst/>
          </a:prstGeom>
          <a:noFill/>
          <a:ln w="6350">
            <a:solidFill>
              <a:srgbClr val="ECF0F1"/>
            </a:solidFill>
            <a:prstDash val="solid"/>
          </a:ln>
        </p:spPr>
      </p:sp>
      <p:sp>
        <p:nvSpPr>
          <p:cNvPr id="17" name="Text 15"/>
          <p:cNvSpPr/>
          <p:nvPr/>
        </p:nvSpPr>
        <p:spPr>
          <a:xfrm>
            <a:off x="493776" y="2029968"/>
            <a:ext cx="3529584" cy="694944"/>
          </a:xfrm>
          <a:prstGeom prst="rect">
            <a:avLst/>
          </a:prstGeom>
          <a:noFill/>
          <a:ln/>
        </p:spPr>
        <p:txBody>
          <a:bodyPr wrap="square" lIns="0" tIns="0" rIns="0" bIns="0" rtlCol="0" anchor="ctr"/>
          <a:lstStyle/>
          <a:p>
            <a:pPr indent="0" marL="0">
              <a:lnSpc>
                <a:spcPct val="145000"/>
              </a:lnSpc>
              <a:buNone/>
            </a:pPr>
            <a:r>
              <a:rPr lang="en-US" sz="950" dirty="0">
                <a:solidFill>
                  <a:srgbClr val="7F8C8D"/>
                </a:solidFill>
              </a:rPr>
              <a:t>Macro stability, trade openness, external balance, currency resilience index</a:t>
            </a:r>
            <a:endParaRPr lang="en-US" sz="950" dirty="0"/>
          </a:p>
        </p:txBody>
      </p:sp>
      <p:sp>
        <p:nvSpPr>
          <p:cNvPr id="18" name="Shape 16"/>
          <p:cNvSpPr/>
          <p:nvPr/>
        </p:nvSpPr>
        <p:spPr>
          <a:xfrm>
            <a:off x="493776" y="2779776"/>
            <a:ext cx="3529584" cy="182880"/>
          </a:xfrm>
          <a:prstGeom prst="rect">
            <a:avLst/>
          </a:prstGeom>
          <a:solidFill>
            <a:srgbClr val="F7F9FC"/>
          </a:solidFill>
          <a:ln w="3810">
            <a:solidFill>
              <a:srgbClr val="DDE4EA"/>
            </a:solidFill>
            <a:prstDash val="solid"/>
          </a:ln>
        </p:spPr>
      </p:sp>
      <p:sp>
        <p:nvSpPr>
          <p:cNvPr id="19" name="Shape 17"/>
          <p:cNvSpPr/>
          <p:nvPr/>
        </p:nvSpPr>
        <p:spPr>
          <a:xfrm>
            <a:off x="493776" y="2779776"/>
            <a:ext cx="2823667" cy="182880"/>
          </a:xfrm>
          <a:prstGeom prst="rect">
            <a:avLst/>
          </a:prstGeom>
          <a:solidFill>
            <a:srgbClr val="1A2C3E"/>
          </a:solidFill>
          <a:ln/>
        </p:spPr>
      </p:sp>
      <p:sp>
        <p:nvSpPr>
          <p:cNvPr id="20" name="Text 18"/>
          <p:cNvSpPr/>
          <p:nvPr/>
        </p:nvSpPr>
        <p:spPr>
          <a:xfrm>
            <a:off x="548640" y="2779776"/>
            <a:ext cx="3383280" cy="182880"/>
          </a:xfrm>
          <a:prstGeom prst="rect">
            <a:avLst/>
          </a:prstGeom>
          <a:noFill/>
          <a:ln/>
        </p:spPr>
        <p:txBody>
          <a:bodyPr wrap="square" lIns="0" tIns="0" rIns="0" bIns="0" rtlCol="0" anchor="ctr"/>
          <a:lstStyle/>
          <a:p>
            <a:pPr indent="0" marL="0">
              <a:buNone/>
            </a:pPr>
            <a:r>
              <a:rPr lang="en-US" sz="750" dirty="0">
                <a:solidFill>
                  <a:srgbClr val="FFFFFF"/>
                </a:solidFill>
              </a:rPr>
              <a:t>Sample: 80/100</a:t>
            </a:r>
            <a:endParaRPr lang="en-US" sz="750" dirty="0"/>
          </a:p>
        </p:txBody>
      </p:sp>
      <p:sp>
        <p:nvSpPr>
          <p:cNvPr id="21" name="Shape 19"/>
          <p:cNvSpPr/>
          <p:nvPr/>
        </p:nvSpPr>
        <p:spPr>
          <a:xfrm>
            <a:off x="4297680" y="1463040"/>
            <a:ext cx="3785616" cy="157276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22" name="Shape 20"/>
          <p:cNvSpPr/>
          <p:nvPr/>
        </p:nvSpPr>
        <p:spPr>
          <a:xfrm>
            <a:off x="4297680" y="1463040"/>
            <a:ext cx="3785616" cy="73152"/>
          </a:xfrm>
          <a:prstGeom prst="rect">
            <a:avLst/>
          </a:prstGeom>
          <a:solidFill>
            <a:srgbClr val="2ECC71"/>
          </a:solidFill>
          <a:ln/>
        </p:spPr>
      </p:sp>
      <p:sp>
        <p:nvSpPr>
          <p:cNvPr id="23" name="Shape 21"/>
          <p:cNvSpPr/>
          <p:nvPr/>
        </p:nvSpPr>
        <p:spPr>
          <a:xfrm>
            <a:off x="7333488" y="1572768"/>
            <a:ext cx="621792" cy="329184"/>
          </a:xfrm>
          <a:prstGeom prst="rect">
            <a:avLst/>
          </a:prstGeom>
          <a:solidFill>
            <a:srgbClr val="2ECC71"/>
          </a:solidFill>
          <a:ln/>
        </p:spPr>
      </p:sp>
      <p:sp>
        <p:nvSpPr>
          <p:cNvPr id="24" name="Text 22"/>
          <p:cNvSpPr/>
          <p:nvPr/>
        </p:nvSpPr>
        <p:spPr>
          <a:xfrm>
            <a:off x="7333488" y="1572768"/>
            <a:ext cx="621792" cy="329184"/>
          </a:xfrm>
          <a:prstGeom prst="rect">
            <a:avLst/>
          </a:prstGeom>
          <a:noFill/>
          <a:ln/>
        </p:spPr>
        <p:txBody>
          <a:bodyPr wrap="square" lIns="0" tIns="0" rIns="0" bIns="0" rtlCol="0" anchor="ctr"/>
          <a:lstStyle/>
          <a:p>
            <a:pPr algn="ctr" indent="0" marL="0">
              <a:buNone/>
            </a:pPr>
            <a:r>
              <a:rPr lang="en-US" sz="1400" b="1" dirty="0">
                <a:solidFill>
                  <a:srgbClr val="FFFFFF"/>
                </a:solidFill>
              </a:rPr>
              <a:t>18%</a:t>
            </a:r>
            <a:endParaRPr lang="en-US" sz="1400" dirty="0"/>
          </a:p>
        </p:txBody>
      </p:sp>
      <p:sp>
        <p:nvSpPr>
          <p:cNvPr id="25" name="Text 23"/>
          <p:cNvSpPr/>
          <p:nvPr/>
        </p:nvSpPr>
        <p:spPr>
          <a:xfrm>
            <a:off x="4425696" y="1591056"/>
            <a:ext cx="548640" cy="292608"/>
          </a:xfrm>
          <a:prstGeom prst="rect">
            <a:avLst/>
          </a:prstGeom>
          <a:noFill/>
          <a:ln/>
        </p:spPr>
        <p:txBody>
          <a:bodyPr wrap="square" lIns="0" tIns="0" rIns="0" bIns="0" rtlCol="0" anchor="ctr"/>
          <a:lstStyle/>
          <a:p>
            <a:pPr indent="0" marL="0">
              <a:buNone/>
            </a:pPr>
            <a:r>
              <a:rPr lang="en-US" sz="1600" b="1" dirty="0">
                <a:solidFill>
                  <a:srgbClr val="2ECC71"/>
                </a:solidFill>
              </a:rPr>
              <a:t>ICT</a:t>
            </a:r>
            <a:endParaRPr lang="en-US" sz="1600" dirty="0"/>
          </a:p>
        </p:txBody>
      </p:sp>
      <p:sp>
        <p:nvSpPr>
          <p:cNvPr id="26" name="Text 24"/>
          <p:cNvSpPr/>
          <p:nvPr/>
        </p:nvSpPr>
        <p:spPr>
          <a:xfrm>
            <a:off x="5029200" y="1609344"/>
            <a:ext cx="2194560" cy="274320"/>
          </a:xfrm>
          <a:prstGeom prst="rect">
            <a:avLst/>
          </a:prstGeom>
          <a:noFill/>
          <a:ln/>
        </p:spPr>
        <p:txBody>
          <a:bodyPr wrap="square" lIns="0" tIns="0" rIns="0" bIns="0" rtlCol="0" anchor="ctr"/>
          <a:lstStyle/>
          <a:p>
            <a:pPr indent="0" marL="0">
              <a:buNone/>
            </a:pPr>
            <a:r>
              <a:rPr lang="en-US" sz="1100" b="1" dirty="0">
                <a:solidFill>
                  <a:srgbClr val="1A2C3E"/>
                </a:solidFill>
              </a:rPr>
              <a:t>Innovation &amp; Creative Talent</a:t>
            </a:r>
            <a:endParaRPr lang="en-US" sz="1100" dirty="0"/>
          </a:p>
        </p:txBody>
      </p:sp>
      <p:sp>
        <p:nvSpPr>
          <p:cNvPr id="27" name="Shape 25"/>
          <p:cNvSpPr/>
          <p:nvPr/>
        </p:nvSpPr>
        <p:spPr>
          <a:xfrm>
            <a:off x="4425696" y="1956816"/>
            <a:ext cx="3529584" cy="0"/>
          </a:xfrm>
          <a:prstGeom prst="line">
            <a:avLst/>
          </a:prstGeom>
          <a:noFill/>
          <a:ln w="6350">
            <a:solidFill>
              <a:srgbClr val="ECF0F1"/>
            </a:solidFill>
            <a:prstDash val="solid"/>
          </a:ln>
        </p:spPr>
      </p:sp>
      <p:sp>
        <p:nvSpPr>
          <p:cNvPr id="28" name="Text 26"/>
          <p:cNvSpPr/>
          <p:nvPr/>
        </p:nvSpPr>
        <p:spPr>
          <a:xfrm>
            <a:off x="4425696" y="2029968"/>
            <a:ext cx="3529584" cy="694944"/>
          </a:xfrm>
          <a:prstGeom prst="rect">
            <a:avLst/>
          </a:prstGeom>
          <a:noFill/>
          <a:ln/>
        </p:spPr>
        <p:txBody>
          <a:bodyPr wrap="square" lIns="0" tIns="0" rIns="0" bIns="0" rtlCol="0" anchor="ctr"/>
          <a:lstStyle/>
          <a:p>
            <a:pPr indent="0" marL="0">
              <a:lnSpc>
                <a:spcPct val="145000"/>
              </a:lnSpc>
              <a:buNone/>
            </a:pPr>
            <a:r>
              <a:rPr lang="en-US" sz="950" dirty="0">
                <a:solidFill>
                  <a:srgbClr val="7F8C8D"/>
                </a:solidFill>
              </a:rPr>
              <a:t>R&amp;D spend, patent filings, STEM graduates, startup ecosystem vitality score</a:t>
            </a:r>
            <a:endParaRPr lang="en-US" sz="950" dirty="0"/>
          </a:p>
        </p:txBody>
      </p:sp>
      <p:sp>
        <p:nvSpPr>
          <p:cNvPr id="29" name="Shape 27"/>
          <p:cNvSpPr/>
          <p:nvPr/>
        </p:nvSpPr>
        <p:spPr>
          <a:xfrm>
            <a:off x="4425696" y="2779776"/>
            <a:ext cx="3529584" cy="182880"/>
          </a:xfrm>
          <a:prstGeom prst="rect">
            <a:avLst/>
          </a:prstGeom>
          <a:solidFill>
            <a:srgbClr val="F7F9FC"/>
          </a:solidFill>
          <a:ln w="3810">
            <a:solidFill>
              <a:srgbClr val="DDE4EA"/>
            </a:solidFill>
            <a:prstDash val="solid"/>
          </a:ln>
        </p:spPr>
      </p:sp>
      <p:sp>
        <p:nvSpPr>
          <p:cNvPr id="30" name="Shape 28"/>
          <p:cNvSpPr/>
          <p:nvPr/>
        </p:nvSpPr>
        <p:spPr>
          <a:xfrm>
            <a:off x="4425696" y="2779776"/>
            <a:ext cx="2823667" cy="182880"/>
          </a:xfrm>
          <a:prstGeom prst="rect">
            <a:avLst/>
          </a:prstGeom>
          <a:solidFill>
            <a:srgbClr val="2ECC71"/>
          </a:solidFill>
          <a:ln/>
        </p:spPr>
      </p:sp>
      <p:sp>
        <p:nvSpPr>
          <p:cNvPr id="31" name="Text 29"/>
          <p:cNvSpPr/>
          <p:nvPr/>
        </p:nvSpPr>
        <p:spPr>
          <a:xfrm>
            <a:off x="4480560" y="2779776"/>
            <a:ext cx="3383280" cy="182880"/>
          </a:xfrm>
          <a:prstGeom prst="rect">
            <a:avLst/>
          </a:prstGeom>
          <a:noFill/>
          <a:ln/>
        </p:spPr>
        <p:txBody>
          <a:bodyPr wrap="square" lIns="0" tIns="0" rIns="0" bIns="0" rtlCol="0" anchor="ctr"/>
          <a:lstStyle/>
          <a:p>
            <a:pPr indent="0" marL="0">
              <a:buNone/>
            </a:pPr>
            <a:r>
              <a:rPr lang="en-US" sz="750" dirty="0">
                <a:solidFill>
                  <a:srgbClr val="FFFFFF"/>
                </a:solidFill>
              </a:rPr>
              <a:t>Sample: 80/100</a:t>
            </a:r>
            <a:endParaRPr lang="en-US" sz="750" dirty="0"/>
          </a:p>
        </p:txBody>
      </p:sp>
      <p:sp>
        <p:nvSpPr>
          <p:cNvPr id="32" name="Shape 30"/>
          <p:cNvSpPr/>
          <p:nvPr/>
        </p:nvSpPr>
        <p:spPr>
          <a:xfrm>
            <a:off x="8229600" y="1463040"/>
            <a:ext cx="3785616" cy="157276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3" name="Shape 31"/>
          <p:cNvSpPr/>
          <p:nvPr/>
        </p:nvSpPr>
        <p:spPr>
          <a:xfrm>
            <a:off x="8229600" y="1463040"/>
            <a:ext cx="3785616" cy="73152"/>
          </a:xfrm>
          <a:prstGeom prst="rect">
            <a:avLst/>
          </a:prstGeom>
          <a:solidFill>
            <a:srgbClr val="3498DB"/>
          </a:solidFill>
          <a:ln/>
        </p:spPr>
      </p:sp>
      <p:sp>
        <p:nvSpPr>
          <p:cNvPr id="34" name="Shape 32"/>
          <p:cNvSpPr/>
          <p:nvPr/>
        </p:nvSpPr>
        <p:spPr>
          <a:xfrm>
            <a:off x="11265408" y="1572768"/>
            <a:ext cx="621792" cy="329184"/>
          </a:xfrm>
          <a:prstGeom prst="rect">
            <a:avLst/>
          </a:prstGeom>
          <a:solidFill>
            <a:srgbClr val="3498DB"/>
          </a:solidFill>
          <a:ln/>
        </p:spPr>
      </p:sp>
      <p:sp>
        <p:nvSpPr>
          <p:cNvPr id="35" name="Text 33"/>
          <p:cNvSpPr/>
          <p:nvPr/>
        </p:nvSpPr>
        <p:spPr>
          <a:xfrm>
            <a:off x="11265408" y="1572768"/>
            <a:ext cx="621792" cy="329184"/>
          </a:xfrm>
          <a:prstGeom prst="rect">
            <a:avLst/>
          </a:prstGeom>
          <a:noFill/>
          <a:ln/>
        </p:spPr>
        <p:txBody>
          <a:bodyPr wrap="square" lIns="0" tIns="0" rIns="0" bIns="0" rtlCol="0" anchor="ctr"/>
          <a:lstStyle/>
          <a:p>
            <a:pPr algn="ctr" indent="0" marL="0">
              <a:buNone/>
            </a:pPr>
            <a:r>
              <a:rPr lang="en-US" sz="1400" b="1" dirty="0">
                <a:solidFill>
                  <a:srgbClr val="FFFFFF"/>
                </a:solidFill>
              </a:rPr>
              <a:t>18%</a:t>
            </a:r>
            <a:endParaRPr lang="en-US" sz="1400" dirty="0"/>
          </a:p>
        </p:txBody>
      </p:sp>
      <p:sp>
        <p:nvSpPr>
          <p:cNvPr id="36" name="Text 34"/>
          <p:cNvSpPr/>
          <p:nvPr/>
        </p:nvSpPr>
        <p:spPr>
          <a:xfrm>
            <a:off x="8357616" y="1591056"/>
            <a:ext cx="548640" cy="292608"/>
          </a:xfrm>
          <a:prstGeom prst="rect">
            <a:avLst/>
          </a:prstGeom>
          <a:noFill/>
          <a:ln/>
        </p:spPr>
        <p:txBody>
          <a:bodyPr wrap="square" lIns="0" tIns="0" rIns="0" bIns="0" rtlCol="0" anchor="ctr"/>
          <a:lstStyle/>
          <a:p>
            <a:pPr indent="0" marL="0">
              <a:buNone/>
            </a:pPr>
            <a:r>
              <a:rPr lang="en-US" sz="1600" b="1" dirty="0">
                <a:solidFill>
                  <a:srgbClr val="3498DB"/>
                </a:solidFill>
              </a:rPr>
              <a:t>TCM</a:t>
            </a:r>
            <a:endParaRPr lang="en-US" sz="1600" dirty="0"/>
          </a:p>
        </p:txBody>
      </p:sp>
      <p:sp>
        <p:nvSpPr>
          <p:cNvPr id="37" name="Text 35"/>
          <p:cNvSpPr/>
          <p:nvPr/>
        </p:nvSpPr>
        <p:spPr>
          <a:xfrm>
            <a:off x="8961120" y="1609344"/>
            <a:ext cx="2194560" cy="274320"/>
          </a:xfrm>
          <a:prstGeom prst="rect">
            <a:avLst/>
          </a:prstGeom>
          <a:noFill/>
          <a:ln/>
        </p:spPr>
        <p:txBody>
          <a:bodyPr wrap="square" lIns="0" tIns="0" rIns="0" bIns="0" rtlCol="0" anchor="ctr"/>
          <a:lstStyle/>
          <a:p>
            <a:pPr indent="0" marL="0">
              <a:buNone/>
            </a:pPr>
            <a:r>
              <a:rPr lang="en-US" sz="1100" b="1" dirty="0">
                <a:solidFill>
                  <a:srgbClr val="1A2C3E"/>
                </a:solidFill>
              </a:rPr>
              <a:t>Trade &amp; Capital Mobility</a:t>
            </a:r>
            <a:endParaRPr lang="en-US" sz="1100" dirty="0"/>
          </a:p>
        </p:txBody>
      </p:sp>
      <p:sp>
        <p:nvSpPr>
          <p:cNvPr id="38" name="Shape 36"/>
          <p:cNvSpPr/>
          <p:nvPr/>
        </p:nvSpPr>
        <p:spPr>
          <a:xfrm>
            <a:off x="8357616" y="1956816"/>
            <a:ext cx="3529584" cy="0"/>
          </a:xfrm>
          <a:prstGeom prst="line">
            <a:avLst/>
          </a:prstGeom>
          <a:noFill/>
          <a:ln w="6350">
            <a:solidFill>
              <a:srgbClr val="ECF0F1"/>
            </a:solidFill>
            <a:prstDash val="solid"/>
          </a:ln>
        </p:spPr>
      </p:sp>
      <p:sp>
        <p:nvSpPr>
          <p:cNvPr id="39" name="Text 37"/>
          <p:cNvSpPr/>
          <p:nvPr/>
        </p:nvSpPr>
        <p:spPr>
          <a:xfrm>
            <a:off x="8357616" y="2029968"/>
            <a:ext cx="3529584" cy="694944"/>
          </a:xfrm>
          <a:prstGeom prst="rect">
            <a:avLst/>
          </a:prstGeom>
          <a:noFill/>
          <a:ln/>
        </p:spPr>
        <p:txBody>
          <a:bodyPr wrap="square" lIns="0" tIns="0" rIns="0" bIns="0" rtlCol="0" anchor="ctr"/>
          <a:lstStyle/>
          <a:p>
            <a:pPr indent="0" marL="0">
              <a:lnSpc>
                <a:spcPct val="145000"/>
              </a:lnSpc>
              <a:buNone/>
            </a:pPr>
            <a:r>
              <a:rPr lang="en-US" sz="950" dirty="0">
                <a:solidFill>
                  <a:srgbClr val="7F8C8D"/>
                </a:solidFill>
              </a:rPr>
              <a:t>FDI inflows trend, capital controls index, current account, trade facilitation</a:t>
            </a:r>
            <a:endParaRPr lang="en-US" sz="950" dirty="0"/>
          </a:p>
        </p:txBody>
      </p:sp>
      <p:sp>
        <p:nvSpPr>
          <p:cNvPr id="40" name="Shape 38"/>
          <p:cNvSpPr/>
          <p:nvPr/>
        </p:nvSpPr>
        <p:spPr>
          <a:xfrm>
            <a:off x="8357616" y="2779776"/>
            <a:ext cx="3529584" cy="182880"/>
          </a:xfrm>
          <a:prstGeom prst="rect">
            <a:avLst/>
          </a:prstGeom>
          <a:solidFill>
            <a:srgbClr val="F7F9FC"/>
          </a:solidFill>
          <a:ln w="3810">
            <a:solidFill>
              <a:srgbClr val="DDE4EA"/>
            </a:solidFill>
            <a:prstDash val="solid"/>
          </a:ln>
        </p:spPr>
      </p:sp>
      <p:sp>
        <p:nvSpPr>
          <p:cNvPr id="41" name="Shape 39"/>
          <p:cNvSpPr/>
          <p:nvPr/>
        </p:nvSpPr>
        <p:spPr>
          <a:xfrm>
            <a:off x="8357616" y="2779776"/>
            <a:ext cx="2823667" cy="182880"/>
          </a:xfrm>
          <a:prstGeom prst="rect">
            <a:avLst/>
          </a:prstGeom>
          <a:solidFill>
            <a:srgbClr val="3498DB"/>
          </a:solidFill>
          <a:ln/>
        </p:spPr>
      </p:sp>
      <p:sp>
        <p:nvSpPr>
          <p:cNvPr id="42" name="Text 40"/>
          <p:cNvSpPr/>
          <p:nvPr/>
        </p:nvSpPr>
        <p:spPr>
          <a:xfrm>
            <a:off x="8412480" y="2779776"/>
            <a:ext cx="3383280" cy="182880"/>
          </a:xfrm>
          <a:prstGeom prst="rect">
            <a:avLst/>
          </a:prstGeom>
          <a:noFill/>
          <a:ln/>
        </p:spPr>
        <p:txBody>
          <a:bodyPr wrap="square" lIns="0" tIns="0" rIns="0" bIns="0" rtlCol="0" anchor="ctr"/>
          <a:lstStyle/>
          <a:p>
            <a:pPr indent="0" marL="0">
              <a:buNone/>
            </a:pPr>
            <a:r>
              <a:rPr lang="en-US" sz="750" dirty="0">
                <a:solidFill>
                  <a:srgbClr val="FFFFFF"/>
                </a:solidFill>
              </a:rPr>
              <a:t>Sample: 80/100</a:t>
            </a:r>
            <a:endParaRPr lang="en-US" sz="750" dirty="0"/>
          </a:p>
        </p:txBody>
      </p:sp>
      <p:sp>
        <p:nvSpPr>
          <p:cNvPr id="43" name="Shape 41"/>
          <p:cNvSpPr/>
          <p:nvPr/>
        </p:nvSpPr>
        <p:spPr>
          <a:xfrm>
            <a:off x="365760" y="3127248"/>
            <a:ext cx="3785616" cy="157276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4" name="Shape 42"/>
          <p:cNvSpPr/>
          <p:nvPr/>
        </p:nvSpPr>
        <p:spPr>
          <a:xfrm>
            <a:off x="365760" y="3127248"/>
            <a:ext cx="3785616" cy="73152"/>
          </a:xfrm>
          <a:prstGeom prst="rect">
            <a:avLst/>
          </a:prstGeom>
          <a:solidFill>
            <a:srgbClr val="9B59B6"/>
          </a:solidFill>
          <a:ln/>
        </p:spPr>
      </p:sp>
      <p:sp>
        <p:nvSpPr>
          <p:cNvPr id="45" name="Shape 43"/>
          <p:cNvSpPr/>
          <p:nvPr/>
        </p:nvSpPr>
        <p:spPr>
          <a:xfrm>
            <a:off x="3401568" y="3236976"/>
            <a:ext cx="621792" cy="329184"/>
          </a:xfrm>
          <a:prstGeom prst="rect">
            <a:avLst/>
          </a:prstGeom>
          <a:solidFill>
            <a:srgbClr val="9B59B6"/>
          </a:solidFill>
          <a:ln/>
        </p:spPr>
      </p:sp>
      <p:sp>
        <p:nvSpPr>
          <p:cNvPr id="46" name="Text 44"/>
          <p:cNvSpPr/>
          <p:nvPr/>
        </p:nvSpPr>
        <p:spPr>
          <a:xfrm>
            <a:off x="3401568" y="3236976"/>
            <a:ext cx="621792" cy="329184"/>
          </a:xfrm>
          <a:prstGeom prst="rect">
            <a:avLst/>
          </a:prstGeom>
          <a:noFill/>
          <a:ln/>
        </p:spPr>
        <p:txBody>
          <a:bodyPr wrap="square" lIns="0" tIns="0" rIns="0" bIns="0" rtlCol="0" anchor="ctr"/>
          <a:lstStyle/>
          <a:p>
            <a:pPr algn="ctr" indent="0" marL="0">
              <a:buNone/>
            </a:pPr>
            <a:r>
              <a:rPr lang="en-US" sz="1400" b="1" dirty="0">
                <a:solidFill>
                  <a:srgbClr val="FFFFFF"/>
                </a:solidFill>
              </a:rPr>
              <a:t>16%</a:t>
            </a:r>
            <a:endParaRPr lang="en-US" sz="1400" dirty="0"/>
          </a:p>
        </p:txBody>
      </p:sp>
      <p:sp>
        <p:nvSpPr>
          <p:cNvPr id="47" name="Text 45"/>
          <p:cNvSpPr/>
          <p:nvPr/>
        </p:nvSpPr>
        <p:spPr>
          <a:xfrm>
            <a:off x="493776" y="3255264"/>
            <a:ext cx="548640" cy="292608"/>
          </a:xfrm>
          <a:prstGeom prst="rect">
            <a:avLst/>
          </a:prstGeom>
          <a:noFill/>
          <a:ln/>
        </p:spPr>
        <p:txBody>
          <a:bodyPr wrap="square" lIns="0" tIns="0" rIns="0" bIns="0" rtlCol="0" anchor="ctr"/>
          <a:lstStyle/>
          <a:p>
            <a:pPr indent="0" marL="0">
              <a:buNone/>
            </a:pPr>
            <a:r>
              <a:rPr lang="en-US" sz="1600" b="1" dirty="0">
                <a:solidFill>
                  <a:srgbClr val="9B59B6"/>
                </a:solidFill>
              </a:rPr>
              <a:t>DTF</a:t>
            </a:r>
            <a:endParaRPr lang="en-US" sz="1600" dirty="0"/>
          </a:p>
        </p:txBody>
      </p:sp>
      <p:sp>
        <p:nvSpPr>
          <p:cNvPr id="48" name="Text 46"/>
          <p:cNvSpPr/>
          <p:nvPr/>
        </p:nvSpPr>
        <p:spPr>
          <a:xfrm>
            <a:off x="1097280" y="3273552"/>
            <a:ext cx="2194560" cy="274320"/>
          </a:xfrm>
          <a:prstGeom prst="rect">
            <a:avLst/>
          </a:prstGeom>
          <a:noFill/>
          <a:ln/>
        </p:spPr>
        <p:txBody>
          <a:bodyPr wrap="square" lIns="0" tIns="0" rIns="0" bIns="0" rtlCol="0" anchor="ctr"/>
          <a:lstStyle/>
          <a:p>
            <a:pPr indent="0" marL="0">
              <a:buNone/>
            </a:pPr>
            <a:r>
              <a:rPr lang="en-US" sz="1100" b="1" dirty="0">
                <a:solidFill>
                  <a:srgbClr val="1A2C3E"/>
                </a:solidFill>
              </a:rPr>
              <a:t>Digital &amp; Tech Frontier</a:t>
            </a:r>
            <a:endParaRPr lang="en-US" sz="1100" dirty="0"/>
          </a:p>
        </p:txBody>
      </p:sp>
      <p:sp>
        <p:nvSpPr>
          <p:cNvPr id="49" name="Shape 47"/>
          <p:cNvSpPr/>
          <p:nvPr/>
        </p:nvSpPr>
        <p:spPr>
          <a:xfrm>
            <a:off x="493776" y="3621024"/>
            <a:ext cx="3529584" cy="0"/>
          </a:xfrm>
          <a:prstGeom prst="line">
            <a:avLst/>
          </a:prstGeom>
          <a:noFill/>
          <a:ln w="6350">
            <a:solidFill>
              <a:srgbClr val="ECF0F1"/>
            </a:solidFill>
            <a:prstDash val="solid"/>
          </a:ln>
        </p:spPr>
      </p:sp>
      <p:sp>
        <p:nvSpPr>
          <p:cNvPr id="50" name="Text 48"/>
          <p:cNvSpPr/>
          <p:nvPr/>
        </p:nvSpPr>
        <p:spPr>
          <a:xfrm>
            <a:off x="493776" y="3694176"/>
            <a:ext cx="3529584" cy="694944"/>
          </a:xfrm>
          <a:prstGeom prst="rect">
            <a:avLst/>
          </a:prstGeom>
          <a:noFill/>
          <a:ln/>
        </p:spPr>
        <p:txBody>
          <a:bodyPr wrap="square" lIns="0" tIns="0" rIns="0" bIns="0" rtlCol="0" anchor="ctr"/>
          <a:lstStyle/>
          <a:p>
            <a:pPr indent="0" marL="0">
              <a:lnSpc>
                <a:spcPct val="145000"/>
              </a:lnSpc>
              <a:buNone/>
            </a:pPr>
            <a:r>
              <a:rPr lang="en-US" sz="950" dirty="0">
                <a:solidFill>
                  <a:srgbClr val="7F8C8D"/>
                </a:solidFill>
              </a:rPr>
              <a:t>Broadband penetration, cloud adoption rate, digital government, AI readiness</a:t>
            </a:r>
            <a:endParaRPr lang="en-US" sz="950" dirty="0"/>
          </a:p>
        </p:txBody>
      </p:sp>
      <p:sp>
        <p:nvSpPr>
          <p:cNvPr id="51" name="Shape 49"/>
          <p:cNvSpPr/>
          <p:nvPr/>
        </p:nvSpPr>
        <p:spPr>
          <a:xfrm>
            <a:off x="493776" y="4443984"/>
            <a:ext cx="3529584" cy="182880"/>
          </a:xfrm>
          <a:prstGeom prst="rect">
            <a:avLst/>
          </a:prstGeom>
          <a:solidFill>
            <a:srgbClr val="F7F9FC"/>
          </a:solidFill>
          <a:ln w="3810">
            <a:solidFill>
              <a:srgbClr val="DDE4EA"/>
            </a:solidFill>
            <a:prstDash val="solid"/>
          </a:ln>
        </p:spPr>
      </p:sp>
      <p:sp>
        <p:nvSpPr>
          <p:cNvPr id="52" name="Shape 50"/>
          <p:cNvSpPr/>
          <p:nvPr/>
        </p:nvSpPr>
        <p:spPr>
          <a:xfrm>
            <a:off x="493776" y="4443984"/>
            <a:ext cx="2823667" cy="182880"/>
          </a:xfrm>
          <a:prstGeom prst="rect">
            <a:avLst/>
          </a:prstGeom>
          <a:solidFill>
            <a:srgbClr val="9B59B6"/>
          </a:solidFill>
          <a:ln/>
        </p:spPr>
      </p:sp>
      <p:sp>
        <p:nvSpPr>
          <p:cNvPr id="53" name="Text 51"/>
          <p:cNvSpPr/>
          <p:nvPr/>
        </p:nvSpPr>
        <p:spPr>
          <a:xfrm>
            <a:off x="548640" y="4443984"/>
            <a:ext cx="3383280" cy="182880"/>
          </a:xfrm>
          <a:prstGeom prst="rect">
            <a:avLst/>
          </a:prstGeom>
          <a:noFill/>
          <a:ln/>
        </p:spPr>
        <p:txBody>
          <a:bodyPr wrap="square" lIns="0" tIns="0" rIns="0" bIns="0" rtlCol="0" anchor="ctr"/>
          <a:lstStyle/>
          <a:p>
            <a:pPr indent="0" marL="0">
              <a:buNone/>
            </a:pPr>
            <a:r>
              <a:rPr lang="en-US" sz="750" dirty="0">
                <a:solidFill>
                  <a:srgbClr val="FFFFFF"/>
                </a:solidFill>
              </a:rPr>
              <a:t>Sample: 80/100</a:t>
            </a:r>
            <a:endParaRPr lang="en-US" sz="750" dirty="0"/>
          </a:p>
        </p:txBody>
      </p:sp>
      <p:sp>
        <p:nvSpPr>
          <p:cNvPr id="54" name="Shape 52"/>
          <p:cNvSpPr/>
          <p:nvPr/>
        </p:nvSpPr>
        <p:spPr>
          <a:xfrm>
            <a:off x="4297680" y="3127248"/>
            <a:ext cx="3785616" cy="157276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5" name="Shape 53"/>
          <p:cNvSpPr/>
          <p:nvPr/>
        </p:nvSpPr>
        <p:spPr>
          <a:xfrm>
            <a:off x="4297680" y="3127248"/>
            <a:ext cx="3785616" cy="73152"/>
          </a:xfrm>
          <a:prstGeom prst="rect">
            <a:avLst/>
          </a:prstGeom>
          <a:solidFill>
            <a:srgbClr val="27AE60"/>
          </a:solidFill>
          <a:ln/>
        </p:spPr>
      </p:sp>
      <p:sp>
        <p:nvSpPr>
          <p:cNvPr id="56" name="Shape 54"/>
          <p:cNvSpPr/>
          <p:nvPr/>
        </p:nvSpPr>
        <p:spPr>
          <a:xfrm>
            <a:off x="7333488" y="3236976"/>
            <a:ext cx="621792" cy="329184"/>
          </a:xfrm>
          <a:prstGeom prst="rect">
            <a:avLst/>
          </a:prstGeom>
          <a:solidFill>
            <a:srgbClr val="27AE60"/>
          </a:solidFill>
          <a:ln/>
        </p:spPr>
      </p:sp>
      <p:sp>
        <p:nvSpPr>
          <p:cNvPr id="57" name="Text 55"/>
          <p:cNvSpPr/>
          <p:nvPr/>
        </p:nvSpPr>
        <p:spPr>
          <a:xfrm>
            <a:off x="7333488" y="3236976"/>
            <a:ext cx="621792" cy="329184"/>
          </a:xfrm>
          <a:prstGeom prst="rect">
            <a:avLst/>
          </a:prstGeom>
          <a:noFill/>
          <a:ln/>
        </p:spPr>
        <p:txBody>
          <a:bodyPr wrap="square" lIns="0" tIns="0" rIns="0" bIns="0" rtlCol="0" anchor="ctr"/>
          <a:lstStyle/>
          <a:p>
            <a:pPr algn="ctr" indent="0" marL="0">
              <a:buNone/>
            </a:pPr>
            <a:r>
              <a:rPr lang="en-US" sz="1400" b="1" dirty="0">
                <a:solidFill>
                  <a:srgbClr val="FFFFFF"/>
                </a:solidFill>
              </a:rPr>
              <a:t>15%</a:t>
            </a:r>
            <a:endParaRPr lang="en-US" sz="1400" dirty="0"/>
          </a:p>
        </p:txBody>
      </p:sp>
      <p:sp>
        <p:nvSpPr>
          <p:cNvPr id="58" name="Text 56"/>
          <p:cNvSpPr/>
          <p:nvPr/>
        </p:nvSpPr>
        <p:spPr>
          <a:xfrm>
            <a:off x="4425696" y="3255264"/>
            <a:ext cx="548640" cy="292608"/>
          </a:xfrm>
          <a:prstGeom prst="rect">
            <a:avLst/>
          </a:prstGeom>
          <a:noFill/>
          <a:ln/>
        </p:spPr>
        <p:txBody>
          <a:bodyPr wrap="square" lIns="0" tIns="0" rIns="0" bIns="0" rtlCol="0" anchor="ctr"/>
          <a:lstStyle/>
          <a:p>
            <a:pPr indent="0" marL="0">
              <a:buNone/>
            </a:pPr>
            <a:r>
              <a:rPr lang="en-US" sz="1600" b="1" dirty="0">
                <a:solidFill>
                  <a:srgbClr val="27AE60"/>
                </a:solidFill>
              </a:rPr>
              <a:t>SGT</a:t>
            </a:r>
            <a:endParaRPr lang="en-US" sz="1600" dirty="0"/>
          </a:p>
        </p:txBody>
      </p:sp>
      <p:sp>
        <p:nvSpPr>
          <p:cNvPr id="59" name="Text 57"/>
          <p:cNvSpPr/>
          <p:nvPr/>
        </p:nvSpPr>
        <p:spPr>
          <a:xfrm>
            <a:off x="5029200" y="3273552"/>
            <a:ext cx="2194560" cy="274320"/>
          </a:xfrm>
          <a:prstGeom prst="rect">
            <a:avLst/>
          </a:prstGeom>
          <a:noFill/>
          <a:ln/>
        </p:spPr>
        <p:txBody>
          <a:bodyPr wrap="square" lIns="0" tIns="0" rIns="0" bIns="0" rtlCol="0" anchor="ctr"/>
          <a:lstStyle/>
          <a:p>
            <a:pPr indent="0" marL="0">
              <a:buNone/>
            </a:pPr>
            <a:r>
              <a:rPr lang="en-US" sz="1100" b="1" dirty="0">
                <a:solidFill>
                  <a:srgbClr val="1A2C3E"/>
                </a:solidFill>
              </a:rPr>
              <a:t>Sustainable Growth Trajectory</a:t>
            </a:r>
            <a:endParaRPr lang="en-US" sz="1100" dirty="0"/>
          </a:p>
        </p:txBody>
      </p:sp>
      <p:sp>
        <p:nvSpPr>
          <p:cNvPr id="60" name="Shape 58"/>
          <p:cNvSpPr/>
          <p:nvPr/>
        </p:nvSpPr>
        <p:spPr>
          <a:xfrm>
            <a:off x="4425696" y="3621024"/>
            <a:ext cx="3529584" cy="0"/>
          </a:xfrm>
          <a:prstGeom prst="line">
            <a:avLst/>
          </a:prstGeom>
          <a:noFill/>
          <a:ln w="6350">
            <a:solidFill>
              <a:srgbClr val="ECF0F1"/>
            </a:solidFill>
            <a:prstDash val="solid"/>
          </a:ln>
        </p:spPr>
      </p:sp>
      <p:sp>
        <p:nvSpPr>
          <p:cNvPr id="61" name="Text 59"/>
          <p:cNvSpPr/>
          <p:nvPr/>
        </p:nvSpPr>
        <p:spPr>
          <a:xfrm>
            <a:off x="4425696" y="3694176"/>
            <a:ext cx="3529584" cy="694944"/>
          </a:xfrm>
          <a:prstGeom prst="rect">
            <a:avLst/>
          </a:prstGeom>
          <a:noFill/>
          <a:ln/>
        </p:spPr>
        <p:txBody>
          <a:bodyPr wrap="square" lIns="0" tIns="0" rIns="0" bIns="0" rtlCol="0" anchor="ctr"/>
          <a:lstStyle/>
          <a:p>
            <a:pPr indent="0" marL="0">
              <a:lnSpc>
                <a:spcPct val="145000"/>
              </a:lnSpc>
              <a:buNone/>
            </a:pPr>
            <a:r>
              <a:rPr lang="en-US" sz="950" dirty="0">
                <a:solidFill>
                  <a:srgbClr val="7F8C8D"/>
                </a:solidFill>
              </a:rPr>
              <a:t>Green investment share, carbon intensity, ESG governance quality, SDG progress</a:t>
            </a:r>
            <a:endParaRPr lang="en-US" sz="950" dirty="0"/>
          </a:p>
        </p:txBody>
      </p:sp>
      <p:sp>
        <p:nvSpPr>
          <p:cNvPr id="62" name="Shape 60"/>
          <p:cNvSpPr/>
          <p:nvPr/>
        </p:nvSpPr>
        <p:spPr>
          <a:xfrm>
            <a:off x="4425696" y="4443984"/>
            <a:ext cx="3529584" cy="182880"/>
          </a:xfrm>
          <a:prstGeom prst="rect">
            <a:avLst/>
          </a:prstGeom>
          <a:solidFill>
            <a:srgbClr val="F7F9FC"/>
          </a:solidFill>
          <a:ln w="3810">
            <a:solidFill>
              <a:srgbClr val="DDE4EA"/>
            </a:solidFill>
            <a:prstDash val="solid"/>
          </a:ln>
        </p:spPr>
      </p:sp>
      <p:sp>
        <p:nvSpPr>
          <p:cNvPr id="63" name="Shape 61"/>
          <p:cNvSpPr/>
          <p:nvPr/>
        </p:nvSpPr>
        <p:spPr>
          <a:xfrm>
            <a:off x="4425696" y="4443984"/>
            <a:ext cx="2823667" cy="182880"/>
          </a:xfrm>
          <a:prstGeom prst="rect">
            <a:avLst/>
          </a:prstGeom>
          <a:solidFill>
            <a:srgbClr val="27AE60"/>
          </a:solidFill>
          <a:ln/>
        </p:spPr>
      </p:sp>
      <p:sp>
        <p:nvSpPr>
          <p:cNvPr id="64" name="Text 62"/>
          <p:cNvSpPr/>
          <p:nvPr/>
        </p:nvSpPr>
        <p:spPr>
          <a:xfrm>
            <a:off x="4480560" y="4443984"/>
            <a:ext cx="3383280" cy="182880"/>
          </a:xfrm>
          <a:prstGeom prst="rect">
            <a:avLst/>
          </a:prstGeom>
          <a:noFill/>
          <a:ln/>
        </p:spPr>
        <p:txBody>
          <a:bodyPr wrap="square" lIns="0" tIns="0" rIns="0" bIns="0" rtlCol="0" anchor="ctr"/>
          <a:lstStyle/>
          <a:p>
            <a:pPr indent="0" marL="0">
              <a:buNone/>
            </a:pPr>
            <a:r>
              <a:rPr lang="en-US" sz="750" dirty="0">
                <a:solidFill>
                  <a:srgbClr val="FFFFFF"/>
                </a:solidFill>
              </a:rPr>
              <a:t>Sample: 80/100</a:t>
            </a:r>
            <a:endParaRPr lang="en-US" sz="750" dirty="0"/>
          </a:p>
        </p:txBody>
      </p:sp>
      <p:sp>
        <p:nvSpPr>
          <p:cNvPr id="65" name="Shape 63"/>
          <p:cNvSpPr/>
          <p:nvPr/>
        </p:nvSpPr>
        <p:spPr>
          <a:xfrm>
            <a:off x="8229600" y="3127248"/>
            <a:ext cx="3785616" cy="1572768"/>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6" name="Shape 64"/>
          <p:cNvSpPr/>
          <p:nvPr/>
        </p:nvSpPr>
        <p:spPr>
          <a:xfrm>
            <a:off x="8229600" y="3127248"/>
            <a:ext cx="3785616" cy="73152"/>
          </a:xfrm>
          <a:prstGeom prst="rect">
            <a:avLst/>
          </a:prstGeom>
          <a:solidFill>
            <a:srgbClr val="F1C40F"/>
          </a:solidFill>
          <a:ln/>
        </p:spPr>
      </p:sp>
      <p:sp>
        <p:nvSpPr>
          <p:cNvPr id="67" name="Shape 65"/>
          <p:cNvSpPr/>
          <p:nvPr/>
        </p:nvSpPr>
        <p:spPr>
          <a:xfrm>
            <a:off x="11265408" y="3236976"/>
            <a:ext cx="621792" cy="329184"/>
          </a:xfrm>
          <a:prstGeom prst="rect">
            <a:avLst/>
          </a:prstGeom>
          <a:solidFill>
            <a:srgbClr val="F1C40F"/>
          </a:solidFill>
          <a:ln/>
        </p:spPr>
      </p:sp>
      <p:sp>
        <p:nvSpPr>
          <p:cNvPr id="68" name="Text 66"/>
          <p:cNvSpPr/>
          <p:nvPr/>
        </p:nvSpPr>
        <p:spPr>
          <a:xfrm>
            <a:off x="11265408" y="3236976"/>
            <a:ext cx="621792" cy="329184"/>
          </a:xfrm>
          <a:prstGeom prst="rect">
            <a:avLst/>
          </a:prstGeom>
          <a:noFill/>
          <a:ln/>
        </p:spPr>
        <p:txBody>
          <a:bodyPr wrap="square" lIns="0" tIns="0" rIns="0" bIns="0" rtlCol="0" anchor="ctr"/>
          <a:lstStyle/>
          <a:p>
            <a:pPr algn="ctr" indent="0" marL="0">
              <a:buNone/>
            </a:pPr>
            <a:r>
              <a:rPr lang="en-US" sz="1400" b="1" dirty="0">
                <a:solidFill>
                  <a:srgbClr val="FFFFFF"/>
                </a:solidFill>
              </a:rPr>
              <a:t>13%</a:t>
            </a:r>
            <a:endParaRPr lang="en-US" sz="1400" dirty="0"/>
          </a:p>
        </p:txBody>
      </p:sp>
      <p:sp>
        <p:nvSpPr>
          <p:cNvPr id="69" name="Text 67"/>
          <p:cNvSpPr/>
          <p:nvPr/>
        </p:nvSpPr>
        <p:spPr>
          <a:xfrm>
            <a:off x="8357616" y="3255264"/>
            <a:ext cx="548640" cy="292608"/>
          </a:xfrm>
          <a:prstGeom prst="rect">
            <a:avLst/>
          </a:prstGeom>
          <a:noFill/>
          <a:ln/>
        </p:spPr>
        <p:txBody>
          <a:bodyPr wrap="square" lIns="0" tIns="0" rIns="0" bIns="0" rtlCol="0" anchor="ctr"/>
          <a:lstStyle/>
          <a:p>
            <a:pPr indent="0" marL="0">
              <a:buNone/>
            </a:pPr>
            <a:r>
              <a:rPr lang="en-US" sz="1600" b="1" dirty="0">
                <a:solidFill>
                  <a:srgbClr val="F1C40F"/>
                </a:solidFill>
              </a:rPr>
              <a:t>GRP</a:t>
            </a:r>
            <a:endParaRPr lang="en-US" sz="1600" dirty="0"/>
          </a:p>
        </p:txBody>
      </p:sp>
      <p:sp>
        <p:nvSpPr>
          <p:cNvPr id="70" name="Text 68"/>
          <p:cNvSpPr/>
          <p:nvPr/>
        </p:nvSpPr>
        <p:spPr>
          <a:xfrm>
            <a:off x="8961120" y="3273552"/>
            <a:ext cx="2194560" cy="274320"/>
          </a:xfrm>
          <a:prstGeom prst="rect">
            <a:avLst/>
          </a:prstGeom>
          <a:noFill/>
          <a:ln/>
        </p:spPr>
        <p:txBody>
          <a:bodyPr wrap="square" lIns="0" tIns="0" rIns="0" bIns="0" rtlCol="0" anchor="ctr"/>
          <a:lstStyle/>
          <a:p>
            <a:pPr indent="0" marL="0">
              <a:buNone/>
            </a:pPr>
            <a:r>
              <a:rPr lang="en-US" sz="1100" b="1" dirty="0">
                <a:solidFill>
                  <a:srgbClr val="1A2C3E"/>
                </a:solidFill>
              </a:rPr>
              <a:t>Governance &amp; Policy</a:t>
            </a:r>
            <a:endParaRPr lang="en-US" sz="1100" dirty="0"/>
          </a:p>
        </p:txBody>
      </p:sp>
      <p:sp>
        <p:nvSpPr>
          <p:cNvPr id="71" name="Shape 69"/>
          <p:cNvSpPr/>
          <p:nvPr/>
        </p:nvSpPr>
        <p:spPr>
          <a:xfrm>
            <a:off x="8357616" y="3621024"/>
            <a:ext cx="3529584" cy="0"/>
          </a:xfrm>
          <a:prstGeom prst="line">
            <a:avLst/>
          </a:prstGeom>
          <a:noFill/>
          <a:ln w="6350">
            <a:solidFill>
              <a:srgbClr val="ECF0F1"/>
            </a:solidFill>
            <a:prstDash val="solid"/>
          </a:ln>
        </p:spPr>
      </p:sp>
      <p:sp>
        <p:nvSpPr>
          <p:cNvPr id="72" name="Text 70"/>
          <p:cNvSpPr/>
          <p:nvPr/>
        </p:nvSpPr>
        <p:spPr>
          <a:xfrm>
            <a:off x="8357616" y="3694176"/>
            <a:ext cx="3529584" cy="694944"/>
          </a:xfrm>
          <a:prstGeom prst="rect">
            <a:avLst/>
          </a:prstGeom>
          <a:noFill/>
          <a:ln/>
        </p:spPr>
        <p:txBody>
          <a:bodyPr wrap="square" lIns="0" tIns="0" rIns="0" bIns="0" rtlCol="0" anchor="ctr"/>
          <a:lstStyle/>
          <a:p>
            <a:pPr indent="0" marL="0">
              <a:lnSpc>
                <a:spcPct val="145000"/>
              </a:lnSpc>
              <a:buNone/>
            </a:pPr>
            <a:r>
              <a:rPr lang="en-US" sz="950" dirty="0">
                <a:solidFill>
                  <a:srgbClr val="7F8C8D"/>
                </a:solidFill>
              </a:rPr>
              <a:t>Rule of law index, regulatory quality, political stability, anti-corruption score</a:t>
            </a:r>
            <a:endParaRPr lang="en-US" sz="950" dirty="0"/>
          </a:p>
        </p:txBody>
      </p:sp>
      <p:sp>
        <p:nvSpPr>
          <p:cNvPr id="73" name="Shape 71"/>
          <p:cNvSpPr/>
          <p:nvPr/>
        </p:nvSpPr>
        <p:spPr>
          <a:xfrm>
            <a:off x="8357616" y="4443984"/>
            <a:ext cx="3529584" cy="182880"/>
          </a:xfrm>
          <a:prstGeom prst="rect">
            <a:avLst/>
          </a:prstGeom>
          <a:solidFill>
            <a:srgbClr val="F7F9FC"/>
          </a:solidFill>
          <a:ln w="3810">
            <a:solidFill>
              <a:srgbClr val="DDE4EA"/>
            </a:solidFill>
            <a:prstDash val="solid"/>
          </a:ln>
        </p:spPr>
      </p:sp>
      <p:sp>
        <p:nvSpPr>
          <p:cNvPr id="74" name="Shape 72"/>
          <p:cNvSpPr/>
          <p:nvPr/>
        </p:nvSpPr>
        <p:spPr>
          <a:xfrm>
            <a:off x="8357616" y="4443984"/>
            <a:ext cx="2823667" cy="182880"/>
          </a:xfrm>
          <a:prstGeom prst="rect">
            <a:avLst/>
          </a:prstGeom>
          <a:solidFill>
            <a:srgbClr val="F1C40F"/>
          </a:solidFill>
          <a:ln/>
        </p:spPr>
      </p:sp>
      <p:sp>
        <p:nvSpPr>
          <p:cNvPr id="75" name="Text 73"/>
          <p:cNvSpPr/>
          <p:nvPr/>
        </p:nvSpPr>
        <p:spPr>
          <a:xfrm>
            <a:off x="8412480" y="4443984"/>
            <a:ext cx="3383280" cy="182880"/>
          </a:xfrm>
          <a:prstGeom prst="rect">
            <a:avLst/>
          </a:prstGeom>
          <a:noFill/>
          <a:ln/>
        </p:spPr>
        <p:txBody>
          <a:bodyPr wrap="square" lIns="0" tIns="0" rIns="0" bIns="0" rtlCol="0" anchor="ctr"/>
          <a:lstStyle/>
          <a:p>
            <a:pPr indent="0" marL="0">
              <a:buNone/>
            </a:pPr>
            <a:r>
              <a:rPr lang="en-US" sz="750" dirty="0">
                <a:solidFill>
                  <a:srgbClr val="FFFFFF"/>
                </a:solidFill>
              </a:rPr>
              <a:t>Sample: 80/100</a:t>
            </a:r>
            <a:endParaRPr lang="en-US" sz="750" dirty="0"/>
          </a:p>
        </p:txBody>
      </p:sp>
      <p:sp>
        <p:nvSpPr>
          <p:cNvPr id="76" name="Shape 74"/>
          <p:cNvSpPr/>
          <p:nvPr/>
        </p:nvSpPr>
        <p:spPr>
          <a:xfrm>
            <a:off x="365760" y="4864608"/>
            <a:ext cx="11430000" cy="530352"/>
          </a:xfrm>
          <a:prstGeom prst="rect">
            <a:avLst/>
          </a:prstGeom>
          <a:solidFill>
            <a:srgbClr val="1A2C3E"/>
          </a:solidFill>
          <a:ln/>
          <a:effectLst>
            <a:outerShdw sx="100000" sy="100000" kx="0" ky="0" algn="bl" rotWithShape="0" blurRad="127000" dist="38100" dir="8100000">
              <a:srgbClr val="000000">
                <a:alpha val="10000"/>
              </a:srgbClr>
            </a:outerShdw>
          </a:effectLst>
        </p:spPr>
      </p:sp>
      <p:sp>
        <p:nvSpPr>
          <p:cNvPr id="77" name="Text 75"/>
          <p:cNvSpPr/>
          <p:nvPr/>
        </p:nvSpPr>
        <p:spPr>
          <a:xfrm>
            <a:off x="566928" y="4919472"/>
            <a:ext cx="1828800" cy="237744"/>
          </a:xfrm>
          <a:prstGeom prst="rect">
            <a:avLst/>
          </a:prstGeom>
          <a:noFill/>
          <a:ln/>
        </p:spPr>
        <p:txBody>
          <a:bodyPr wrap="square" lIns="0" tIns="0" rIns="0" bIns="0" rtlCol="0" anchor="ctr"/>
          <a:lstStyle/>
          <a:p>
            <a:pPr indent="0" marL="0">
              <a:buNone/>
            </a:pPr>
            <a:r>
              <a:rPr lang="en-US" sz="900" b="1" spc="300" kern="0" dirty="0">
                <a:solidFill>
                  <a:srgbClr val="2ECC71"/>
                </a:solidFill>
              </a:rPr>
              <a:t>GFR FORMULA</a:t>
            </a:r>
            <a:endParaRPr lang="en-US" sz="900" dirty="0"/>
          </a:p>
        </p:txBody>
      </p:sp>
      <p:sp>
        <p:nvSpPr>
          <p:cNvPr id="78" name="Text 76"/>
          <p:cNvSpPr/>
          <p:nvPr/>
        </p:nvSpPr>
        <p:spPr>
          <a:xfrm>
            <a:off x="2468880" y="4919472"/>
            <a:ext cx="9144000" cy="237744"/>
          </a:xfrm>
          <a:prstGeom prst="rect">
            <a:avLst/>
          </a:prstGeom>
          <a:noFill/>
          <a:ln/>
        </p:spPr>
        <p:txBody>
          <a:bodyPr wrap="square" lIns="0" tIns="0" rIns="0" bIns="0" rtlCol="0" anchor="ctr"/>
          <a:lstStyle/>
          <a:p>
            <a:pPr indent="0" marL="0">
              <a:buNone/>
            </a:pPr>
            <a:r>
              <a:rPr lang="en-US" sz="1100" b="1" dirty="0">
                <a:solidFill>
                  <a:srgbClr val="FFFFFF"/>
                </a:solidFill>
              </a:rPr>
              <a:t>GFR Score  =  (0.20 × ETR)  +  (0.18 × ICT)  +  (0.18 × TCM)  +  (0.16 × DTF)  +  (0.15 × SGT)  +  (0.13 × GRP)</a:t>
            </a:r>
            <a:endParaRPr lang="en-US" sz="1100" dirty="0"/>
          </a:p>
        </p:txBody>
      </p:sp>
      <p:sp>
        <p:nvSpPr>
          <p:cNvPr id="79" name="Text 77"/>
          <p:cNvSpPr/>
          <p:nvPr/>
        </p:nvSpPr>
        <p:spPr>
          <a:xfrm>
            <a:off x="566928" y="5193792"/>
            <a:ext cx="11430000" cy="182880"/>
          </a:xfrm>
          <a:prstGeom prst="rect">
            <a:avLst/>
          </a:prstGeom>
          <a:noFill/>
          <a:ln/>
        </p:spPr>
        <p:txBody>
          <a:bodyPr wrap="square" lIns="0" tIns="0" rIns="0" bIns="0" rtlCol="0" anchor="ctr"/>
          <a:lstStyle/>
          <a:p>
            <a:pPr indent="0" marL="0">
              <a:buNone/>
            </a:pPr>
            <a:r>
              <a:rPr lang="en-US" sz="800" dirty="0">
                <a:solidFill>
                  <a:srgbClr val="9BB0C7"/>
                </a:solidFill>
              </a:rPr>
              <a:t>Score Range: 80–100 → Top Tier  ·  60–79 → High Tier  ·  Below 60 → Developing Tier  ·  Updated weekly via AGT-05  ·  Rankings visible in /gfr AND in Investment Analysis Tab 2</a:t>
            </a:r>
            <a:endParaRPr lang="en-US" sz="800" dirty="0"/>
          </a:p>
        </p:txBody>
      </p:sp>
      <p:sp>
        <p:nvSpPr>
          <p:cNvPr id="80" name="Shape 78"/>
          <p:cNvSpPr/>
          <p:nvPr/>
        </p:nvSpPr>
        <p:spPr>
          <a:xfrm>
            <a:off x="365760" y="5504688"/>
            <a:ext cx="11430000" cy="310896"/>
          </a:xfrm>
          <a:prstGeom prst="rect">
            <a:avLst/>
          </a:prstGeom>
          <a:solidFill>
            <a:srgbClr val="FFF3CD"/>
          </a:solidFill>
          <a:ln w="7620">
            <a:solidFill>
              <a:srgbClr val="F1C40F"/>
            </a:solidFill>
            <a:prstDash val="solid"/>
          </a:ln>
        </p:spPr>
      </p:sp>
      <p:sp>
        <p:nvSpPr>
          <p:cNvPr id="81" name="Text 79"/>
          <p:cNvSpPr/>
          <p:nvPr/>
        </p:nvSpPr>
        <p:spPr>
          <a:xfrm>
            <a:off x="502920" y="5522976"/>
            <a:ext cx="11521440" cy="274320"/>
          </a:xfrm>
          <a:prstGeom prst="rect">
            <a:avLst/>
          </a:prstGeom>
          <a:noFill/>
          <a:ln/>
        </p:spPr>
        <p:txBody>
          <a:bodyPr wrap="square" lIns="0" tIns="0" rIns="0" bIns="0" rtlCol="0" anchor="ctr"/>
          <a:lstStyle/>
          <a:p>
            <a:pPr indent="0" marL="0">
              <a:buNone/>
            </a:pPr>
            <a:r>
              <a:rPr lang="en-US" sz="850" b="1" dirty="0">
                <a:solidFill>
                  <a:srgbClr val="D4AC0D"/>
                </a:solidFill>
              </a:rPr>
              <a:t>⚠  IMPORTANT: </a:t>
            </a:r>
            <a:pPr indent="0" marL="0">
              <a:buNone/>
            </a:pPr>
            <a:r>
              <a:rPr lang="en-US" sz="850" dirty="0">
                <a:solidFill>
                  <a:srgbClr val="1A2C3E"/>
                </a:solidFill>
              </a:rPr>
              <a:t>GFR Ranking table is a CORE FEATURE — fully visible in /gfr page AND in Global Investment Analysis Tab 2. Only the word "ranking" is removed from the Investment Analysis section title per terminology guidelines. The table itself is NOT removed, NOT hidden, and NOT merged elsewhere.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PDF Report System</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PDF Report Generation — 4-Page Structure</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Technology: Puppeteer 20.0+  ·  Cover: Stable Diffusion / DALL-E  ·  Content: GPT-4  ·  Storage: AWS S3  ·  Agent: AGT-05</a:t>
            </a:r>
            <a:endParaRPr lang="en-US" sz="1000" dirty="0"/>
          </a:p>
        </p:txBody>
      </p:sp>
      <p:sp>
        <p:nvSpPr>
          <p:cNvPr id="10" name="Shape 8"/>
          <p:cNvSpPr/>
          <p:nvPr/>
        </p:nvSpPr>
        <p:spPr>
          <a:xfrm>
            <a:off x="365760" y="1463040"/>
            <a:ext cx="2761488" cy="462686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1" name="Shape 9"/>
          <p:cNvSpPr/>
          <p:nvPr/>
        </p:nvSpPr>
        <p:spPr>
          <a:xfrm>
            <a:off x="365760" y="1463040"/>
            <a:ext cx="2761488" cy="457200"/>
          </a:xfrm>
          <a:prstGeom prst="rect">
            <a:avLst/>
          </a:prstGeom>
          <a:solidFill>
            <a:srgbClr val="2ECC71"/>
          </a:solidFill>
          <a:ln/>
        </p:spPr>
      </p:sp>
      <p:sp>
        <p:nvSpPr>
          <p:cNvPr id="12" name="Text 10"/>
          <p:cNvSpPr/>
          <p:nvPr/>
        </p:nvSpPr>
        <p:spPr>
          <a:xfrm>
            <a:off x="365760" y="1463040"/>
            <a:ext cx="2761488" cy="228600"/>
          </a:xfrm>
          <a:prstGeom prst="rect">
            <a:avLst/>
          </a:prstGeom>
          <a:noFill/>
          <a:ln/>
        </p:spPr>
        <p:txBody>
          <a:bodyPr wrap="square" lIns="0" tIns="0" rIns="0" bIns="0" rtlCol="0" anchor="ctr"/>
          <a:lstStyle/>
          <a:p>
            <a:pPr algn="ctr" indent="0" marL="0">
              <a:buNone/>
            </a:pPr>
            <a:r>
              <a:rPr lang="en-US" sz="800" b="1" spc="200" kern="0" dirty="0">
                <a:solidFill>
                  <a:srgbClr val="FFFFFF"/>
                </a:solidFill>
              </a:rPr>
              <a:t>PAGE 1</a:t>
            </a:r>
            <a:endParaRPr lang="en-US" sz="800" dirty="0"/>
          </a:p>
        </p:txBody>
      </p:sp>
      <p:sp>
        <p:nvSpPr>
          <p:cNvPr id="13" name="Text 11"/>
          <p:cNvSpPr/>
          <p:nvPr/>
        </p:nvSpPr>
        <p:spPr>
          <a:xfrm>
            <a:off x="365760" y="1673352"/>
            <a:ext cx="2761488" cy="246888"/>
          </a:xfrm>
          <a:prstGeom prst="rect">
            <a:avLst/>
          </a:prstGeom>
          <a:noFill/>
          <a:ln/>
        </p:spPr>
        <p:txBody>
          <a:bodyPr wrap="square" lIns="0" tIns="0" rIns="0" bIns="0" rtlCol="0" anchor="ctr"/>
          <a:lstStyle/>
          <a:p>
            <a:pPr algn="ctr" indent="0" marL="0">
              <a:buNone/>
            </a:pPr>
            <a:r>
              <a:rPr lang="en-US" sz="900" b="1" dirty="0">
                <a:solidFill>
                  <a:srgbClr val="FFFFFF"/>
                </a:solidFill>
              </a:rPr>
              <a:t>COVER PAGE</a:t>
            </a:r>
            <a:endParaRPr lang="en-US" sz="900" dirty="0"/>
          </a:p>
        </p:txBody>
      </p:sp>
      <p:sp>
        <p:nvSpPr>
          <p:cNvPr id="14" name="Shape 12"/>
          <p:cNvSpPr/>
          <p:nvPr/>
        </p:nvSpPr>
        <p:spPr>
          <a:xfrm>
            <a:off x="2743200" y="1481328"/>
            <a:ext cx="347472" cy="347472"/>
          </a:xfrm>
          <a:prstGeom prst="rect">
            <a:avLst/>
          </a:prstGeom>
          <a:solidFill>
            <a:srgbClr val="2A4A6A"/>
          </a:solidFill>
          <a:ln/>
        </p:spPr>
      </p:sp>
      <p:sp>
        <p:nvSpPr>
          <p:cNvPr id="15" name="Text 13"/>
          <p:cNvSpPr/>
          <p:nvPr/>
        </p:nvSpPr>
        <p:spPr>
          <a:xfrm>
            <a:off x="2743200" y="1481328"/>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6" name="Shape 14"/>
          <p:cNvSpPr/>
          <p:nvPr/>
        </p:nvSpPr>
        <p:spPr>
          <a:xfrm>
            <a:off x="493776" y="2011680"/>
            <a:ext cx="54864" cy="566928"/>
          </a:xfrm>
          <a:prstGeom prst="rect">
            <a:avLst/>
          </a:prstGeom>
          <a:solidFill>
            <a:srgbClr val="2ECC71"/>
          </a:solidFill>
          <a:ln/>
        </p:spPr>
      </p:sp>
      <p:sp>
        <p:nvSpPr>
          <p:cNvPr id="17" name="Text 15"/>
          <p:cNvSpPr/>
          <p:nvPr/>
        </p:nvSpPr>
        <p:spPr>
          <a:xfrm>
            <a:off x="658368" y="201168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AI-generated cover image (Stable Diffusion / DALL-E API)</a:t>
            </a:r>
            <a:endParaRPr lang="en-US" sz="850" dirty="0"/>
          </a:p>
        </p:txBody>
      </p:sp>
      <p:sp>
        <p:nvSpPr>
          <p:cNvPr id="18" name="Shape 16"/>
          <p:cNvSpPr/>
          <p:nvPr/>
        </p:nvSpPr>
        <p:spPr>
          <a:xfrm>
            <a:off x="493776" y="2596896"/>
            <a:ext cx="2505456" cy="0"/>
          </a:xfrm>
          <a:prstGeom prst="line">
            <a:avLst/>
          </a:prstGeom>
          <a:noFill/>
          <a:ln w="3810">
            <a:solidFill>
              <a:srgbClr val="ECF0F1"/>
            </a:solidFill>
            <a:prstDash val="solid"/>
          </a:ln>
        </p:spPr>
      </p:sp>
      <p:sp>
        <p:nvSpPr>
          <p:cNvPr id="19" name="Shape 17"/>
          <p:cNvSpPr/>
          <p:nvPr/>
        </p:nvSpPr>
        <p:spPr>
          <a:xfrm>
            <a:off x="493776" y="2670048"/>
            <a:ext cx="54864" cy="566928"/>
          </a:xfrm>
          <a:prstGeom prst="rect">
            <a:avLst/>
          </a:prstGeom>
          <a:solidFill>
            <a:srgbClr val="2ECC71"/>
          </a:solidFill>
          <a:ln/>
        </p:spPr>
      </p:sp>
      <p:sp>
        <p:nvSpPr>
          <p:cNvPr id="20" name="Text 18"/>
          <p:cNvSpPr/>
          <p:nvPr/>
        </p:nvSpPr>
        <p:spPr>
          <a:xfrm>
            <a:off x="658368" y="2670048"/>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Prompt: "{country} {sector} {zone} futuristic investment photography cinematic 4K, #1a2c3e #2ecc71 tones"</a:t>
            </a:r>
            <a:endParaRPr lang="en-US" sz="850" dirty="0"/>
          </a:p>
        </p:txBody>
      </p:sp>
      <p:sp>
        <p:nvSpPr>
          <p:cNvPr id="21" name="Shape 19"/>
          <p:cNvSpPr/>
          <p:nvPr/>
        </p:nvSpPr>
        <p:spPr>
          <a:xfrm>
            <a:off x="493776" y="3255264"/>
            <a:ext cx="2505456" cy="0"/>
          </a:xfrm>
          <a:prstGeom prst="line">
            <a:avLst/>
          </a:prstGeom>
          <a:noFill/>
          <a:ln w="3810">
            <a:solidFill>
              <a:srgbClr val="ECF0F1"/>
            </a:solidFill>
            <a:prstDash val="solid"/>
          </a:ln>
        </p:spPr>
      </p:sp>
      <p:sp>
        <p:nvSpPr>
          <p:cNvPr id="22" name="Shape 20"/>
          <p:cNvSpPr/>
          <p:nvPr/>
        </p:nvSpPr>
        <p:spPr>
          <a:xfrm>
            <a:off x="493776" y="3328416"/>
            <a:ext cx="54864" cy="566928"/>
          </a:xfrm>
          <a:prstGeom prst="rect">
            <a:avLst/>
          </a:prstGeom>
          <a:solidFill>
            <a:srgbClr val="2ECC71"/>
          </a:solidFill>
          <a:ln/>
        </p:spPr>
      </p:sp>
      <p:sp>
        <p:nvSpPr>
          <p:cNvPr id="23" name="Text 21"/>
          <p:cNvSpPr/>
          <p:nvPr/>
        </p:nvSpPr>
        <p:spPr>
          <a:xfrm>
            <a:off x="658368" y="3328416"/>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Global FDI Monitor vector SVG logo (full color)</a:t>
            </a:r>
            <a:endParaRPr lang="en-US" sz="850" dirty="0"/>
          </a:p>
        </p:txBody>
      </p:sp>
      <p:sp>
        <p:nvSpPr>
          <p:cNvPr id="24" name="Shape 22"/>
          <p:cNvSpPr/>
          <p:nvPr/>
        </p:nvSpPr>
        <p:spPr>
          <a:xfrm>
            <a:off x="493776" y="3913632"/>
            <a:ext cx="2505456" cy="0"/>
          </a:xfrm>
          <a:prstGeom prst="line">
            <a:avLst/>
          </a:prstGeom>
          <a:noFill/>
          <a:ln w="3810">
            <a:solidFill>
              <a:srgbClr val="ECF0F1"/>
            </a:solidFill>
            <a:prstDash val="solid"/>
          </a:ln>
        </p:spPr>
      </p:sp>
      <p:sp>
        <p:nvSpPr>
          <p:cNvPr id="25" name="Shape 23"/>
          <p:cNvSpPr/>
          <p:nvPr/>
        </p:nvSpPr>
        <p:spPr>
          <a:xfrm>
            <a:off x="493776" y="3986784"/>
            <a:ext cx="54864" cy="566928"/>
          </a:xfrm>
          <a:prstGeom prst="rect">
            <a:avLst/>
          </a:prstGeom>
          <a:solidFill>
            <a:srgbClr val="2ECC71"/>
          </a:solidFill>
          <a:ln/>
        </p:spPr>
      </p:sp>
      <p:sp>
        <p:nvSpPr>
          <p:cNvPr id="26" name="Text 24"/>
          <p:cNvSpPr/>
          <p:nvPr/>
        </p:nvSpPr>
        <p:spPr>
          <a:xfrm>
            <a:off x="658368" y="3986784"/>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Report title, country, sector, selected zone, GOSA score badge</a:t>
            </a:r>
            <a:endParaRPr lang="en-US" sz="850" dirty="0"/>
          </a:p>
        </p:txBody>
      </p:sp>
      <p:sp>
        <p:nvSpPr>
          <p:cNvPr id="27" name="Shape 25"/>
          <p:cNvSpPr/>
          <p:nvPr/>
        </p:nvSpPr>
        <p:spPr>
          <a:xfrm>
            <a:off x="493776" y="4572000"/>
            <a:ext cx="2505456" cy="0"/>
          </a:xfrm>
          <a:prstGeom prst="line">
            <a:avLst/>
          </a:prstGeom>
          <a:noFill/>
          <a:ln w="3810">
            <a:solidFill>
              <a:srgbClr val="ECF0F1"/>
            </a:solidFill>
            <a:prstDash val="solid"/>
          </a:ln>
        </p:spPr>
      </p:sp>
      <p:sp>
        <p:nvSpPr>
          <p:cNvPr id="28" name="Shape 26"/>
          <p:cNvSpPr/>
          <p:nvPr/>
        </p:nvSpPr>
        <p:spPr>
          <a:xfrm>
            <a:off x="493776" y="4645152"/>
            <a:ext cx="54864" cy="566928"/>
          </a:xfrm>
          <a:prstGeom prst="rect">
            <a:avLst/>
          </a:prstGeom>
          <a:solidFill>
            <a:srgbClr val="2ECC71"/>
          </a:solidFill>
          <a:ln/>
        </p:spPr>
      </p:sp>
      <p:sp>
        <p:nvSpPr>
          <p:cNvPr id="29" name="Text 27"/>
          <p:cNvSpPr/>
          <p:nvPr/>
        </p:nvSpPr>
        <p:spPr>
          <a:xfrm>
            <a:off x="658368" y="4645152"/>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Generation date · Issue/report number · Classification: Confidential</a:t>
            </a:r>
            <a:endParaRPr lang="en-US" sz="850" dirty="0"/>
          </a:p>
        </p:txBody>
      </p:sp>
      <p:sp>
        <p:nvSpPr>
          <p:cNvPr id="30" name="Shape 28"/>
          <p:cNvSpPr/>
          <p:nvPr/>
        </p:nvSpPr>
        <p:spPr>
          <a:xfrm>
            <a:off x="493776" y="5230368"/>
            <a:ext cx="2505456" cy="0"/>
          </a:xfrm>
          <a:prstGeom prst="line">
            <a:avLst/>
          </a:prstGeom>
          <a:noFill/>
          <a:ln w="3810">
            <a:solidFill>
              <a:srgbClr val="ECF0F1"/>
            </a:solidFill>
            <a:prstDash val="solid"/>
          </a:ln>
        </p:spPr>
      </p:sp>
      <p:sp>
        <p:nvSpPr>
          <p:cNvPr id="31" name="Shape 29"/>
          <p:cNvSpPr/>
          <p:nvPr/>
        </p:nvSpPr>
        <p:spPr>
          <a:xfrm>
            <a:off x="493776" y="5303520"/>
            <a:ext cx="54864" cy="566928"/>
          </a:xfrm>
          <a:prstGeom prst="rect">
            <a:avLst/>
          </a:prstGeom>
          <a:solidFill>
            <a:srgbClr val="2ECC71"/>
          </a:solidFill>
          <a:ln/>
        </p:spPr>
      </p:sp>
      <p:sp>
        <p:nvSpPr>
          <p:cNvPr id="32" name="Text 30"/>
          <p:cNvSpPr/>
          <p:nvPr/>
        </p:nvSpPr>
        <p:spPr>
          <a:xfrm>
            <a:off x="658368" y="530352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Tier indicator: Top Tier / High Tier / Developing Tier</a:t>
            </a:r>
            <a:endParaRPr lang="en-US" sz="850" dirty="0"/>
          </a:p>
        </p:txBody>
      </p:sp>
      <p:sp>
        <p:nvSpPr>
          <p:cNvPr id="33" name="Shape 31"/>
          <p:cNvSpPr/>
          <p:nvPr/>
        </p:nvSpPr>
        <p:spPr>
          <a:xfrm>
            <a:off x="3218688" y="1463040"/>
            <a:ext cx="2761488" cy="462686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4" name="Shape 32"/>
          <p:cNvSpPr/>
          <p:nvPr/>
        </p:nvSpPr>
        <p:spPr>
          <a:xfrm>
            <a:off x="3218688" y="1463040"/>
            <a:ext cx="2761488" cy="457200"/>
          </a:xfrm>
          <a:prstGeom prst="rect">
            <a:avLst/>
          </a:prstGeom>
          <a:solidFill>
            <a:srgbClr val="3498DB"/>
          </a:solidFill>
          <a:ln/>
        </p:spPr>
      </p:sp>
      <p:sp>
        <p:nvSpPr>
          <p:cNvPr id="35" name="Text 33"/>
          <p:cNvSpPr/>
          <p:nvPr/>
        </p:nvSpPr>
        <p:spPr>
          <a:xfrm>
            <a:off x="3218688" y="1463040"/>
            <a:ext cx="2761488" cy="228600"/>
          </a:xfrm>
          <a:prstGeom prst="rect">
            <a:avLst/>
          </a:prstGeom>
          <a:noFill/>
          <a:ln/>
        </p:spPr>
        <p:txBody>
          <a:bodyPr wrap="square" lIns="0" tIns="0" rIns="0" bIns="0" rtlCol="0" anchor="ctr"/>
          <a:lstStyle/>
          <a:p>
            <a:pPr algn="ctr" indent="0" marL="0">
              <a:buNone/>
            </a:pPr>
            <a:r>
              <a:rPr lang="en-US" sz="800" b="1" spc="200" kern="0" dirty="0">
                <a:solidFill>
                  <a:srgbClr val="FFFFFF"/>
                </a:solidFill>
              </a:rPr>
              <a:t>PAGE 2</a:t>
            </a:r>
            <a:endParaRPr lang="en-US" sz="800" dirty="0"/>
          </a:p>
        </p:txBody>
      </p:sp>
      <p:sp>
        <p:nvSpPr>
          <p:cNvPr id="36" name="Text 34"/>
          <p:cNvSpPr/>
          <p:nvPr/>
        </p:nvSpPr>
        <p:spPr>
          <a:xfrm>
            <a:off x="3218688" y="1673352"/>
            <a:ext cx="2761488" cy="246888"/>
          </a:xfrm>
          <a:prstGeom prst="rect">
            <a:avLst/>
          </a:prstGeom>
          <a:noFill/>
          <a:ln/>
        </p:spPr>
        <p:txBody>
          <a:bodyPr wrap="square" lIns="0" tIns="0" rIns="0" bIns="0" rtlCol="0" anchor="ctr"/>
          <a:lstStyle/>
          <a:p>
            <a:pPr algn="ctr" indent="0" marL="0">
              <a:buNone/>
            </a:pPr>
            <a:r>
              <a:rPr lang="en-US" sz="900" b="1" dirty="0">
                <a:solidFill>
                  <a:srgbClr val="FFFFFF"/>
                </a:solidFill>
              </a:rPr>
              <a:t>EXECUTIVE SUMMARY</a:t>
            </a:r>
            <a:endParaRPr lang="en-US" sz="900" dirty="0"/>
          </a:p>
        </p:txBody>
      </p:sp>
      <p:sp>
        <p:nvSpPr>
          <p:cNvPr id="37" name="Shape 35"/>
          <p:cNvSpPr/>
          <p:nvPr/>
        </p:nvSpPr>
        <p:spPr>
          <a:xfrm>
            <a:off x="5596128" y="1481328"/>
            <a:ext cx="347472" cy="347472"/>
          </a:xfrm>
          <a:prstGeom prst="rect">
            <a:avLst/>
          </a:prstGeom>
          <a:solidFill>
            <a:srgbClr val="2A4A6A"/>
          </a:solidFill>
          <a:ln/>
        </p:spPr>
      </p:sp>
      <p:sp>
        <p:nvSpPr>
          <p:cNvPr id="38" name="Text 36"/>
          <p:cNvSpPr/>
          <p:nvPr/>
        </p:nvSpPr>
        <p:spPr>
          <a:xfrm>
            <a:off x="5596128" y="1481328"/>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39" name="Shape 37"/>
          <p:cNvSpPr/>
          <p:nvPr/>
        </p:nvSpPr>
        <p:spPr>
          <a:xfrm>
            <a:off x="3346704" y="2011680"/>
            <a:ext cx="54864" cy="566928"/>
          </a:xfrm>
          <a:prstGeom prst="rect">
            <a:avLst/>
          </a:prstGeom>
          <a:solidFill>
            <a:srgbClr val="2ECC71"/>
          </a:solidFill>
          <a:ln/>
        </p:spPr>
      </p:sp>
      <p:sp>
        <p:nvSpPr>
          <p:cNvPr id="40" name="Text 38"/>
          <p:cNvSpPr/>
          <p:nvPr/>
        </p:nvSpPr>
        <p:spPr>
          <a:xfrm>
            <a:off x="3511296" y="201168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AI-generated summary (GPT-4) — key findings for selected scenario</a:t>
            </a:r>
            <a:endParaRPr lang="en-US" sz="850" dirty="0"/>
          </a:p>
        </p:txBody>
      </p:sp>
      <p:sp>
        <p:nvSpPr>
          <p:cNvPr id="41" name="Shape 39"/>
          <p:cNvSpPr/>
          <p:nvPr/>
        </p:nvSpPr>
        <p:spPr>
          <a:xfrm>
            <a:off x="3346704" y="2596896"/>
            <a:ext cx="2505456" cy="0"/>
          </a:xfrm>
          <a:prstGeom prst="line">
            <a:avLst/>
          </a:prstGeom>
          <a:noFill/>
          <a:ln w="3810">
            <a:solidFill>
              <a:srgbClr val="ECF0F1"/>
            </a:solidFill>
            <a:prstDash val="solid"/>
          </a:ln>
        </p:spPr>
      </p:sp>
      <p:sp>
        <p:nvSpPr>
          <p:cNvPr id="42" name="Shape 40"/>
          <p:cNvSpPr/>
          <p:nvPr/>
        </p:nvSpPr>
        <p:spPr>
          <a:xfrm>
            <a:off x="3346704" y="2670048"/>
            <a:ext cx="54864" cy="566928"/>
          </a:xfrm>
          <a:prstGeom prst="rect">
            <a:avLst/>
          </a:prstGeom>
          <a:solidFill>
            <a:srgbClr val="2ECC71"/>
          </a:solidFill>
          <a:ln/>
        </p:spPr>
      </p:sp>
      <p:sp>
        <p:nvSpPr>
          <p:cNvPr id="43" name="Text 41"/>
          <p:cNvSpPr/>
          <p:nvPr/>
        </p:nvSpPr>
        <p:spPr>
          <a:xfrm>
            <a:off x="3511296" y="2670048"/>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3 Key Strengths bullets + 2 Key Challenges bullets</a:t>
            </a:r>
            <a:endParaRPr lang="en-US" sz="850" dirty="0"/>
          </a:p>
        </p:txBody>
      </p:sp>
      <p:sp>
        <p:nvSpPr>
          <p:cNvPr id="44" name="Shape 42"/>
          <p:cNvSpPr/>
          <p:nvPr/>
        </p:nvSpPr>
        <p:spPr>
          <a:xfrm>
            <a:off x="3346704" y="3255264"/>
            <a:ext cx="2505456" cy="0"/>
          </a:xfrm>
          <a:prstGeom prst="line">
            <a:avLst/>
          </a:prstGeom>
          <a:noFill/>
          <a:ln w="3810">
            <a:solidFill>
              <a:srgbClr val="ECF0F1"/>
            </a:solidFill>
            <a:prstDash val="solid"/>
          </a:ln>
        </p:spPr>
      </p:sp>
      <p:sp>
        <p:nvSpPr>
          <p:cNvPr id="45" name="Shape 43"/>
          <p:cNvSpPr/>
          <p:nvPr/>
        </p:nvSpPr>
        <p:spPr>
          <a:xfrm>
            <a:off x="3346704" y="3328416"/>
            <a:ext cx="54864" cy="566928"/>
          </a:xfrm>
          <a:prstGeom prst="rect">
            <a:avLst/>
          </a:prstGeom>
          <a:solidFill>
            <a:srgbClr val="2ECC71"/>
          </a:solidFill>
          <a:ln/>
        </p:spPr>
      </p:sp>
      <p:sp>
        <p:nvSpPr>
          <p:cNvPr id="46" name="Text 44"/>
          <p:cNvSpPr/>
          <p:nvPr/>
        </p:nvSpPr>
        <p:spPr>
          <a:xfrm>
            <a:off x="3511296" y="3328416"/>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Investment outlook — 2 analytical paragraphs with context</a:t>
            </a:r>
            <a:endParaRPr lang="en-US" sz="850" dirty="0"/>
          </a:p>
        </p:txBody>
      </p:sp>
      <p:sp>
        <p:nvSpPr>
          <p:cNvPr id="47" name="Shape 45"/>
          <p:cNvSpPr/>
          <p:nvPr/>
        </p:nvSpPr>
        <p:spPr>
          <a:xfrm>
            <a:off x="3346704" y="3913632"/>
            <a:ext cx="2505456" cy="0"/>
          </a:xfrm>
          <a:prstGeom prst="line">
            <a:avLst/>
          </a:prstGeom>
          <a:noFill/>
          <a:ln w="3810">
            <a:solidFill>
              <a:srgbClr val="ECF0F1"/>
            </a:solidFill>
            <a:prstDash val="solid"/>
          </a:ln>
        </p:spPr>
      </p:sp>
      <p:sp>
        <p:nvSpPr>
          <p:cNvPr id="48" name="Shape 46"/>
          <p:cNvSpPr/>
          <p:nvPr/>
        </p:nvSpPr>
        <p:spPr>
          <a:xfrm>
            <a:off x="3346704" y="3986784"/>
            <a:ext cx="54864" cy="566928"/>
          </a:xfrm>
          <a:prstGeom prst="rect">
            <a:avLst/>
          </a:prstGeom>
          <a:solidFill>
            <a:srgbClr val="2ECC71"/>
          </a:solidFill>
          <a:ln/>
        </p:spPr>
      </p:sp>
      <p:sp>
        <p:nvSpPr>
          <p:cNvPr id="49" name="Text 47"/>
          <p:cNvSpPr/>
          <p:nvPr/>
        </p:nvSpPr>
        <p:spPr>
          <a:xfrm>
            <a:off x="3511296" y="3986784"/>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Economic projections: GDP contribution · jobs created · value added</a:t>
            </a:r>
            <a:endParaRPr lang="en-US" sz="850" dirty="0"/>
          </a:p>
        </p:txBody>
      </p:sp>
      <p:sp>
        <p:nvSpPr>
          <p:cNvPr id="50" name="Shape 48"/>
          <p:cNvSpPr/>
          <p:nvPr/>
        </p:nvSpPr>
        <p:spPr>
          <a:xfrm>
            <a:off x="3346704" y="4572000"/>
            <a:ext cx="2505456" cy="0"/>
          </a:xfrm>
          <a:prstGeom prst="line">
            <a:avLst/>
          </a:prstGeom>
          <a:noFill/>
          <a:ln w="3810">
            <a:solidFill>
              <a:srgbClr val="ECF0F1"/>
            </a:solidFill>
            <a:prstDash val="solid"/>
          </a:ln>
        </p:spPr>
      </p:sp>
      <p:sp>
        <p:nvSpPr>
          <p:cNvPr id="51" name="Shape 49"/>
          <p:cNvSpPr/>
          <p:nvPr/>
        </p:nvSpPr>
        <p:spPr>
          <a:xfrm>
            <a:off x="3346704" y="4645152"/>
            <a:ext cx="54864" cy="566928"/>
          </a:xfrm>
          <a:prstGeom prst="rect">
            <a:avLst/>
          </a:prstGeom>
          <a:solidFill>
            <a:srgbClr val="2ECC71"/>
          </a:solidFill>
          <a:ln/>
        </p:spPr>
      </p:sp>
      <p:sp>
        <p:nvSpPr>
          <p:cNvPr id="52" name="Text 50"/>
          <p:cNvSpPr/>
          <p:nvPr/>
        </p:nvSpPr>
        <p:spPr>
          <a:xfrm>
            <a:off x="3511296" y="4645152"/>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Incentive package summary: applicable incentives + estimated tax savings</a:t>
            </a:r>
            <a:endParaRPr lang="en-US" sz="850" dirty="0"/>
          </a:p>
        </p:txBody>
      </p:sp>
      <p:sp>
        <p:nvSpPr>
          <p:cNvPr id="53" name="Shape 51"/>
          <p:cNvSpPr/>
          <p:nvPr/>
        </p:nvSpPr>
        <p:spPr>
          <a:xfrm>
            <a:off x="3346704" y="5230368"/>
            <a:ext cx="2505456" cy="0"/>
          </a:xfrm>
          <a:prstGeom prst="line">
            <a:avLst/>
          </a:prstGeom>
          <a:noFill/>
          <a:ln w="3810">
            <a:solidFill>
              <a:srgbClr val="ECF0F1"/>
            </a:solidFill>
            <a:prstDash val="solid"/>
          </a:ln>
        </p:spPr>
      </p:sp>
      <p:sp>
        <p:nvSpPr>
          <p:cNvPr id="54" name="Shape 52"/>
          <p:cNvSpPr/>
          <p:nvPr/>
        </p:nvSpPr>
        <p:spPr>
          <a:xfrm>
            <a:off x="3346704" y="5303520"/>
            <a:ext cx="54864" cy="566928"/>
          </a:xfrm>
          <a:prstGeom prst="rect">
            <a:avLst/>
          </a:prstGeom>
          <a:solidFill>
            <a:srgbClr val="2ECC71"/>
          </a:solidFill>
          <a:ln/>
        </p:spPr>
      </p:sp>
      <p:sp>
        <p:nvSpPr>
          <p:cNvPr id="55" name="Text 53"/>
          <p:cNvSpPr/>
          <p:nvPr/>
        </p:nvSpPr>
        <p:spPr>
          <a:xfrm>
            <a:off x="3511296" y="530352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Recommendation: HIGH PRIORITY / MEDIUM PRIORITY / MONITOR</a:t>
            </a:r>
            <a:endParaRPr lang="en-US" sz="850" dirty="0"/>
          </a:p>
        </p:txBody>
      </p:sp>
      <p:sp>
        <p:nvSpPr>
          <p:cNvPr id="56" name="Shape 54"/>
          <p:cNvSpPr/>
          <p:nvPr/>
        </p:nvSpPr>
        <p:spPr>
          <a:xfrm>
            <a:off x="6071616" y="1463040"/>
            <a:ext cx="2761488" cy="462686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57" name="Shape 55"/>
          <p:cNvSpPr/>
          <p:nvPr/>
        </p:nvSpPr>
        <p:spPr>
          <a:xfrm>
            <a:off x="6071616" y="1463040"/>
            <a:ext cx="2761488" cy="457200"/>
          </a:xfrm>
          <a:prstGeom prst="rect">
            <a:avLst/>
          </a:prstGeom>
          <a:solidFill>
            <a:srgbClr val="9B59B6"/>
          </a:solidFill>
          <a:ln/>
        </p:spPr>
      </p:sp>
      <p:sp>
        <p:nvSpPr>
          <p:cNvPr id="58" name="Text 56"/>
          <p:cNvSpPr/>
          <p:nvPr/>
        </p:nvSpPr>
        <p:spPr>
          <a:xfrm>
            <a:off x="6071616" y="1463040"/>
            <a:ext cx="2761488" cy="228600"/>
          </a:xfrm>
          <a:prstGeom prst="rect">
            <a:avLst/>
          </a:prstGeom>
          <a:noFill/>
          <a:ln/>
        </p:spPr>
        <p:txBody>
          <a:bodyPr wrap="square" lIns="0" tIns="0" rIns="0" bIns="0" rtlCol="0" anchor="ctr"/>
          <a:lstStyle/>
          <a:p>
            <a:pPr algn="ctr" indent="0" marL="0">
              <a:buNone/>
            </a:pPr>
            <a:r>
              <a:rPr lang="en-US" sz="800" b="1" spc="200" kern="0" dirty="0">
                <a:solidFill>
                  <a:srgbClr val="FFFFFF"/>
                </a:solidFill>
              </a:rPr>
              <a:t>PAGE 3</a:t>
            </a:r>
            <a:endParaRPr lang="en-US" sz="800" dirty="0"/>
          </a:p>
        </p:txBody>
      </p:sp>
      <p:sp>
        <p:nvSpPr>
          <p:cNvPr id="59" name="Text 57"/>
          <p:cNvSpPr/>
          <p:nvPr/>
        </p:nvSpPr>
        <p:spPr>
          <a:xfrm>
            <a:off x="6071616" y="1673352"/>
            <a:ext cx="2761488" cy="246888"/>
          </a:xfrm>
          <a:prstGeom prst="rect">
            <a:avLst/>
          </a:prstGeom>
          <a:noFill/>
          <a:ln/>
        </p:spPr>
        <p:txBody>
          <a:bodyPr wrap="square" lIns="0" tIns="0" rIns="0" bIns="0" rtlCol="0" anchor="ctr"/>
          <a:lstStyle/>
          <a:p>
            <a:pPr algn="ctr" indent="0" marL="0">
              <a:buNone/>
            </a:pPr>
            <a:r>
              <a:rPr lang="en-US" sz="900" b="1" dirty="0">
                <a:solidFill>
                  <a:srgbClr val="FFFFFF"/>
                </a:solidFill>
              </a:rPr>
              <a:t>REGIONAL &amp; SECTOR ANALYSIS</a:t>
            </a:r>
            <a:endParaRPr lang="en-US" sz="900" dirty="0"/>
          </a:p>
        </p:txBody>
      </p:sp>
      <p:sp>
        <p:nvSpPr>
          <p:cNvPr id="60" name="Shape 58"/>
          <p:cNvSpPr/>
          <p:nvPr/>
        </p:nvSpPr>
        <p:spPr>
          <a:xfrm>
            <a:off x="8449056" y="1481328"/>
            <a:ext cx="347472" cy="347472"/>
          </a:xfrm>
          <a:prstGeom prst="rect">
            <a:avLst/>
          </a:prstGeom>
          <a:solidFill>
            <a:srgbClr val="2A4A6A"/>
          </a:solidFill>
          <a:ln/>
        </p:spPr>
      </p:sp>
      <p:sp>
        <p:nvSpPr>
          <p:cNvPr id="61" name="Text 59"/>
          <p:cNvSpPr/>
          <p:nvPr/>
        </p:nvSpPr>
        <p:spPr>
          <a:xfrm>
            <a:off x="8449056" y="1481328"/>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62" name="Shape 60"/>
          <p:cNvSpPr/>
          <p:nvPr/>
        </p:nvSpPr>
        <p:spPr>
          <a:xfrm>
            <a:off x="6199632" y="2011680"/>
            <a:ext cx="54864" cy="566928"/>
          </a:xfrm>
          <a:prstGeom prst="rect">
            <a:avLst/>
          </a:prstGeom>
          <a:solidFill>
            <a:srgbClr val="2ECC71"/>
          </a:solidFill>
          <a:ln/>
        </p:spPr>
      </p:sp>
      <p:sp>
        <p:nvSpPr>
          <p:cNvPr id="63" name="Text 61"/>
          <p:cNvSpPr/>
          <p:nvPr/>
        </p:nvSpPr>
        <p:spPr>
          <a:xfrm>
            <a:off x="6364224" y="201168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Regional heatmap with GOSA scores by geography &amp; trend arrows</a:t>
            </a:r>
            <a:endParaRPr lang="en-US" sz="850" dirty="0"/>
          </a:p>
        </p:txBody>
      </p:sp>
      <p:sp>
        <p:nvSpPr>
          <p:cNvPr id="64" name="Shape 62"/>
          <p:cNvSpPr/>
          <p:nvPr/>
        </p:nvSpPr>
        <p:spPr>
          <a:xfrm>
            <a:off x="6199632" y="2596896"/>
            <a:ext cx="2505456" cy="0"/>
          </a:xfrm>
          <a:prstGeom prst="line">
            <a:avLst/>
          </a:prstGeom>
          <a:noFill/>
          <a:ln w="3810">
            <a:solidFill>
              <a:srgbClr val="ECF0F1"/>
            </a:solidFill>
            <a:prstDash val="solid"/>
          </a:ln>
        </p:spPr>
      </p:sp>
      <p:sp>
        <p:nvSpPr>
          <p:cNvPr id="65" name="Shape 63"/>
          <p:cNvSpPr/>
          <p:nvPr/>
        </p:nvSpPr>
        <p:spPr>
          <a:xfrm>
            <a:off x="6199632" y="2670048"/>
            <a:ext cx="54864" cy="566928"/>
          </a:xfrm>
          <a:prstGeom prst="rect">
            <a:avLst/>
          </a:prstGeom>
          <a:solidFill>
            <a:srgbClr val="2ECC71"/>
          </a:solidFill>
          <a:ln/>
        </p:spPr>
      </p:sp>
      <p:sp>
        <p:nvSpPr>
          <p:cNvPr id="66" name="Text 64"/>
          <p:cNvSpPr/>
          <p:nvPr/>
        </p:nvSpPr>
        <p:spPr>
          <a:xfrm>
            <a:off x="6364224" y="2670048"/>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High-growth sector spotlight with momentum score + MoM change</a:t>
            </a:r>
            <a:endParaRPr lang="en-US" sz="850" dirty="0"/>
          </a:p>
        </p:txBody>
      </p:sp>
      <p:sp>
        <p:nvSpPr>
          <p:cNvPr id="67" name="Shape 65"/>
          <p:cNvSpPr/>
          <p:nvPr/>
        </p:nvSpPr>
        <p:spPr>
          <a:xfrm>
            <a:off x="6199632" y="3255264"/>
            <a:ext cx="2505456" cy="0"/>
          </a:xfrm>
          <a:prstGeom prst="line">
            <a:avLst/>
          </a:prstGeom>
          <a:noFill/>
          <a:ln w="3810">
            <a:solidFill>
              <a:srgbClr val="ECF0F1"/>
            </a:solidFill>
            <a:prstDash val="solid"/>
          </a:ln>
        </p:spPr>
      </p:sp>
      <p:sp>
        <p:nvSpPr>
          <p:cNvPr id="68" name="Shape 66"/>
          <p:cNvSpPr/>
          <p:nvPr/>
        </p:nvSpPr>
        <p:spPr>
          <a:xfrm>
            <a:off x="6199632" y="3328416"/>
            <a:ext cx="54864" cy="566928"/>
          </a:xfrm>
          <a:prstGeom prst="rect">
            <a:avLst/>
          </a:prstGeom>
          <a:solidFill>
            <a:srgbClr val="2ECC71"/>
          </a:solidFill>
          <a:ln/>
        </p:spPr>
      </p:sp>
      <p:sp>
        <p:nvSpPr>
          <p:cNvPr id="69" name="Text 67"/>
          <p:cNvSpPr/>
          <p:nvPr/>
        </p:nvSpPr>
        <p:spPr>
          <a:xfrm>
            <a:off x="6364224" y="3328416"/>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Top 5 verified investment signals (filtered by selected country/sector)</a:t>
            </a:r>
            <a:endParaRPr lang="en-US" sz="850" dirty="0"/>
          </a:p>
        </p:txBody>
      </p:sp>
      <p:sp>
        <p:nvSpPr>
          <p:cNvPr id="70" name="Shape 68"/>
          <p:cNvSpPr/>
          <p:nvPr/>
        </p:nvSpPr>
        <p:spPr>
          <a:xfrm>
            <a:off x="6199632" y="3913632"/>
            <a:ext cx="2505456" cy="0"/>
          </a:xfrm>
          <a:prstGeom prst="line">
            <a:avLst/>
          </a:prstGeom>
          <a:noFill/>
          <a:ln w="3810">
            <a:solidFill>
              <a:srgbClr val="ECF0F1"/>
            </a:solidFill>
            <a:prstDash val="solid"/>
          </a:ln>
        </p:spPr>
      </p:sp>
      <p:sp>
        <p:nvSpPr>
          <p:cNvPr id="71" name="Shape 69"/>
          <p:cNvSpPr/>
          <p:nvPr/>
        </p:nvSpPr>
        <p:spPr>
          <a:xfrm>
            <a:off x="6199632" y="3986784"/>
            <a:ext cx="54864" cy="566928"/>
          </a:xfrm>
          <a:prstGeom prst="rect">
            <a:avLst/>
          </a:prstGeom>
          <a:solidFill>
            <a:srgbClr val="2ECC71"/>
          </a:solidFill>
          <a:ln/>
        </p:spPr>
      </p:sp>
      <p:sp>
        <p:nvSpPr>
          <p:cNvPr id="72" name="Text 70"/>
          <p:cNvSpPr/>
          <p:nvPr/>
        </p:nvSpPr>
        <p:spPr>
          <a:xfrm>
            <a:off x="6364224" y="3986784"/>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GOSA 4-layer breakdown: L1 / L2 / L3 / L4 individual scores</a:t>
            </a:r>
            <a:endParaRPr lang="en-US" sz="850" dirty="0"/>
          </a:p>
        </p:txBody>
      </p:sp>
      <p:sp>
        <p:nvSpPr>
          <p:cNvPr id="73" name="Shape 71"/>
          <p:cNvSpPr/>
          <p:nvPr/>
        </p:nvSpPr>
        <p:spPr>
          <a:xfrm>
            <a:off x="6199632" y="4572000"/>
            <a:ext cx="2505456" cy="0"/>
          </a:xfrm>
          <a:prstGeom prst="line">
            <a:avLst/>
          </a:prstGeom>
          <a:noFill/>
          <a:ln w="3810">
            <a:solidFill>
              <a:srgbClr val="ECF0F1"/>
            </a:solidFill>
            <a:prstDash val="solid"/>
          </a:ln>
        </p:spPr>
      </p:sp>
      <p:sp>
        <p:nvSpPr>
          <p:cNvPr id="74" name="Shape 72"/>
          <p:cNvSpPr/>
          <p:nvPr/>
        </p:nvSpPr>
        <p:spPr>
          <a:xfrm>
            <a:off x="6199632" y="4645152"/>
            <a:ext cx="54864" cy="566928"/>
          </a:xfrm>
          <a:prstGeom prst="rect">
            <a:avLst/>
          </a:prstGeom>
          <a:solidFill>
            <a:srgbClr val="2ECC71"/>
          </a:solidFill>
          <a:ln/>
        </p:spPr>
      </p:sp>
      <p:sp>
        <p:nvSpPr>
          <p:cNvPr id="75" name="Text 73"/>
          <p:cNvSpPr/>
          <p:nvPr/>
        </p:nvSpPr>
        <p:spPr>
          <a:xfrm>
            <a:off x="6364224" y="4645152"/>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Zone availability summary + infrastructure status for selected economy</a:t>
            </a:r>
            <a:endParaRPr lang="en-US" sz="850" dirty="0"/>
          </a:p>
        </p:txBody>
      </p:sp>
      <p:sp>
        <p:nvSpPr>
          <p:cNvPr id="76" name="Shape 74"/>
          <p:cNvSpPr/>
          <p:nvPr/>
        </p:nvSpPr>
        <p:spPr>
          <a:xfrm>
            <a:off x="6199632" y="5230368"/>
            <a:ext cx="2505456" cy="0"/>
          </a:xfrm>
          <a:prstGeom prst="line">
            <a:avLst/>
          </a:prstGeom>
          <a:noFill/>
          <a:ln w="3810">
            <a:solidFill>
              <a:srgbClr val="ECF0F1"/>
            </a:solidFill>
            <a:prstDash val="solid"/>
          </a:ln>
        </p:spPr>
      </p:sp>
      <p:sp>
        <p:nvSpPr>
          <p:cNvPr id="77" name="Shape 75"/>
          <p:cNvSpPr/>
          <p:nvPr/>
        </p:nvSpPr>
        <p:spPr>
          <a:xfrm>
            <a:off x="6199632" y="5303520"/>
            <a:ext cx="54864" cy="566928"/>
          </a:xfrm>
          <a:prstGeom prst="rect">
            <a:avLst/>
          </a:prstGeom>
          <a:solidFill>
            <a:srgbClr val="2ECC71"/>
          </a:solidFill>
          <a:ln/>
        </p:spPr>
      </p:sp>
      <p:sp>
        <p:nvSpPr>
          <p:cNvPr id="78" name="Text 76"/>
          <p:cNvSpPr/>
          <p:nvPr/>
        </p:nvSpPr>
        <p:spPr>
          <a:xfrm>
            <a:off x="6364224" y="530352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Competitive landscape: peer country comparison (2 closest competitors)</a:t>
            </a:r>
            <a:endParaRPr lang="en-US" sz="850" dirty="0"/>
          </a:p>
        </p:txBody>
      </p:sp>
      <p:sp>
        <p:nvSpPr>
          <p:cNvPr id="79" name="Shape 77"/>
          <p:cNvSpPr/>
          <p:nvPr/>
        </p:nvSpPr>
        <p:spPr>
          <a:xfrm>
            <a:off x="8924544" y="1463040"/>
            <a:ext cx="2761488" cy="4626864"/>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80" name="Shape 78"/>
          <p:cNvSpPr/>
          <p:nvPr/>
        </p:nvSpPr>
        <p:spPr>
          <a:xfrm>
            <a:off x="8924544" y="1463040"/>
            <a:ext cx="2761488" cy="457200"/>
          </a:xfrm>
          <a:prstGeom prst="rect">
            <a:avLst/>
          </a:prstGeom>
          <a:solidFill>
            <a:srgbClr val="F1C40F"/>
          </a:solidFill>
          <a:ln/>
        </p:spPr>
      </p:sp>
      <p:sp>
        <p:nvSpPr>
          <p:cNvPr id="81" name="Text 79"/>
          <p:cNvSpPr/>
          <p:nvPr/>
        </p:nvSpPr>
        <p:spPr>
          <a:xfrm>
            <a:off x="8924544" y="1463040"/>
            <a:ext cx="2761488" cy="228600"/>
          </a:xfrm>
          <a:prstGeom prst="rect">
            <a:avLst/>
          </a:prstGeom>
          <a:noFill/>
          <a:ln/>
        </p:spPr>
        <p:txBody>
          <a:bodyPr wrap="square" lIns="0" tIns="0" rIns="0" bIns="0" rtlCol="0" anchor="ctr"/>
          <a:lstStyle/>
          <a:p>
            <a:pPr algn="ctr" indent="0" marL="0">
              <a:buNone/>
            </a:pPr>
            <a:r>
              <a:rPr lang="en-US" sz="800" b="1" spc="200" kern="0" dirty="0">
                <a:solidFill>
                  <a:srgbClr val="FFFFFF"/>
                </a:solidFill>
              </a:rPr>
              <a:t>PAGE 4</a:t>
            </a:r>
            <a:endParaRPr lang="en-US" sz="800" dirty="0"/>
          </a:p>
        </p:txBody>
      </p:sp>
      <p:sp>
        <p:nvSpPr>
          <p:cNvPr id="82" name="Text 80"/>
          <p:cNvSpPr/>
          <p:nvPr/>
        </p:nvSpPr>
        <p:spPr>
          <a:xfrm>
            <a:off x="8924544" y="1673352"/>
            <a:ext cx="2761488" cy="246888"/>
          </a:xfrm>
          <a:prstGeom prst="rect">
            <a:avLst/>
          </a:prstGeom>
          <a:noFill/>
          <a:ln/>
        </p:spPr>
        <p:txBody>
          <a:bodyPr wrap="square" lIns="0" tIns="0" rIns="0" bIns="0" rtlCol="0" anchor="ctr"/>
          <a:lstStyle/>
          <a:p>
            <a:pPr algn="ctr" indent="0" marL="0">
              <a:buNone/>
            </a:pPr>
            <a:r>
              <a:rPr lang="en-US" sz="900" b="1" dirty="0">
                <a:solidFill>
                  <a:srgbClr val="FFFFFF"/>
                </a:solidFill>
              </a:rPr>
              <a:t>ABOUT &amp; CALL TO ACTION</a:t>
            </a:r>
            <a:endParaRPr lang="en-US" sz="900" dirty="0"/>
          </a:p>
        </p:txBody>
      </p:sp>
      <p:sp>
        <p:nvSpPr>
          <p:cNvPr id="83" name="Shape 81"/>
          <p:cNvSpPr/>
          <p:nvPr/>
        </p:nvSpPr>
        <p:spPr>
          <a:xfrm>
            <a:off x="11301984" y="1481328"/>
            <a:ext cx="347472" cy="347472"/>
          </a:xfrm>
          <a:prstGeom prst="rect">
            <a:avLst/>
          </a:prstGeom>
          <a:solidFill>
            <a:srgbClr val="2A4A6A"/>
          </a:solidFill>
          <a:ln/>
        </p:spPr>
      </p:sp>
      <p:sp>
        <p:nvSpPr>
          <p:cNvPr id="84" name="Text 82"/>
          <p:cNvSpPr/>
          <p:nvPr/>
        </p:nvSpPr>
        <p:spPr>
          <a:xfrm>
            <a:off x="11301984" y="1481328"/>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85" name="Shape 83"/>
          <p:cNvSpPr/>
          <p:nvPr/>
        </p:nvSpPr>
        <p:spPr>
          <a:xfrm>
            <a:off x="9052560" y="2011680"/>
            <a:ext cx="54864" cy="566928"/>
          </a:xfrm>
          <a:prstGeom prst="rect">
            <a:avLst/>
          </a:prstGeom>
          <a:solidFill>
            <a:srgbClr val="2ECC71"/>
          </a:solidFill>
          <a:ln/>
        </p:spPr>
      </p:sp>
      <p:sp>
        <p:nvSpPr>
          <p:cNvPr id="86" name="Text 84"/>
          <p:cNvSpPr/>
          <p:nvPr/>
        </p:nvSpPr>
        <p:spPr>
          <a:xfrm>
            <a:off x="9217152" y="201168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About Global FDI Monitor — platform purpose &amp; methodology summary</a:t>
            </a:r>
            <a:endParaRPr lang="en-US" sz="850" dirty="0"/>
          </a:p>
        </p:txBody>
      </p:sp>
      <p:sp>
        <p:nvSpPr>
          <p:cNvPr id="87" name="Shape 85"/>
          <p:cNvSpPr/>
          <p:nvPr/>
        </p:nvSpPr>
        <p:spPr>
          <a:xfrm>
            <a:off x="9052560" y="2596896"/>
            <a:ext cx="2505456" cy="0"/>
          </a:xfrm>
          <a:prstGeom prst="line">
            <a:avLst/>
          </a:prstGeom>
          <a:noFill/>
          <a:ln w="3810">
            <a:solidFill>
              <a:srgbClr val="ECF0F1"/>
            </a:solidFill>
            <a:prstDash val="solid"/>
          </a:ln>
        </p:spPr>
      </p:sp>
      <p:sp>
        <p:nvSpPr>
          <p:cNvPr id="88" name="Shape 86"/>
          <p:cNvSpPr/>
          <p:nvPr/>
        </p:nvSpPr>
        <p:spPr>
          <a:xfrm>
            <a:off x="9052560" y="2670048"/>
            <a:ext cx="54864" cy="566928"/>
          </a:xfrm>
          <a:prstGeom prst="rect">
            <a:avLst/>
          </a:prstGeom>
          <a:solidFill>
            <a:srgbClr val="2ECC71"/>
          </a:solidFill>
          <a:ln/>
        </p:spPr>
      </p:sp>
      <p:sp>
        <p:nvSpPr>
          <p:cNvPr id="89" name="Text 87"/>
          <p:cNvSpPr/>
          <p:nvPr/>
        </p:nvSpPr>
        <p:spPr>
          <a:xfrm>
            <a:off x="9217152" y="2670048"/>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GOSA formula with layer weights and data source descriptions</a:t>
            </a:r>
            <a:endParaRPr lang="en-US" sz="850" dirty="0"/>
          </a:p>
        </p:txBody>
      </p:sp>
      <p:sp>
        <p:nvSpPr>
          <p:cNvPr id="90" name="Shape 88"/>
          <p:cNvSpPr/>
          <p:nvPr/>
        </p:nvSpPr>
        <p:spPr>
          <a:xfrm>
            <a:off x="9052560" y="3255264"/>
            <a:ext cx="2505456" cy="0"/>
          </a:xfrm>
          <a:prstGeom prst="line">
            <a:avLst/>
          </a:prstGeom>
          <a:noFill/>
          <a:ln w="3810">
            <a:solidFill>
              <a:srgbClr val="ECF0F1"/>
            </a:solidFill>
            <a:prstDash val="solid"/>
          </a:ln>
        </p:spPr>
      </p:sp>
      <p:sp>
        <p:nvSpPr>
          <p:cNvPr id="91" name="Shape 89"/>
          <p:cNvSpPr/>
          <p:nvPr/>
        </p:nvSpPr>
        <p:spPr>
          <a:xfrm>
            <a:off x="9052560" y="3328416"/>
            <a:ext cx="54864" cy="566928"/>
          </a:xfrm>
          <a:prstGeom prst="rect">
            <a:avLst/>
          </a:prstGeom>
          <a:solidFill>
            <a:srgbClr val="2ECC71"/>
          </a:solidFill>
          <a:ln/>
        </p:spPr>
      </p:sp>
      <p:sp>
        <p:nvSpPr>
          <p:cNvPr id="92" name="Text 90"/>
          <p:cNvSpPr/>
          <p:nvPr/>
        </p:nvSpPr>
        <p:spPr>
          <a:xfrm>
            <a:off x="9217152" y="3328416"/>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[Generate Your Custom Report] — hyperlinked CTA to platform</a:t>
            </a:r>
            <a:endParaRPr lang="en-US" sz="850" dirty="0"/>
          </a:p>
        </p:txBody>
      </p:sp>
      <p:sp>
        <p:nvSpPr>
          <p:cNvPr id="93" name="Shape 91"/>
          <p:cNvSpPr/>
          <p:nvPr/>
        </p:nvSpPr>
        <p:spPr>
          <a:xfrm>
            <a:off x="9052560" y="3913632"/>
            <a:ext cx="2505456" cy="0"/>
          </a:xfrm>
          <a:prstGeom prst="line">
            <a:avLst/>
          </a:prstGeom>
          <a:noFill/>
          <a:ln w="3810">
            <a:solidFill>
              <a:srgbClr val="ECF0F1"/>
            </a:solidFill>
            <a:prstDash val="solid"/>
          </a:ln>
        </p:spPr>
      </p:sp>
      <p:sp>
        <p:nvSpPr>
          <p:cNvPr id="94" name="Shape 92"/>
          <p:cNvSpPr/>
          <p:nvPr/>
        </p:nvSpPr>
        <p:spPr>
          <a:xfrm>
            <a:off x="9052560" y="3986784"/>
            <a:ext cx="54864" cy="566928"/>
          </a:xfrm>
          <a:prstGeom prst="rect">
            <a:avLst/>
          </a:prstGeom>
          <a:solidFill>
            <a:srgbClr val="2ECC71"/>
          </a:solidFill>
          <a:ln/>
        </p:spPr>
      </p:sp>
      <p:sp>
        <p:nvSpPr>
          <p:cNvPr id="95" name="Text 93"/>
          <p:cNvSpPr/>
          <p:nvPr/>
        </p:nvSpPr>
        <p:spPr>
          <a:xfrm>
            <a:off x="9217152" y="3986784"/>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Platform statistics: 215+ economies · 304+ sources · Weekly updates</a:t>
            </a:r>
            <a:endParaRPr lang="en-US" sz="850" dirty="0"/>
          </a:p>
        </p:txBody>
      </p:sp>
      <p:sp>
        <p:nvSpPr>
          <p:cNvPr id="96" name="Shape 94"/>
          <p:cNvSpPr/>
          <p:nvPr/>
        </p:nvSpPr>
        <p:spPr>
          <a:xfrm>
            <a:off x="9052560" y="4572000"/>
            <a:ext cx="2505456" cy="0"/>
          </a:xfrm>
          <a:prstGeom prst="line">
            <a:avLst/>
          </a:prstGeom>
          <a:noFill/>
          <a:ln w="3810">
            <a:solidFill>
              <a:srgbClr val="ECF0F1"/>
            </a:solidFill>
            <a:prstDash val="solid"/>
          </a:ln>
        </p:spPr>
      </p:sp>
      <p:sp>
        <p:nvSpPr>
          <p:cNvPr id="97" name="Shape 95"/>
          <p:cNvSpPr/>
          <p:nvPr/>
        </p:nvSpPr>
        <p:spPr>
          <a:xfrm>
            <a:off x="9052560" y="4645152"/>
            <a:ext cx="54864" cy="566928"/>
          </a:xfrm>
          <a:prstGeom prst="rect">
            <a:avLst/>
          </a:prstGeom>
          <a:solidFill>
            <a:srgbClr val="2ECC71"/>
          </a:solidFill>
          <a:ln/>
        </p:spPr>
      </p:sp>
      <p:sp>
        <p:nvSpPr>
          <p:cNvPr id="98" name="Text 96"/>
          <p:cNvSpPr/>
          <p:nvPr/>
        </p:nvSpPr>
        <p:spPr>
          <a:xfrm>
            <a:off x="9217152" y="4645152"/>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Contact: info@fdimonitor.org · www.fdimonitor.org · LinkedIn · Twitter</a:t>
            </a:r>
            <a:endParaRPr lang="en-US" sz="850" dirty="0"/>
          </a:p>
        </p:txBody>
      </p:sp>
      <p:sp>
        <p:nvSpPr>
          <p:cNvPr id="99" name="Shape 97"/>
          <p:cNvSpPr/>
          <p:nvPr/>
        </p:nvSpPr>
        <p:spPr>
          <a:xfrm>
            <a:off x="9052560" y="5230368"/>
            <a:ext cx="2505456" cy="0"/>
          </a:xfrm>
          <a:prstGeom prst="line">
            <a:avLst/>
          </a:prstGeom>
          <a:noFill/>
          <a:ln w="3810">
            <a:solidFill>
              <a:srgbClr val="ECF0F1"/>
            </a:solidFill>
            <a:prstDash val="solid"/>
          </a:ln>
        </p:spPr>
      </p:sp>
      <p:sp>
        <p:nvSpPr>
          <p:cNvPr id="100" name="Shape 98"/>
          <p:cNvSpPr/>
          <p:nvPr/>
        </p:nvSpPr>
        <p:spPr>
          <a:xfrm>
            <a:off x="9052560" y="5303520"/>
            <a:ext cx="54864" cy="566928"/>
          </a:xfrm>
          <a:prstGeom prst="rect">
            <a:avLst/>
          </a:prstGeom>
          <a:solidFill>
            <a:srgbClr val="2ECC71"/>
          </a:solidFill>
          <a:ln/>
        </p:spPr>
      </p:sp>
      <p:sp>
        <p:nvSpPr>
          <p:cNvPr id="101" name="Text 99"/>
          <p:cNvSpPr/>
          <p:nvPr/>
        </p:nvSpPr>
        <p:spPr>
          <a:xfrm>
            <a:off x="9217152" y="5303520"/>
            <a:ext cx="2359152" cy="594360"/>
          </a:xfrm>
          <a:prstGeom prst="rect">
            <a:avLst/>
          </a:prstGeom>
          <a:noFill/>
          <a:ln/>
        </p:spPr>
        <p:txBody>
          <a:bodyPr wrap="square" lIns="0" tIns="0" rIns="0" bIns="0" rtlCol="0" anchor="ctr"/>
          <a:lstStyle/>
          <a:p>
            <a:pPr indent="0" marL="0">
              <a:lnSpc>
                <a:spcPct val="135000"/>
              </a:lnSpc>
              <a:buNone/>
            </a:pPr>
            <a:r>
              <a:rPr lang="en-US" sz="850" dirty="0">
                <a:solidFill>
                  <a:srgbClr val="1A2C3E"/>
                </a:solidFill>
              </a:rPr>
              <a:t>© 2026 Global FDI Monitor — All rights reserved</a:t>
            </a:r>
            <a:endParaRPr lang="en-US" sz="850" dirty="0"/>
          </a:p>
        </p:txBody>
      </p:sp>
      <p:sp>
        <p:nvSpPr>
          <p:cNvPr id="102" name="Shape 100"/>
          <p:cNvSpPr/>
          <p:nvPr/>
        </p:nvSpPr>
        <p:spPr>
          <a:xfrm>
            <a:off x="365760" y="6199632"/>
            <a:ext cx="11430000" cy="256032"/>
          </a:xfrm>
          <a:prstGeom prst="rect">
            <a:avLst/>
          </a:prstGeom>
          <a:solidFill>
            <a:srgbClr val="1A2C3E"/>
          </a:solidFill>
          <a:ln/>
          <a:effectLst>
            <a:outerShdw sx="100000" sy="100000" kx="0" ky="0" algn="bl" rotWithShape="0" blurRad="127000" dist="38100" dir="8100000">
              <a:srgbClr val="000000">
                <a:alpha val="10000"/>
              </a:srgbClr>
            </a:outerShdw>
          </a:effectLst>
        </p:spPr>
      </p:sp>
      <p:sp>
        <p:nvSpPr>
          <p:cNvPr id="103" name="Text 101"/>
          <p:cNvSpPr/>
          <p:nvPr/>
        </p:nvSpPr>
        <p:spPr>
          <a:xfrm>
            <a:off x="548640" y="6217920"/>
            <a:ext cx="11430000" cy="219456"/>
          </a:xfrm>
          <a:prstGeom prst="rect">
            <a:avLst/>
          </a:prstGeom>
          <a:noFill/>
          <a:ln/>
        </p:spPr>
        <p:txBody>
          <a:bodyPr wrap="square" lIns="0" tIns="0" rIns="0" bIns="0" rtlCol="0" anchor="ctr"/>
          <a:lstStyle/>
          <a:p>
            <a:pPr algn="ctr" indent="0" marL="0">
              <a:buNone/>
            </a:pPr>
            <a:r>
              <a:rPr lang="en-US" sz="800" dirty="0">
                <a:solidFill>
                  <a:srgbClr val="2ECC71"/>
                </a:solidFill>
              </a:rPr>
              <a:t>Format: A4 PDF 1.7  ·  Margins: 0.5"  ·  Naming: GLOBAL_FDI_MONITOR_{type}_{country}_{date}.pdf  ·  Storage: AWS S3 public URL  ·  Agent: AGT-05 Report Generator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Newsletter System</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Weekly Newsletter — Automated AI Pipeline &amp; Distribution</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Technology: GPT-4 + SendGrid + LinkedIn API + AWS S3  ·  Agents: AGT-06 Newsletter + AGT-02 Signal Detection</a:t>
            </a:r>
            <a:endParaRPr lang="en-US" sz="1000" dirty="0"/>
          </a:p>
        </p:txBody>
      </p:sp>
      <p:sp>
        <p:nvSpPr>
          <p:cNvPr id="10" name="Shape 8"/>
          <p:cNvSpPr/>
          <p:nvPr/>
        </p:nvSpPr>
        <p:spPr>
          <a:xfrm>
            <a:off x="365760" y="1463040"/>
            <a:ext cx="2816352" cy="457200"/>
          </a:xfrm>
          <a:prstGeom prst="rect">
            <a:avLst/>
          </a:prstGeom>
          <a:solidFill>
            <a:srgbClr val="1A2C3E"/>
          </a:solidFill>
          <a:ln/>
          <a:effectLst>
            <a:outerShdw sx="100000" sy="100000" kx="0" ky="0" algn="bl" rotWithShape="0" blurRad="127000" dist="38100" dir="8100000">
              <a:srgbClr val="000000">
                <a:alpha val="10000"/>
              </a:srgbClr>
            </a:outerShdw>
          </a:effectLst>
        </p:spPr>
      </p:sp>
      <p:sp>
        <p:nvSpPr>
          <p:cNvPr id="11" name="Text 9"/>
          <p:cNvSpPr/>
          <p:nvPr/>
        </p:nvSpPr>
        <p:spPr>
          <a:xfrm>
            <a:off x="365760" y="1463040"/>
            <a:ext cx="2816352" cy="457200"/>
          </a:xfrm>
          <a:prstGeom prst="rect">
            <a:avLst/>
          </a:prstGeom>
          <a:noFill/>
          <a:ln/>
        </p:spPr>
        <p:txBody>
          <a:bodyPr wrap="square" lIns="0" tIns="0" rIns="0" bIns="0" rtlCol="0" anchor="ctr"/>
          <a:lstStyle/>
          <a:p>
            <a:pPr algn="ctr" indent="0" marL="0">
              <a:buNone/>
            </a:pPr>
            <a:r>
              <a:rPr lang="en-US" sz="950" b="1" dirty="0">
                <a:solidFill>
                  <a:srgbClr val="FFFFFF"/>
                </a:solidFill>
              </a:rPr>
              <a:t>MON 00:00 GMT</a:t>
            </a:r>
            <a:endParaRPr lang="en-US" sz="950" dirty="0"/>
          </a:p>
        </p:txBody>
      </p:sp>
      <p:sp>
        <p:nvSpPr>
          <p:cNvPr id="12" name="Shape 10"/>
          <p:cNvSpPr/>
          <p:nvPr/>
        </p:nvSpPr>
        <p:spPr>
          <a:xfrm>
            <a:off x="3218688" y="1691640"/>
            <a:ext cx="73152" cy="0"/>
          </a:xfrm>
          <a:prstGeom prst="line">
            <a:avLst/>
          </a:prstGeom>
          <a:noFill/>
          <a:ln w="25400">
            <a:solidFill>
              <a:srgbClr val="2ECC71"/>
            </a:solidFill>
            <a:prstDash val="solid"/>
          </a:ln>
        </p:spPr>
      </p:sp>
      <p:sp>
        <p:nvSpPr>
          <p:cNvPr id="13" name="Text 11"/>
          <p:cNvSpPr/>
          <p:nvPr/>
        </p:nvSpPr>
        <p:spPr>
          <a:xfrm>
            <a:off x="3182112" y="1609344"/>
            <a:ext cx="182880" cy="274320"/>
          </a:xfrm>
          <a:prstGeom prst="rect">
            <a:avLst/>
          </a:prstGeom>
          <a:noFill/>
          <a:ln/>
        </p:spPr>
        <p:txBody>
          <a:bodyPr wrap="square" lIns="0" tIns="0" rIns="0" bIns="0" rtlCol="0" anchor="ctr"/>
          <a:lstStyle/>
          <a:p>
            <a:pPr algn="ctr" indent="0" marL="0">
              <a:buNone/>
            </a:pPr>
            <a:r>
              <a:rPr lang="en-US" sz="1400" dirty="0">
                <a:solidFill>
                  <a:srgbClr val="2ECC71"/>
                </a:solidFill>
              </a:rPr>
              <a:t>→</a:t>
            </a:r>
            <a:endParaRPr lang="en-US" sz="1400" dirty="0"/>
          </a:p>
        </p:txBody>
      </p:sp>
      <p:sp>
        <p:nvSpPr>
          <p:cNvPr id="14" name="Shape 12"/>
          <p:cNvSpPr/>
          <p:nvPr/>
        </p:nvSpPr>
        <p:spPr>
          <a:xfrm>
            <a:off x="365760" y="1993392"/>
            <a:ext cx="2816352" cy="411480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5" name="Shape 13"/>
          <p:cNvSpPr/>
          <p:nvPr/>
        </p:nvSpPr>
        <p:spPr>
          <a:xfrm>
            <a:off x="365760" y="1993392"/>
            <a:ext cx="2816352" cy="64008"/>
          </a:xfrm>
          <a:prstGeom prst="rect">
            <a:avLst/>
          </a:prstGeom>
          <a:solidFill>
            <a:srgbClr val="1A2C3E"/>
          </a:solidFill>
          <a:ln/>
        </p:spPr>
      </p:sp>
      <p:sp>
        <p:nvSpPr>
          <p:cNvPr id="16" name="Text 14"/>
          <p:cNvSpPr/>
          <p:nvPr/>
        </p:nvSpPr>
        <p:spPr>
          <a:xfrm>
            <a:off x="365760" y="2066544"/>
            <a:ext cx="2816352" cy="420624"/>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7" name="Text 15"/>
          <p:cNvSpPr/>
          <p:nvPr/>
        </p:nvSpPr>
        <p:spPr>
          <a:xfrm>
            <a:off x="493776" y="2505456"/>
            <a:ext cx="2560320" cy="274320"/>
          </a:xfrm>
          <a:prstGeom prst="rect">
            <a:avLst/>
          </a:prstGeom>
          <a:noFill/>
          <a:ln/>
        </p:spPr>
        <p:txBody>
          <a:bodyPr wrap="square" lIns="0" tIns="0" rIns="0" bIns="0" rtlCol="0" anchor="ctr"/>
          <a:lstStyle/>
          <a:p>
            <a:pPr algn="ctr" indent="0" marL="0">
              <a:buNone/>
            </a:pPr>
            <a:r>
              <a:rPr lang="en-US" sz="1300" b="1" dirty="0">
                <a:solidFill>
                  <a:srgbClr val="1A2C3E"/>
                </a:solidFill>
              </a:rPr>
              <a:t>AI Data Ingestion</a:t>
            </a:r>
            <a:endParaRPr lang="en-US" sz="1300" dirty="0"/>
          </a:p>
        </p:txBody>
      </p:sp>
      <p:sp>
        <p:nvSpPr>
          <p:cNvPr id="18" name="Text 16"/>
          <p:cNvSpPr/>
          <p:nvPr/>
        </p:nvSpPr>
        <p:spPr>
          <a:xfrm>
            <a:off x="493776" y="2798064"/>
            <a:ext cx="2560320" cy="201168"/>
          </a:xfrm>
          <a:prstGeom prst="rect">
            <a:avLst/>
          </a:prstGeom>
          <a:noFill/>
          <a:ln/>
        </p:spPr>
        <p:txBody>
          <a:bodyPr wrap="square" lIns="0" tIns="0" rIns="0" bIns="0" rtlCol="0" anchor="ctr"/>
          <a:lstStyle/>
          <a:p>
            <a:pPr algn="ctr" indent="0" marL="0">
              <a:buNone/>
            </a:pPr>
            <a:r>
              <a:rPr lang="en-US" sz="850" b="1" dirty="0">
                <a:solidFill>
                  <a:srgbClr val="1A2C3E"/>
                </a:solidFill>
              </a:rPr>
              <a:t>Puppeteer + GPT-4</a:t>
            </a:r>
            <a:endParaRPr lang="en-US" sz="850" dirty="0"/>
          </a:p>
        </p:txBody>
      </p:sp>
      <p:sp>
        <p:nvSpPr>
          <p:cNvPr id="19" name="Shape 17"/>
          <p:cNvSpPr/>
          <p:nvPr/>
        </p:nvSpPr>
        <p:spPr>
          <a:xfrm>
            <a:off x="493776" y="3035808"/>
            <a:ext cx="2560320" cy="0"/>
          </a:xfrm>
          <a:prstGeom prst="line">
            <a:avLst/>
          </a:prstGeom>
          <a:noFill/>
          <a:ln w="6350">
            <a:solidFill>
              <a:srgbClr val="ECF0F1"/>
            </a:solidFill>
            <a:prstDash val="solid"/>
          </a:ln>
        </p:spPr>
      </p:sp>
      <p:sp>
        <p:nvSpPr>
          <p:cNvPr id="20" name="Text 18"/>
          <p:cNvSpPr/>
          <p:nvPr/>
        </p:nvSpPr>
        <p:spPr>
          <a:xfrm>
            <a:off x="493776" y="312724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1A2C3E"/>
                </a:solidFill>
              </a:rPr>
              <a:t>✓ </a:t>
            </a:r>
            <a:pPr indent="0" marL="0">
              <a:lnSpc>
                <a:spcPct val="130000"/>
              </a:lnSpc>
              <a:buNone/>
            </a:pPr>
            <a:r>
              <a:rPr lang="en-US" sz="850" dirty="0">
                <a:solidFill>
                  <a:srgbClr val="1A2C3E"/>
                </a:solidFill>
              </a:rPr>
              <a:t>Puppeteer/Playwright scrapes 304+ gov sources</a:t>
            </a:r>
            <a:endParaRPr lang="en-US" sz="850" dirty="0"/>
          </a:p>
        </p:txBody>
      </p:sp>
      <p:sp>
        <p:nvSpPr>
          <p:cNvPr id="21" name="Text 19"/>
          <p:cNvSpPr/>
          <p:nvPr/>
        </p:nvSpPr>
        <p:spPr>
          <a:xfrm>
            <a:off x="493776" y="3602736"/>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1A2C3E"/>
                </a:solidFill>
              </a:rPr>
              <a:t>✓ </a:t>
            </a:r>
            <a:pPr indent="0" marL="0">
              <a:lnSpc>
                <a:spcPct val="130000"/>
              </a:lnSpc>
              <a:buNone/>
            </a:pPr>
            <a:r>
              <a:rPr lang="en-US" sz="850" dirty="0">
                <a:solidFill>
                  <a:srgbClr val="1A2C3E"/>
                </a:solidFill>
              </a:rPr>
              <a:t>GPT-4 analyzes 500+ investment signals</a:t>
            </a:r>
            <a:endParaRPr lang="en-US" sz="850" dirty="0"/>
          </a:p>
        </p:txBody>
      </p:sp>
      <p:sp>
        <p:nvSpPr>
          <p:cNvPr id="22" name="Text 20"/>
          <p:cNvSpPr/>
          <p:nvPr/>
        </p:nvSpPr>
        <p:spPr>
          <a:xfrm>
            <a:off x="493776" y="4078224"/>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1A2C3E"/>
                </a:solidFill>
              </a:rPr>
              <a:t>✓ </a:t>
            </a:r>
            <a:pPr indent="0" marL="0">
              <a:lnSpc>
                <a:spcPct val="130000"/>
              </a:lnSpc>
              <a:buNone/>
            </a:pPr>
            <a:r>
              <a:rPr lang="en-US" sz="850" dirty="0">
                <a:solidFill>
                  <a:srgbClr val="1A2C3E"/>
                </a:solidFill>
              </a:rPr>
              <a:t>SCI ranking: Impact(35%)+Relevance(25%)+Timeliness(20%)+Geo(10%)+Authority(10%)</a:t>
            </a:r>
            <a:endParaRPr lang="en-US" sz="850" dirty="0"/>
          </a:p>
        </p:txBody>
      </p:sp>
      <p:sp>
        <p:nvSpPr>
          <p:cNvPr id="23" name="Text 21"/>
          <p:cNvSpPr/>
          <p:nvPr/>
        </p:nvSpPr>
        <p:spPr>
          <a:xfrm>
            <a:off x="493776" y="4553712"/>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1A2C3E"/>
                </a:solidFill>
              </a:rPr>
              <a:t>✓ </a:t>
            </a:r>
            <a:pPr indent="0" marL="0">
              <a:lnSpc>
                <a:spcPct val="130000"/>
              </a:lnSpc>
              <a:buNone/>
            </a:pPr>
            <a:r>
              <a:rPr lang="en-US" sz="850" dirty="0">
                <a:solidFill>
                  <a:srgbClr val="1A2C3E"/>
                </a:solidFill>
              </a:rPr>
              <a:t>Generates 4-section HTML email (responsive + tracked)</a:t>
            </a:r>
            <a:endParaRPr lang="en-US" sz="850" dirty="0"/>
          </a:p>
        </p:txBody>
      </p:sp>
      <p:sp>
        <p:nvSpPr>
          <p:cNvPr id="24" name="Text 22"/>
          <p:cNvSpPr/>
          <p:nvPr/>
        </p:nvSpPr>
        <p:spPr>
          <a:xfrm>
            <a:off x="493776" y="5029200"/>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1A2C3E"/>
                </a:solidFill>
              </a:rPr>
              <a:t>✓ </a:t>
            </a:r>
            <a:pPr indent="0" marL="0">
              <a:lnSpc>
                <a:spcPct val="130000"/>
              </a:lnSpc>
              <a:buNone/>
            </a:pPr>
            <a:r>
              <a:rPr lang="en-US" sz="850" dirty="0">
                <a:solidFill>
                  <a:srgbClr val="1A2C3E"/>
                </a:solidFill>
              </a:rPr>
              <a:t>Generates 4-page PDF (Puppeteer → print-optimised)</a:t>
            </a:r>
            <a:endParaRPr lang="en-US" sz="850" dirty="0"/>
          </a:p>
        </p:txBody>
      </p:sp>
      <p:sp>
        <p:nvSpPr>
          <p:cNvPr id="25" name="Text 23"/>
          <p:cNvSpPr/>
          <p:nvPr/>
        </p:nvSpPr>
        <p:spPr>
          <a:xfrm>
            <a:off x="493776" y="550468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1A2C3E"/>
                </a:solidFill>
              </a:rPr>
              <a:t>✓ </a:t>
            </a:r>
            <a:pPr indent="0" marL="0">
              <a:lnSpc>
                <a:spcPct val="130000"/>
              </a:lnSpc>
              <a:buNone/>
            </a:pPr>
            <a:r>
              <a:rPr lang="en-US" sz="850" dirty="0">
                <a:solidFill>
                  <a:srgbClr val="1A2C3E"/>
                </a:solidFill>
              </a:rPr>
              <a:t>Status → DB: pending_review</a:t>
            </a:r>
            <a:endParaRPr lang="en-US" sz="850" dirty="0"/>
          </a:p>
        </p:txBody>
      </p:sp>
      <p:sp>
        <p:nvSpPr>
          <p:cNvPr id="26" name="Shape 24"/>
          <p:cNvSpPr/>
          <p:nvPr/>
        </p:nvSpPr>
        <p:spPr>
          <a:xfrm>
            <a:off x="3310128" y="1463040"/>
            <a:ext cx="2816352" cy="457200"/>
          </a:xfrm>
          <a:prstGeom prst="rect">
            <a:avLst/>
          </a:prstGeom>
          <a:solidFill>
            <a:srgbClr val="3498DB"/>
          </a:solidFill>
          <a:ln/>
          <a:effectLst>
            <a:outerShdw sx="100000" sy="100000" kx="0" ky="0" algn="bl" rotWithShape="0" blurRad="127000" dist="38100" dir="8100000">
              <a:srgbClr val="000000">
                <a:alpha val="10000"/>
              </a:srgbClr>
            </a:outerShdw>
          </a:effectLst>
        </p:spPr>
      </p:sp>
      <p:sp>
        <p:nvSpPr>
          <p:cNvPr id="27" name="Text 25"/>
          <p:cNvSpPr/>
          <p:nvPr/>
        </p:nvSpPr>
        <p:spPr>
          <a:xfrm>
            <a:off x="3310128" y="1463040"/>
            <a:ext cx="2816352" cy="457200"/>
          </a:xfrm>
          <a:prstGeom prst="rect">
            <a:avLst/>
          </a:prstGeom>
          <a:noFill/>
          <a:ln/>
        </p:spPr>
        <p:txBody>
          <a:bodyPr wrap="square" lIns="0" tIns="0" rIns="0" bIns="0" rtlCol="0" anchor="ctr"/>
          <a:lstStyle/>
          <a:p>
            <a:pPr algn="ctr" indent="0" marL="0">
              <a:buNone/>
            </a:pPr>
            <a:r>
              <a:rPr lang="en-US" sz="950" b="1" dirty="0">
                <a:solidFill>
                  <a:srgbClr val="FFFFFF"/>
                </a:solidFill>
              </a:rPr>
              <a:t>MON 10:00–16:00</a:t>
            </a:r>
            <a:endParaRPr lang="en-US" sz="950" dirty="0"/>
          </a:p>
        </p:txBody>
      </p:sp>
      <p:sp>
        <p:nvSpPr>
          <p:cNvPr id="28" name="Shape 26"/>
          <p:cNvSpPr/>
          <p:nvPr/>
        </p:nvSpPr>
        <p:spPr>
          <a:xfrm>
            <a:off x="6163056" y="1691640"/>
            <a:ext cx="73152" cy="0"/>
          </a:xfrm>
          <a:prstGeom prst="line">
            <a:avLst/>
          </a:prstGeom>
          <a:noFill/>
          <a:ln w="25400">
            <a:solidFill>
              <a:srgbClr val="2ECC71"/>
            </a:solidFill>
            <a:prstDash val="solid"/>
          </a:ln>
        </p:spPr>
      </p:sp>
      <p:sp>
        <p:nvSpPr>
          <p:cNvPr id="29" name="Text 27"/>
          <p:cNvSpPr/>
          <p:nvPr/>
        </p:nvSpPr>
        <p:spPr>
          <a:xfrm>
            <a:off x="6126480" y="1609344"/>
            <a:ext cx="182880" cy="274320"/>
          </a:xfrm>
          <a:prstGeom prst="rect">
            <a:avLst/>
          </a:prstGeom>
          <a:noFill/>
          <a:ln/>
        </p:spPr>
        <p:txBody>
          <a:bodyPr wrap="square" lIns="0" tIns="0" rIns="0" bIns="0" rtlCol="0" anchor="ctr"/>
          <a:lstStyle/>
          <a:p>
            <a:pPr algn="ctr" indent="0" marL="0">
              <a:buNone/>
            </a:pPr>
            <a:r>
              <a:rPr lang="en-US" sz="1400" dirty="0">
                <a:solidFill>
                  <a:srgbClr val="2ECC71"/>
                </a:solidFill>
              </a:rPr>
              <a:t>→</a:t>
            </a:r>
            <a:endParaRPr lang="en-US" sz="1400" dirty="0"/>
          </a:p>
        </p:txBody>
      </p:sp>
      <p:sp>
        <p:nvSpPr>
          <p:cNvPr id="30" name="Shape 28"/>
          <p:cNvSpPr/>
          <p:nvPr/>
        </p:nvSpPr>
        <p:spPr>
          <a:xfrm>
            <a:off x="3310128" y="1993392"/>
            <a:ext cx="2816352" cy="411480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31" name="Shape 29"/>
          <p:cNvSpPr/>
          <p:nvPr/>
        </p:nvSpPr>
        <p:spPr>
          <a:xfrm>
            <a:off x="3310128" y="1993392"/>
            <a:ext cx="2816352" cy="64008"/>
          </a:xfrm>
          <a:prstGeom prst="rect">
            <a:avLst/>
          </a:prstGeom>
          <a:solidFill>
            <a:srgbClr val="3498DB"/>
          </a:solidFill>
          <a:ln/>
        </p:spPr>
      </p:sp>
      <p:sp>
        <p:nvSpPr>
          <p:cNvPr id="32" name="Text 30"/>
          <p:cNvSpPr/>
          <p:nvPr/>
        </p:nvSpPr>
        <p:spPr>
          <a:xfrm>
            <a:off x="3310128" y="2066544"/>
            <a:ext cx="2816352" cy="420624"/>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33" name="Text 31"/>
          <p:cNvSpPr/>
          <p:nvPr/>
        </p:nvSpPr>
        <p:spPr>
          <a:xfrm>
            <a:off x="3438144" y="2505456"/>
            <a:ext cx="2560320" cy="274320"/>
          </a:xfrm>
          <a:prstGeom prst="rect">
            <a:avLst/>
          </a:prstGeom>
          <a:noFill/>
          <a:ln/>
        </p:spPr>
        <p:txBody>
          <a:bodyPr wrap="square" lIns="0" tIns="0" rIns="0" bIns="0" rtlCol="0" anchor="ctr"/>
          <a:lstStyle/>
          <a:p>
            <a:pPr algn="ctr" indent="0" marL="0">
              <a:buNone/>
            </a:pPr>
            <a:r>
              <a:rPr lang="en-US" sz="1300" b="1" dirty="0">
                <a:solidFill>
                  <a:srgbClr val="1A2C3E"/>
                </a:solidFill>
              </a:rPr>
              <a:t>Admin Review</a:t>
            </a:r>
            <a:endParaRPr lang="en-US" sz="1300" dirty="0"/>
          </a:p>
        </p:txBody>
      </p:sp>
      <p:sp>
        <p:nvSpPr>
          <p:cNvPr id="34" name="Text 32"/>
          <p:cNvSpPr/>
          <p:nvPr/>
        </p:nvSpPr>
        <p:spPr>
          <a:xfrm>
            <a:off x="3438144" y="2798064"/>
            <a:ext cx="2560320" cy="201168"/>
          </a:xfrm>
          <a:prstGeom prst="rect">
            <a:avLst/>
          </a:prstGeom>
          <a:noFill/>
          <a:ln/>
        </p:spPr>
        <p:txBody>
          <a:bodyPr wrap="square" lIns="0" tIns="0" rIns="0" bIns="0" rtlCol="0" anchor="ctr"/>
          <a:lstStyle/>
          <a:p>
            <a:pPr algn="ctr" indent="0" marL="0">
              <a:buNone/>
            </a:pPr>
            <a:r>
              <a:rPr lang="en-US" sz="850" b="1" dirty="0">
                <a:solidFill>
                  <a:srgbClr val="3498DB"/>
                </a:solidFill>
              </a:rPr>
              <a:t>RBAC Dashboard (JWT)</a:t>
            </a:r>
            <a:endParaRPr lang="en-US" sz="850" dirty="0"/>
          </a:p>
        </p:txBody>
      </p:sp>
      <p:sp>
        <p:nvSpPr>
          <p:cNvPr id="35" name="Shape 33"/>
          <p:cNvSpPr/>
          <p:nvPr/>
        </p:nvSpPr>
        <p:spPr>
          <a:xfrm>
            <a:off x="3438144" y="3035808"/>
            <a:ext cx="2560320" cy="0"/>
          </a:xfrm>
          <a:prstGeom prst="line">
            <a:avLst/>
          </a:prstGeom>
          <a:noFill/>
          <a:ln w="6350">
            <a:solidFill>
              <a:srgbClr val="ECF0F1"/>
            </a:solidFill>
            <a:prstDash val="solid"/>
          </a:ln>
        </p:spPr>
      </p:sp>
      <p:sp>
        <p:nvSpPr>
          <p:cNvPr id="36" name="Text 34"/>
          <p:cNvSpPr/>
          <p:nvPr/>
        </p:nvSpPr>
        <p:spPr>
          <a:xfrm>
            <a:off x="3438144" y="312724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3498DB"/>
                </a:solidFill>
              </a:rPr>
              <a:t>✓ </a:t>
            </a:r>
            <a:pPr indent="0" marL="0">
              <a:lnSpc>
                <a:spcPct val="130000"/>
              </a:lnSpc>
              <a:buNone/>
            </a:pPr>
            <a:r>
              <a:rPr lang="en-US" sz="850" dirty="0">
                <a:solidFill>
                  <a:srgbClr val="1A2C3E"/>
                </a:solidFill>
              </a:rPr>
              <a:t>Admin accesses /newsletter dashboard</a:t>
            </a:r>
            <a:endParaRPr lang="en-US" sz="850" dirty="0"/>
          </a:p>
        </p:txBody>
      </p:sp>
      <p:sp>
        <p:nvSpPr>
          <p:cNvPr id="37" name="Text 35"/>
          <p:cNvSpPr/>
          <p:nvPr/>
        </p:nvSpPr>
        <p:spPr>
          <a:xfrm>
            <a:off x="3438144" y="3602736"/>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3498DB"/>
                </a:solidFill>
              </a:rPr>
              <a:t>✓ </a:t>
            </a:r>
            <a:pPr indent="0" marL="0">
              <a:lnSpc>
                <a:spcPct val="130000"/>
              </a:lnSpc>
              <a:buNone/>
            </a:pPr>
            <a:r>
              <a:rPr lang="en-US" sz="850" dirty="0">
                <a:solidFill>
                  <a:srgbClr val="1A2C3E"/>
                </a:solidFill>
              </a:rPr>
              <a:t>Preview email + PDF side-by-side</a:t>
            </a:r>
            <a:endParaRPr lang="en-US" sz="850" dirty="0"/>
          </a:p>
        </p:txBody>
      </p:sp>
      <p:sp>
        <p:nvSpPr>
          <p:cNvPr id="38" name="Text 36"/>
          <p:cNvSpPr/>
          <p:nvPr/>
        </p:nvSpPr>
        <p:spPr>
          <a:xfrm>
            <a:off x="3438144" y="4078224"/>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3498DB"/>
                </a:solidFill>
              </a:rPr>
              <a:t>✓ </a:t>
            </a:r>
            <a:pPr indent="0" marL="0">
              <a:lnSpc>
                <a:spcPct val="130000"/>
              </a:lnSpc>
              <a:buNone/>
            </a:pPr>
            <a:r>
              <a:rPr lang="en-US" sz="850" dirty="0">
                <a:solidFill>
                  <a:srgbClr val="1A2C3E"/>
                </a:solidFill>
              </a:rPr>
              <a:t>Edit text, headlines, source links inline</a:t>
            </a:r>
            <a:endParaRPr lang="en-US" sz="850" dirty="0"/>
          </a:p>
        </p:txBody>
      </p:sp>
      <p:sp>
        <p:nvSpPr>
          <p:cNvPr id="39" name="Text 37"/>
          <p:cNvSpPr/>
          <p:nvPr/>
        </p:nvSpPr>
        <p:spPr>
          <a:xfrm>
            <a:off x="3438144" y="4553712"/>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3498DB"/>
                </a:solidFill>
              </a:rPr>
              <a:t>✓ </a:t>
            </a:r>
            <a:pPr indent="0" marL="0">
              <a:lnSpc>
                <a:spcPct val="130000"/>
              </a:lnSpc>
              <a:buNone/>
            </a:pPr>
            <a:r>
              <a:rPr lang="en-US" sz="850" dirty="0">
                <a:solidFill>
                  <a:srgbClr val="1A2C3E"/>
                </a:solidFill>
              </a:rPr>
              <a:t>Approve → triggers full distribution pipeline</a:t>
            </a:r>
            <a:endParaRPr lang="en-US" sz="850" dirty="0"/>
          </a:p>
        </p:txBody>
      </p:sp>
      <p:sp>
        <p:nvSpPr>
          <p:cNvPr id="40" name="Text 38"/>
          <p:cNvSpPr/>
          <p:nvPr/>
        </p:nvSpPr>
        <p:spPr>
          <a:xfrm>
            <a:off x="3438144" y="5029200"/>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3498DB"/>
                </a:solidFill>
              </a:rPr>
              <a:t>✓ </a:t>
            </a:r>
            <a:pPr indent="0" marL="0">
              <a:lnSpc>
                <a:spcPct val="130000"/>
              </a:lnSpc>
              <a:buNone/>
            </a:pPr>
            <a:r>
              <a:rPr lang="en-US" sz="850" dirty="0">
                <a:solidFill>
                  <a:srgbClr val="1A2C3E"/>
                </a:solidFill>
              </a:rPr>
              <a:t>Reject → AI regenerates with admin feedback</a:t>
            </a:r>
            <a:endParaRPr lang="en-US" sz="850" dirty="0"/>
          </a:p>
        </p:txBody>
      </p:sp>
      <p:sp>
        <p:nvSpPr>
          <p:cNvPr id="41" name="Text 39"/>
          <p:cNvSpPr/>
          <p:nvPr/>
        </p:nvSpPr>
        <p:spPr>
          <a:xfrm>
            <a:off x="3438144" y="550468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3498DB"/>
                </a:solidFill>
              </a:rPr>
              <a:t>✓ </a:t>
            </a:r>
            <a:pPr indent="0" marL="0">
              <a:lnSpc>
                <a:spcPct val="130000"/>
              </a:lnSpc>
              <a:buNone/>
            </a:pPr>
            <a:r>
              <a:rPr lang="en-US" sz="850" dirty="0">
                <a:solidFill>
                  <a:srgbClr val="1A2C3E"/>
                </a:solidFill>
              </a:rPr>
              <a:t>AI confidence scores visible per section</a:t>
            </a:r>
            <a:endParaRPr lang="en-US" sz="850" dirty="0"/>
          </a:p>
        </p:txBody>
      </p:sp>
      <p:sp>
        <p:nvSpPr>
          <p:cNvPr id="42" name="Shape 40"/>
          <p:cNvSpPr/>
          <p:nvPr/>
        </p:nvSpPr>
        <p:spPr>
          <a:xfrm>
            <a:off x="6254496" y="1463040"/>
            <a:ext cx="2816352" cy="457200"/>
          </a:xfrm>
          <a:prstGeom prst="rect">
            <a:avLst/>
          </a:prstGeom>
          <a:solidFill>
            <a:srgbClr val="2ECC71"/>
          </a:solidFill>
          <a:ln/>
          <a:effectLst>
            <a:outerShdw sx="100000" sy="100000" kx="0" ky="0" algn="bl" rotWithShape="0" blurRad="127000" dist="38100" dir="8100000">
              <a:srgbClr val="000000">
                <a:alpha val="10000"/>
              </a:srgbClr>
            </a:outerShdw>
          </a:effectLst>
        </p:spPr>
      </p:sp>
      <p:sp>
        <p:nvSpPr>
          <p:cNvPr id="43" name="Text 41"/>
          <p:cNvSpPr/>
          <p:nvPr/>
        </p:nvSpPr>
        <p:spPr>
          <a:xfrm>
            <a:off x="6254496" y="1463040"/>
            <a:ext cx="2816352" cy="457200"/>
          </a:xfrm>
          <a:prstGeom prst="rect">
            <a:avLst/>
          </a:prstGeom>
          <a:noFill/>
          <a:ln/>
        </p:spPr>
        <p:txBody>
          <a:bodyPr wrap="square" lIns="0" tIns="0" rIns="0" bIns="0" rtlCol="0" anchor="ctr"/>
          <a:lstStyle/>
          <a:p>
            <a:pPr algn="ctr" indent="0" marL="0">
              <a:buNone/>
            </a:pPr>
            <a:r>
              <a:rPr lang="en-US" sz="950" b="1" dirty="0">
                <a:solidFill>
                  <a:srgbClr val="FFFFFF"/>
                </a:solidFill>
              </a:rPr>
              <a:t>ON APPROVAL</a:t>
            </a:r>
            <a:endParaRPr lang="en-US" sz="950" dirty="0"/>
          </a:p>
        </p:txBody>
      </p:sp>
      <p:sp>
        <p:nvSpPr>
          <p:cNvPr id="44" name="Shape 42"/>
          <p:cNvSpPr/>
          <p:nvPr/>
        </p:nvSpPr>
        <p:spPr>
          <a:xfrm>
            <a:off x="9107424" y="1691640"/>
            <a:ext cx="73152" cy="0"/>
          </a:xfrm>
          <a:prstGeom prst="line">
            <a:avLst/>
          </a:prstGeom>
          <a:noFill/>
          <a:ln w="25400">
            <a:solidFill>
              <a:srgbClr val="2ECC71"/>
            </a:solidFill>
            <a:prstDash val="solid"/>
          </a:ln>
        </p:spPr>
      </p:sp>
      <p:sp>
        <p:nvSpPr>
          <p:cNvPr id="45" name="Text 43"/>
          <p:cNvSpPr/>
          <p:nvPr/>
        </p:nvSpPr>
        <p:spPr>
          <a:xfrm>
            <a:off x="9070848" y="1609344"/>
            <a:ext cx="182880" cy="274320"/>
          </a:xfrm>
          <a:prstGeom prst="rect">
            <a:avLst/>
          </a:prstGeom>
          <a:noFill/>
          <a:ln/>
        </p:spPr>
        <p:txBody>
          <a:bodyPr wrap="square" lIns="0" tIns="0" rIns="0" bIns="0" rtlCol="0" anchor="ctr"/>
          <a:lstStyle/>
          <a:p>
            <a:pPr algn="ctr" indent="0" marL="0">
              <a:buNone/>
            </a:pPr>
            <a:r>
              <a:rPr lang="en-US" sz="1400" dirty="0">
                <a:solidFill>
                  <a:srgbClr val="2ECC71"/>
                </a:solidFill>
              </a:rPr>
              <a:t>→</a:t>
            </a:r>
            <a:endParaRPr lang="en-US" sz="1400" dirty="0"/>
          </a:p>
        </p:txBody>
      </p:sp>
      <p:sp>
        <p:nvSpPr>
          <p:cNvPr id="46" name="Shape 44"/>
          <p:cNvSpPr/>
          <p:nvPr/>
        </p:nvSpPr>
        <p:spPr>
          <a:xfrm>
            <a:off x="6254496" y="1993392"/>
            <a:ext cx="2816352" cy="411480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47" name="Shape 45"/>
          <p:cNvSpPr/>
          <p:nvPr/>
        </p:nvSpPr>
        <p:spPr>
          <a:xfrm>
            <a:off x="6254496" y="1993392"/>
            <a:ext cx="2816352" cy="64008"/>
          </a:xfrm>
          <a:prstGeom prst="rect">
            <a:avLst/>
          </a:prstGeom>
          <a:solidFill>
            <a:srgbClr val="2ECC71"/>
          </a:solidFill>
          <a:ln/>
        </p:spPr>
      </p:sp>
      <p:sp>
        <p:nvSpPr>
          <p:cNvPr id="48" name="Text 46"/>
          <p:cNvSpPr/>
          <p:nvPr/>
        </p:nvSpPr>
        <p:spPr>
          <a:xfrm>
            <a:off x="6254496" y="2066544"/>
            <a:ext cx="2816352" cy="420624"/>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49" name="Text 47"/>
          <p:cNvSpPr/>
          <p:nvPr/>
        </p:nvSpPr>
        <p:spPr>
          <a:xfrm>
            <a:off x="6382512" y="2505456"/>
            <a:ext cx="2560320" cy="274320"/>
          </a:xfrm>
          <a:prstGeom prst="rect">
            <a:avLst/>
          </a:prstGeom>
          <a:noFill/>
          <a:ln/>
        </p:spPr>
        <p:txBody>
          <a:bodyPr wrap="square" lIns="0" tIns="0" rIns="0" bIns="0" rtlCol="0" anchor="ctr"/>
          <a:lstStyle/>
          <a:p>
            <a:pPr algn="ctr" indent="0" marL="0">
              <a:buNone/>
            </a:pPr>
            <a:r>
              <a:rPr lang="en-US" sz="1300" b="1" dirty="0">
                <a:solidFill>
                  <a:srgbClr val="1A2C3E"/>
                </a:solidFill>
              </a:rPr>
              <a:t>Email Distribution</a:t>
            </a:r>
            <a:endParaRPr lang="en-US" sz="1300" dirty="0"/>
          </a:p>
        </p:txBody>
      </p:sp>
      <p:sp>
        <p:nvSpPr>
          <p:cNvPr id="50" name="Text 48"/>
          <p:cNvSpPr/>
          <p:nvPr/>
        </p:nvSpPr>
        <p:spPr>
          <a:xfrm>
            <a:off x="6382512" y="2798064"/>
            <a:ext cx="2560320" cy="201168"/>
          </a:xfrm>
          <a:prstGeom prst="rect">
            <a:avLst/>
          </a:prstGeom>
          <a:noFill/>
          <a:ln/>
        </p:spPr>
        <p:txBody>
          <a:bodyPr wrap="square" lIns="0" tIns="0" rIns="0" bIns="0" rtlCol="0" anchor="ctr"/>
          <a:lstStyle/>
          <a:p>
            <a:pPr algn="ctr" indent="0" marL="0">
              <a:buNone/>
            </a:pPr>
            <a:r>
              <a:rPr lang="en-US" sz="850" b="1" dirty="0">
                <a:solidFill>
                  <a:srgbClr val="2ECC71"/>
                </a:solidFill>
              </a:rPr>
              <a:t>SendGrid API</a:t>
            </a:r>
            <a:endParaRPr lang="en-US" sz="850" dirty="0"/>
          </a:p>
        </p:txBody>
      </p:sp>
      <p:sp>
        <p:nvSpPr>
          <p:cNvPr id="51" name="Shape 49"/>
          <p:cNvSpPr/>
          <p:nvPr/>
        </p:nvSpPr>
        <p:spPr>
          <a:xfrm>
            <a:off x="6382512" y="3035808"/>
            <a:ext cx="2560320" cy="0"/>
          </a:xfrm>
          <a:prstGeom prst="line">
            <a:avLst/>
          </a:prstGeom>
          <a:noFill/>
          <a:ln w="6350">
            <a:solidFill>
              <a:srgbClr val="ECF0F1"/>
            </a:solidFill>
            <a:prstDash val="solid"/>
          </a:ln>
        </p:spPr>
      </p:sp>
      <p:sp>
        <p:nvSpPr>
          <p:cNvPr id="52" name="Text 50"/>
          <p:cNvSpPr/>
          <p:nvPr/>
        </p:nvSpPr>
        <p:spPr>
          <a:xfrm>
            <a:off x="6382512" y="312724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2ECC71"/>
                </a:solidFill>
              </a:rPr>
              <a:t>✓ </a:t>
            </a:r>
            <a:pPr indent="0" marL="0">
              <a:lnSpc>
                <a:spcPct val="130000"/>
              </a:lnSpc>
              <a:buNone/>
            </a:pPr>
            <a:r>
              <a:rPr lang="en-US" sz="850" dirty="0">
                <a:solidFill>
                  <a:srgbClr val="1A2C3E"/>
                </a:solidFill>
              </a:rPr>
              <a:t>HTML email sent to all active subscribers</a:t>
            </a:r>
            <a:endParaRPr lang="en-US" sz="850" dirty="0"/>
          </a:p>
        </p:txBody>
      </p:sp>
      <p:sp>
        <p:nvSpPr>
          <p:cNvPr id="53" name="Text 51"/>
          <p:cNvSpPr/>
          <p:nvPr/>
        </p:nvSpPr>
        <p:spPr>
          <a:xfrm>
            <a:off x="6382512" y="3602736"/>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2ECC71"/>
                </a:solidFill>
              </a:rPr>
              <a:t>✓ </a:t>
            </a:r>
            <a:pPr indent="0" marL="0">
              <a:lnSpc>
                <a:spcPct val="130000"/>
              </a:lnSpc>
              <a:buNone/>
            </a:pPr>
            <a:r>
              <a:rPr lang="en-US" sz="850" dirty="0">
                <a:solidFill>
                  <a:srgbClr val="1A2C3E"/>
                </a:solidFill>
              </a:rPr>
              <a:t>Responsive template with brand colors #1a2c3e #2ecc71</a:t>
            </a:r>
            <a:endParaRPr lang="en-US" sz="850" dirty="0"/>
          </a:p>
        </p:txBody>
      </p:sp>
      <p:sp>
        <p:nvSpPr>
          <p:cNvPr id="54" name="Text 52"/>
          <p:cNvSpPr/>
          <p:nvPr/>
        </p:nvSpPr>
        <p:spPr>
          <a:xfrm>
            <a:off x="6382512" y="4078224"/>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2ECC71"/>
                </a:solidFill>
              </a:rPr>
              <a:t>✓ </a:t>
            </a:r>
            <a:pPr indent="0" marL="0">
              <a:lnSpc>
                <a:spcPct val="130000"/>
              </a:lnSpc>
              <a:buNone/>
            </a:pPr>
            <a:r>
              <a:rPr lang="en-US" sz="850" dirty="0">
                <a:solidFill>
                  <a:srgbClr val="1A2C3E"/>
                </a:solidFill>
              </a:rPr>
              <a:t>Tracked links: open rate + click-through rate</a:t>
            </a:r>
            <a:endParaRPr lang="en-US" sz="850" dirty="0"/>
          </a:p>
        </p:txBody>
      </p:sp>
      <p:sp>
        <p:nvSpPr>
          <p:cNvPr id="55" name="Text 53"/>
          <p:cNvSpPr/>
          <p:nvPr/>
        </p:nvSpPr>
        <p:spPr>
          <a:xfrm>
            <a:off x="6382512" y="4553712"/>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2ECC71"/>
                </a:solidFill>
              </a:rPr>
              <a:t>✓ </a:t>
            </a:r>
            <a:pPr indent="0" marL="0">
              <a:lnSpc>
                <a:spcPct val="130000"/>
              </a:lnSpc>
              <a:buNone/>
            </a:pPr>
            <a:r>
              <a:rPr lang="en-US" sz="850" dirty="0">
                <a:solidFill>
                  <a:srgbClr val="1A2C3E"/>
                </a:solidFill>
              </a:rPr>
              <a:t>Subscriber list management + unsubscribe compliance</a:t>
            </a:r>
            <a:endParaRPr lang="en-US" sz="850" dirty="0"/>
          </a:p>
        </p:txBody>
      </p:sp>
      <p:sp>
        <p:nvSpPr>
          <p:cNvPr id="56" name="Text 54"/>
          <p:cNvSpPr/>
          <p:nvPr/>
        </p:nvSpPr>
        <p:spPr>
          <a:xfrm>
            <a:off x="6382512" y="5029200"/>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2ECC71"/>
                </a:solidFill>
              </a:rPr>
              <a:t>✓ </a:t>
            </a:r>
            <a:pPr indent="0" marL="0">
              <a:lnSpc>
                <a:spcPct val="130000"/>
              </a:lnSpc>
              <a:buNone/>
            </a:pPr>
            <a:r>
              <a:rPr lang="en-US" sz="850" dirty="0">
                <a:solidFill>
                  <a:srgbClr val="1A2C3E"/>
                </a:solidFill>
              </a:rPr>
              <a:t>Campaign ID stored in publications DB table</a:t>
            </a:r>
            <a:endParaRPr lang="en-US" sz="850" dirty="0"/>
          </a:p>
        </p:txBody>
      </p:sp>
      <p:sp>
        <p:nvSpPr>
          <p:cNvPr id="57" name="Text 55"/>
          <p:cNvSpPr/>
          <p:nvPr/>
        </p:nvSpPr>
        <p:spPr>
          <a:xfrm>
            <a:off x="6382512" y="550468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2ECC71"/>
                </a:solidFill>
              </a:rPr>
              <a:t>✓ </a:t>
            </a:r>
            <a:pPr indent="0" marL="0">
              <a:lnSpc>
                <a:spcPct val="130000"/>
              </a:lnSpc>
              <a:buNone/>
            </a:pPr>
            <a:r>
              <a:rPr lang="en-US" sz="850" dirty="0">
                <a:solidFill>
                  <a:srgbClr val="1A2C3E"/>
                </a:solidFill>
              </a:rPr>
              <a:t>Analytics: opens, clicks, PDF downloads tracked</a:t>
            </a:r>
            <a:endParaRPr lang="en-US" sz="850" dirty="0"/>
          </a:p>
        </p:txBody>
      </p:sp>
      <p:sp>
        <p:nvSpPr>
          <p:cNvPr id="58" name="Shape 56"/>
          <p:cNvSpPr/>
          <p:nvPr/>
        </p:nvSpPr>
        <p:spPr>
          <a:xfrm>
            <a:off x="9198864" y="1463040"/>
            <a:ext cx="2816352" cy="457200"/>
          </a:xfrm>
          <a:prstGeom prst="rect">
            <a:avLst/>
          </a:prstGeom>
          <a:solidFill>
            <a:srgbClr val="9B59B6"/>
          </a:solidFill>
          <a:ln/>
          <a:effectLst>
            <a:outerShdw sx="100000" sy="100000" kx="0" ky="0" algn="bl" rotWithShape="0" blurRad="127000" dist="38100" dir="8100000">
              <a:srgbClr val="000000">
                <a:alpha val="10000"/>
              </a:srgbClr>
            </a:outerShdw>
          </a:effectLst>
        </p:spPr>
      </p:sp>
      <p:sp>
        <p:nvSpPr>
          <p:cNvPr id="59" name="Text 57"/>
          <p:cNvSpPr/>
          <p:nvPr/>
        </p:nvSpPr>
        <p:spPr>
          <a:xfrm>
            <a:off x="9198864" y="1463040"/>
            <a:ext cx="2816352" cy="457200"/>
          </a:xfrm>
          <a:prstGeom prst="rect">
            <a:avLst/>
          </a:prstGeom>
          <a:noFill/>
          <a:ln/>
        </p:spPr>
        <p:txBody>
          <a:bodyPr wrap="square" lIns="0" tIns="0" rIns="0" bIns="0" rtlCol="0" anchor="ctr"/>
          <a:lstStyle/>
          <a:p>
            <a:pPr algn="ctr" indent="0" marL="0">
              <a:buNone/>
            </a:pPr>
            <a:r>
              <a:rPr lang="en-US" sz="950" b="1" dirty="0">
                <a:solidFill>
                  <a:srgbClr val="FFFFFF"/>
                </a:solidFill>
              </a:rPr>
              <a:t>ON APPROVAL</a:t>
            </a:r>
            <a:endParaRPr lang="en-US" sz="950" dirty="0"/>
          </a:p>
        </p:txBody>
      </p:sp>
      <p:sp>
        <p:nvSpPr>
          <p:cNvPr id="60" name="Shape 58"/>
          <p:cNvSpPr/>
          <p:nvPr/>
        </p:nvSpPr>
        <p:spPr>
          <a:xfrm>
            <a:off x="9198864" y="1993392"/>
            <a:ext cx="2816352" cy="411480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1" name="Shape 59"/>
          <p:cNvSpPr/>
          <p:nvPr/>
        </p:nvSpPr>
        <p:spPr>
          <a:xfrm>
            <a:off x="9198864" y="1993392"/>
            <a:ext cx="2816352" cy="64008"/>
          </a:xfrm>
          <a:prstGeom prst="rect">
            <a:avLst/>
          </a:prstGeom>
          <a:solidFill>
            <a:srgbClr val="9B59B6"/>
          </a:solidFill>
          <a:ln/>
        </p:spPr>
      </p:sp>
      <p:sp>
        <p:nvSpPr>
          <p:cNvPr id="62" name="Text 60"/>
          <p:cNvSpPr/>
          <p:nvPr/>
        </p:nvSpPr>
        <p:spPr>
          <a:xfrm>
            <a:off x="9198864" y="2066544"/>
            <a:ext cx="2816352" cy="420624"/>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63" name="Text 61"/>
          <p:cNvSpPr/>
          <p:nvPr/>
        </p:nvSpPr>
        <p:spPr>
          <a:xfrm>
            <a:off x="9326880" y="2505456"/>
            <a:ext cx="2560320" cy="274320"/>
          </a:xfrm>
          <a:prstGeom prst="rect">
            <a:avLst/>
          </a:prstGeom>
          <a:noFill/>
          <a:ln/>
        </p:spPr>
        <p:txBody>
          <a:bodyPr wrap="square" lIns="0" tIns="0" rIns="0" bIns="0" rtlCol="0" anchor="ctr"/>
          <a:lstStyle/>
          <a:p>
            <a:pPr algn="ctr" indent="0" marL="0">
              <a:buNone/>
            </a:pPr>
            <a:r>
              <a:rPr lang="en-US" sz="1300" b="1" dirty="0">
                <a:solidFill>
                  <a:srgbClr val="1A2C3E"/>
                </a:solidFill>
              </a:rPr>
              <a:t>PDF + Social Post</a:t>
            </a:r>
            <a:endParaRPr lang="en-US" sz="1300" dirty="0"/>
          </a:p>
        </p:txBody>
      </p:sp>
      <p:sp>
        <p:nvSpPr>
          <p:cNvPr id="64" name="Text 62"/>
          <p:cNvSpPr/>
          <p:nvPr/>
        </p:nvSpPr>
        <p:spPr>
          <a:xfrm>
            <a:off x="9326880" y="2798064"/>
            <a:ext cx="2560320" cy="201168"/>
          </a:xfrm>
          <a:prstGeom prst="rect">
            <a:avLst/>
          </a:prstGeom>
          <a:noFill/>
          <a:ln/>
        </p:spPr>
        <p:txBody>
          <a:bodyPr wrap="square" lIns="0" tIns="0" rIns="0" bIns="0" rtlCol="0" anchor="ctr"/>
          <a:lstStyle/>
          <a:p>
            <a:pPr algn="ctr" indent="0" marL="0">
              <a:buNone/>
            </a:pPr>
            <a:r>
              <a:rPr lang="en-US" sz="850" b="1" dirty="0">
                <a:solidFill>
                  <a:srgbClr val="9B59B6"/>
                </a:solidFill>
              </a:rPr>
              <a:t>AWS S3 + LinkedIn API</a:t>
            </a:r>
            <a:endParaRPr lang="en-US" sz="850" dirty="0"/>
          </a:p>
        </p:txBody>
      </p:sp>
      <p:sp>
        <p:nvSpPr>
          <p:cNvPr id="65" name="Shape 63"/>
          <p:cNvSpPr/>
          <p:nvPr/>
        </p:nvSpPr>
        <p:spPr>
          <a:xfrm>
            <a:off x="9326880" y="3035808"/>
            <a:ext cx="2560320" cy="0"/>
          </a:xfrm>
          <a:prstGeom prst="line">
            <a:avLst/>
          </a:prstGeom>
          <a:noFill/>
          <a:ln w="6350">
            <a:solidFill>
              <a:srgbClr val="ECF0F1"/>
            </a:solidFill>
            <a:prstDash val="solid"/>
          </a:ln>
        </p:spPr>
      </p:sp>
      <p:sp>
        <p:nvSpPr>
          <p:cNvPr id="66" name="Text 64"/>
          <p:cNvSpPr/>
          <p:nvPr/>
        </p:nvSpPr>
        <p:spPr>
          <a:xfrm>
            <a:off x="9326880" y="312724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9B59B6"/>
                </a:solidFill>
              </a:rPr>
              <a:t>✓ </a:t>
            </a:r>
            <a:pPr indent="0" marL="0">
              <a:lnSpc>
                <a:spcPct val="130000"/>
              </a:lnSpc>
              <a:buNone/>
            </a:pPr>
            <a:r>
              <a:rPr lang="en-US" sz="850" dirty="0">
                <a:solidFill>
                  <a:srgbClr val="1A2C3E"/>
                </a:solidFill>
              </a:rPr>
              <a:t>PDF uploaded to AWS S3 with public URL</a:t>
            </a:r>
            <a:endParaRPr lang="en-US" sz="850" dirty="0"/>
          </a:p>
        </p:txBody>
      </p:sp>
      <p:sp>
        <p:nvSpPr>
          <p:cNvPr id="67" name="Text 65"/>
          <p:cNvSpPr/>
          <p:nvPr/>
        </p:nvSpPr>
        <p:spPr>
          <a:xfrm>
            <a:off x="9326880" y="3602736"/>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9B59B6"/>
                </a:solidFill>
              </a:rPr>
              <a:t>✓ </a:t>
            </a:r>
            <a:pPr indent="0" marL="0">
              <a:lnSpc>
                <a:spcPct val="130000"/>
              </a:lnSpc>
              <a:buNone/>
            </a:pPr>
            <a:r>
              <a:rPr lang="en-US" sz="850" dirty="0">
                <a:solidFill>
                  <a:srgbClr val="1A2C3E"/>
                </a:solidFill>
              </a:rPr>
              <a:t>Publications page /publications auto-updated</a:t>
            </a:r>
            <a:endParaRPr lang="en-US" sz="850" dirty="0"/>
          </a:p>
        </p:txBody>
      </p:sp>
      <p:sp>
        <p:nvSpPr>
          <p:cNvPr id="68" name="Text 66"/>
          <p:cNvSpPr/>
          <p:nvPr/>
        </p:nvSpPr>
        <p:spPr>
          <a:xfrm>
            <a:off x="9326880" y="4078224"/>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9B59B6"/>
                </a:solidFill>
              </a:rPr>
              <a:t>✓ </a:t>
            </a:r>
            <a:pPr indent="0" marL="0">
              <a:lnSpc>
                <a:spcPct val="130000"/>
              </a:lnSpc>
              <a:buNone/>
            </a:pPr>
            <a:r>
              <a:rPr lang="en-US" sz="850" dirty="0">
                <a:solidFill>
                  <a:srgbClr val="1A2C3E"/>
                </a:solidFill>
              </a:rPr>
              <a:t>LinkedIn API: auto-post with cover image + summary</a:t>
            </a:r>
            <a:endParaRPr lang="en-US" sz="850" dirty="0"/>
          </a:p>
        </p:txBody>
      </p:sp>
      <p:sp>
        <p:nvSpPr>
          <p:cNvPr id="69" name="Text 67"/>
          <p:cNvSpPr/>
          <p:nvPr/>
        </p:nvSpPr>
        <p:spPr>
          <a:xfrm>
            <a:off x="9326880" y="4553712"/>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9B59B6"/>
                </a:solidFill>
              </a:rPr>
              <a:t>✓ </a:t>
            </a:r>
            <a:pPr indent="0" marL="0">
              <a:lnSpc>
                <a:spcPct val="130000"/>
              </a:lnSpc>
              <a:buNone/>
            </a:pPr>
            <a:r>
              <a:rPr lang="en-US" sz="850" dirty="0">
                <a:solidFill>
                  <a:srgbClr val="1A2C3E"/>
                </a:solidFill>
              </a:rPr>
              <a:t>Post includes tracked link to PDF download</a:t>
            </a:r>
            <a:endParaRPr lang="en-US" sz="850" dirty="0"/>
          </a:p>
        </p:txBody>
      </p:sp>
      <p:sp>
        <p:nvSpPr>
          <p:cNvPr id="70" name="Text 68"/>
          <p:cNvSpPr/>
          <p:nvPr/>
        </p:nvSpPr>
        <p:spPr>
          <a:xfrm>
            <a:off x="9326880" y="5029200"/>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9B59B6"/>
                </a:solidFill>
              </a:rPr>
              <a:t>✓ </a:t>
            </a:r>
            <a:pPr indent="0" marL="0">
              <a:lnSpc>
                <a:spcPct val="130000"/>
              </a:lnSpc>
              <a:buNone/>
            </a:pPr>
            <a:r>
              <a:rPr lang="en-US" sz="850" dirty="0">
                <a:solidFill>
                  <a:srgbClr val="1A2C3E"/>
                </a:solidFill>
              </a:rPr>
              <a:t>Issue added to publications archive table</a:t>
            </a:r>
            <a:endParaRPr lang="en-US" sz="850" dirty="0"/>
          </a:p>
        </p:txBody>
      </p:sp>
      <p:sp>
        <p:nvSpPr>
          <p:cNvPr id="71" name="Text 69"/>
          <p:cNvSpPr/>
          <p:nvPr/>
        </p:nvSpPr>
        <p:spPr>
          <a:xfrm>
            <a:off x="9326880" y="5504688"/>
            <a:ext cx="2560320" cy="438912"/>
          </a:xfrm>
          <a:prstGeom prst="rect">
            <a:avLst/>
          </a:prstGeom>
          <a:noFill/>
          <a:ln/>
        </p:spPr>
        <p:txBody>
          <a:bodyPr wrap="square" lIns="0" tIns="0" rIns="0" bIns="0" rtlCol="0" anchor="ctr"/>
          <a:lstStyle/>
          <a:p>
            <a:pPr indent="0" marL="0">
              <a:lnSpc>
                <a:spcPct val="130000"/>
              </a:lnSpc>
              <a:buNone/>
            </a:pPr>
            <a:r>
              <a:rPr lang="en-US" sz="850" b="1" dirty="0">
                <a:solidFill>
                  <a:srgbClr val="9B59B6"/>
                </a:solidFill>
              </a:rPr>
              <a:t>✓ </a:t>
            </a:r>
            <a:pPr indent="0" marL="0">
              <a:lnSpc>
                <a:spcPct val="130000"/>
              </a:lnSpc>
              <a:buNone/>
            </a:pPr>
            <a:r>
              <a:rPr lang="en-US" sz="850" dirty="0">
                <a:solidFill>
                  <a:srgbClr val="1A2C3E"/>
                </a:solidFill>
              </a:rPr>
              <a:t>All metrics tracked: download_count, share_count</a:t>
            </a:r>
            <a:endParaRPr lang="en-US" sz="850" dirty="0"/>
          </a:p>
        </p:txBody>
      </p:sp>
      <p:sp>
        <p:nvSpPr>
          <p:cNvPr id="72" name="Text 70"/>
          <p:cNvSpPr/>
          <p:nvPr/>
        </p:nvSpPr>
        <p:spPr>
          <a:xfrm>
            <a:off x="365760" y="6236208"/>
            <a:ext cx="4572000" cy="201168"/>
          </a:xfrm>
          <a:prstGeom prst="rect">
            <a:avLst/>
          </a:prstGeom>
          <a:noFill/>
          <a:ln/>
        </p:spPr>
        <p:txBody>
          <a:bodyPr wrap="square" lIns="0" tIns="0" rIns="0" bIns="0" rtlCol="0" anchor="ctr"/>
          <a:lstStyle/>
          <a:p>
            <a:pPr indent="0" marL="0">
              <a:buNone/>
            </a:pPr>
            <a:r>
              <a:rPr lang="en-US" sz="800" b="1" spc="300" kern="0" dirty="0">
                <a:solidFill>
                  <a:srgbClr val="7F8C8D"/>
                </a:solidFill>
              </a:rPr>
              <a:t>HTML EMAIL — 4 SECTIONS</a:t>
            </a:r>
            <a:endParaRPr lang="en-US" sz="800" dirty="0"/>
          </a:p>
        </p:txBody>
      </p:sp>
      <p:sp>
        <p:nvSpPr>
          <p:cNvPr id="73" name="Shape 71"/>
          <p:cNvSpPr/>
          <p:nvPr/>
        </p:nvSpPr>
        <p:spPr>
          <a:xfrm>
            <a:off x="365760" y="6473952"/>
            <a:ext cx="2834640" cy="256032"/>
          </a:xfrm>
          <a:prstGeom prst="rect">
            <a:avLst/>
          </a:prstGeom>
          <a:solidFill>
            <a:srgbClr val="1A2C3E"/>
          </a:solidFill>
          <a:ln/>
        </p:spPr>
      </p:sp>
      <p:sp>
        <p:nvSpPr>
          <p:cNvPr id="74" name="Text 72"/>
          <p:cNvSpPr/>
          <p:nvPr/>
        </p:nvSpPr>
        <p:spPr>
          <a:xfrm>
            <a:off x="365760" y="6473952"/>
            <a:ext cx="2834640" cy="256032"/>
          </a:xfrm>
          <a:prstGeom prst="rect">
            <a:avLst/>
          </a:prstGeom>
          <a:noFill/>
          <a:ln/>
        </p:spPr>
        <p:txBody>
          <a:bodyPr wrap="square" lIns="0" tIns="0" rIns="0" bIns="0" rtlCol="0" anchor="ctr"/>
          <a:lstStyle/>
          <a:p>
            <a:pPr algn="ctr" indent="0" marL="0">
              <a:buNone/>
            </a:pPr>
            <a:r>
              <a:rPr lang="en-US" sz="800" dirty="0">
                <a:solidFill>
                  <a:srgbClr val="FFFFFF"/>
                </a:solidFill>
              </a:rPr>
              <a:t>S1: Header + Logo + Issue #</a:t>
            </a:r>
            <a:endParaRPr lang="en-US" sz="800" dirty="0"/>
          </a:p>
        </p:txBody>
      </p:sp>
      <p:sp>
        <p:nvSpPr>
          <p:cNvPr id="75" name="Shape 73"/>
          <p:cNvSpPr/>
          <p:nvPr/>
        </p:nvSpPr>
        <p:spPr>
          <a:xfrm>
            <a:off x="3310128" y="6473952"/>
            <a:ext cx="2834640" cy="256032"/>
          </a:xfrm>
          <a:prstGeom prst="rect">
            <a:avLst/>
          </a:prstGeom>
          <a:solidFill>
            <a:srgbClr val="3498DB"/>
          </a:solidFill>
          <a:ln/>
        </p:spPr>
      </p:sp>
      <p:sp>
        <p:nvSpPr>
          <p:cNvPr id="76" name="Text 74"/>
          <p:cNvSpPr/>
          <p:nvPr/>
        </p:nvSpPr>
        <p:spPr>
          <a:xfrm>
            <a:off x="3310128" y="6473952"/>
            <a:ext cx="2834640" cy="256032"/>
          </a:xfrm>
          <a:prstGeom prst="rect">
            <a:avLst/>
          </a:prstGeom>
          <a:noFill/>
          <a:ln/>
        </p:spPr>
        <p:txBody>
          <a:bodyPr wrap="square" lIns="0" tIns="0" rIns="0" bIns="0" rtlCol="0" anchor="ctr"/>
          <a:lstStyle/>
          <a:p>
            <a:pPr algn="ctr" indent="0" marL="0">
              <a:buNone/>
            </a:pPr>
            <a:r>
              <a:rPr lang="en-US" sz="800" dirty="0">
                <a:solidFill>
                  <a:srgbClr val="FFFFFF"/>
                </a:solidFill>
              </a:rPr>
              <a:t>S2: Top Global Update + Executive Summary</a:t>
            </a:r>
            <a:endParaRPr lang="en-US" sz="800" dirty="0"/>
          </a:p>
        </p:txBody>
      </p:sp>
      <p:sp>
        <p:nvSpPr>
          <p:cNvPr id="77" name="Shape 75"/>
          <p:cNvSpPr/>
          <p:nvPr/>
        </p:nvSpPr>
        <p:spPr>
          <a:xfrm>
            <a:off x="6254496" y="6473952"/>
            <a:ext cx="2834640" cy="256032"/>
          </a:xfrm>
          <a:prstGeom prst="rect">
            <a:avLst/>
          </a:prstGeom>
          <a:solidFill>
            <a:srgbClr val="2ECC71"/>
          </a:solidFill>
          <a:ln/>
        </p:spPr>
      </p:sp>
      <p:sp>
        <p:nvSpPr>
          <p:cNvPr id="78" name="Text 76"/>
          <p:cNvSpPr/>
          <p:nvPr/>
        </p:nvSpPr>
        <p:spPr>
          <a:xfrm>
            <a:off x="6254496" y="6473952"/>
            <a:ext cx="2834640" cy="256032"/>
          </a:xfrm>
          <a:prstGeom prst="rect">
            <a:avLst/>
          </a:prstGeom>
          <a:noFill/>
          <a:ln/>
        </p:spPr>
        <p:txBody>
          <a:bodyPr wrap="square" lIns="0" tIns="0" rIns="0" bIns="0" rtlCol="0" anchor="ctr"/>
          <a:lstStyle/>
          <a:p>
            <a:pPr algn="ctr" indent="0" marL="0">
              <a:buNone/>
            </a:pPr>
            <a:r>
              <a:rPr lang="en-US" sz="800" dirty="0">
                <a:solidFill>
                  <a:srgbClr val="FFFFFF"/>
                </a:solidFill>
              </a:rPr>
              <a:t>S3: Regional Updates + Sector Spotlights</a:t>
            </a:r>
            <a:endParaRPr lang="en-US" sz="800" dirty="0"/>
          </a:p>
        </p:txBody>
      </p:sp>
      <p:sp>
        <p:nvSpPr>
          <p:cNvPr id="79" name="Shape 77"/>
          <p:cNvSpPr/>
          <p:nvPr/>
        </p:nvSpPr>
        <p:spPr>
          <a:xfrm>
            <a:off x="9198864" y="6473952"/>
            <a:ext cx="2834640" cy="256032"/>
          </a:xfrm>
          <a:prstGeom prst="rect">
            <a:avLst/>
          </a:prstGeom>
          <a:solidFill>
            <a:srgbClr val="9B59B6"/>
          </a:solidFill>
          <a:ln/>
        </p:spPr>
      </p:sp>
      <p:sp>
        <p:nvSpPr>
          <p:cNvPr id="80" name="Text 78"/>
          <p:cNvSpPr/>
          <p:nvPr/>
        </p:nvSpPr>
        <p:spPr>
          <a:xfrm>
            <a:off x="9198864" y="6473952"/>
            <a:ext cx="2834640" cy="256032"/>
          </a:xfrm>
          <a:prstGeom prst="rect">
            <a:avLst/>
          </a:prstGeom>
          <a:noFill/>
          <a:ln/>
        </p:spPr>
        <p:txBody>
          <a:bodyPr wrap="square" lIns="0" tIns="0" rIns="0" bIns="0" rtlCol="0" anchor="ctr"/>
          <a:lstStyle/>
          <a:p>
            <a:pPr algn="ctr" indent="0" marL="0">
              <a:buNone/>
            </a:pPr>
            <a:r>
              <a:rPr lang="en-US" sz="800" dirty="0">
                <a:solidFill>
                  <a:srgbClr val="FFFFFF"/>
                </a:solidFill>
              </a:rPr>
              <a:t>S4: Top 5 Signals + CTA Footer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Admin Dashboard</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Admin Dashboard — Newsletter Review &amp; Platform Management</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Role-Based Access Control (JWT) · Admin | Subscriber | Trial · Technology: React + Node.js JWT</a:t>
            </a:r>
            <a:endParaRPr lang="en-US" sz="1000" dirty="0"/>
          </a:p>
        </p:txBody>
      </p:sp>
      <p:sp>
        <p:nvSpPr>
          <p:cNvPr id="10" name="Shape 8"/>
          <p:cNvSpPr/>
          <p:nvPr/>
        </p:nvSpPr>
        <p:spPr>
          <a:xfrm>
            <a:off x="365760" y="1463040"/>
            <a:ext cx="11430000" cy="4919472"/>
          </a:xfrm>
          <a:prstGeom prst="rect">
            <a:avLst/>
          </a:prstGeom>
          <a:solidFill>
            <a:srgbClr val="0A1520"/>
          </a:solidFill>
          <a:ln/>
          <a:effectLst>
            <a:outerShdw sx="100000" sy="100000" kx="0" ky="0" algn="bl" rotWithShape="0" blurRad="127000" dist="38100" dir="8100000">
              <a:srgbClr val="000000">
                <a:alpha val="10000"/>
              </a:srgbClr>
            </a:outerShdw>
          </a:effectLst>
        </p:spPr>
      </p:sp>
      <p:sp>
        <p:nvSpPr>
          <p:cNvPr id="11" name="Shape 9"/>
          <p:cNvSpPr/>
          <p:nvPr/>
        </p:nvSpPr>
        <p:spPr>
          <a:xfrm>
            <a:off x="365760" y="1463040"/>
            <a:ext cx="11430000" cy="420624"/>
          </a:xfrm>
          <a:prstGeom prst="rect">
            <a:avLst/>
          </a:prstGeom>
          <a:solidFill>
            <a:srgbClr val="1E3A5F"/>
          </a:solidFill>
          <a:ln/>
        </p:spPr>
      </p:sp>
      <p:sp>
        <p:nvSpPr>
          <p:cNvPr id="12" name="Text 10"/>
          <p:cNvSpPr/>
          <p:nvPr/>
        </p:nvSpPr>
        <p:spPr>
          <a:xfrm>
            <a:off x="548640" y="1517904"/>
            <a:ext cx="11430000" cy="310896"/>
          </a:xfrm>
          <a:prstGeom prst="rect">
            <a:avLst/>
          </a:prstGeom>
          <a:noFill/>
          <a:ln/>
        </p:spPr>
        <p:txBody>
          <a:bodyPr wrap="square" lIns="0" tIns="0" rIns="0" bIns="0" rtlCol="0" anchor="ctr"/>
          <a:lstStyle/>
          <a:p>
            <a:pPr indent="0" marL="0">
              <a:buNone/>
            </a:pPr>
            <a:r>
              <a:rPr lang="en-US" sz="850" dirty="0">
                <a:solidFill>
                  <a:srgbClr val="2ECC71"/>
                </a:solidFill>
              </a:rPr>
              <a:t>ADMIN DASHBOARD  ·  Newsletter Issue #047  ·  Week of March 16-22, 2026  ·  Status: PENDING REVIEW  ·  Generated: March 23, 2026 00:32 GMT</a:t>
            </a:r>
            <a:endParaRPr lang="en-US" sz="850" dirty="0"/>
          </a:p>
        </p:txBody>
      </p:sp>
      <p:sp>
        <p:nvSpPr>
          <p:cNvPr id="13" name="Shape 11"/>
          <p:cNvSpPr/>
          <p:nvPr/>
        </p:nvSpPr>
        <p:spPr>
          <a:xfrm>
            <a:off x="493776" y="1975104"/>
            <a:ext cx="1810512" cy="292608"/>
          </a:xfrm>
          <a:prstGeom prst="rect">
            <a:avLst/>
          </a:prstGeom>
          <a:solidFill>
            <a:srgbClr val="2ECC71"/>
          </a:solidFill>
          <a:ln/>
        </p:spPr>
      </p:sp>
      <p:sp>
        <p:nvSpPr>
          <p:cNvPr id="14" name="Text 12"/>
          <p:cNvSpPr/>
          <p:nvPr/>
        </p:nvSpPr>
        <p:spPr>
          <a:xfrm>
            <a:off x="493776" y="1975104"/>
            <a:ext cx="1810512" cy="292608"/>
          </a:xfrm>
          <a:prstGeom prst="rect">
            <a:avLst/>
          </a:prstGeom>
          <a:noFill/>
          <a:ln/>
        </p:spPr>
        <p:txBody>
          <a:bodyPr wrap="square" lIns="0" tIns="0" rIns="0" bIns="0" rtlCol="0" anchor="ctr"/>
          <a:lstStyle/>
          <a:p>
            <a:pPr algn="ctr" indent="0" marL="0">
              <a:buNone/>
            </a:pPr>
            <a:r>
              <a:rPr lang="en-US" sz="750" b="1" dirty="0">
                <a:solidFill>
                  <a:srgbClr val="0F1E2A"/>
                </a:solidFill>
              </a:rPr>
              <a:t>APPROVE &amp; DISTRIBUTE</a:t>
            </a:r>
            <a:endParaRPr lang="en-US" sz="750" dirty="0"/>
          </a:p>
        </p:txBody>
      </p:sp>
      <p:sp>
        <p:nvSpPr>
          <p:cNvPr id="15" name="Shape 13"/>
          <p:cNvSpPr/>
          <p:nvPr/>
        </p:nvSpPr>
        <p:spPr>
          <a:xfrm>
            <a:off x="2395728" y="1975104"/>
            <a:ext cx="1810512" cy="292608"/>
          </a:xfrm>
          <a:prstGeom prst="rect">
            <a:avLst/>
          </a:prstGeom>
          <a:solidFill>
            <a:srgbClr val="F1C40F"/>
          </a:solidFill>
          <a:ln/>
        </p:spPr>
      </p:sp>
      <p:sp>
        <p:nvSpPr>
          <p:cNvPr id="16" name="Text 14"/>
          <p:cNvSpPr/>
          <p:nvPr/>
        </p:nvSpPr>
        <p:spPr>
          <a:xfrm>
            <a:off x="2395728" y="1975104"/>
            <a:ext cx="1810512" cy="292608"/>
          </a:xfrm>
          <a:prstGeom prst="rect">
            <a:avLst/>
          </a:prstGeom>
          <a:noFill/>
          <a:ln/>
        </p:spPr>
        <p:txBody>
          <a:bodyPr wrap="square" lIns="0" tIns="0" rIns="0" bIns="0" rtlCol="0" anchor="ctr"/>
          <a:lstStyle/>
          <a:p>
            <a:pPr algn="ctr" indent="0" marL="0">
              <a:buNone/>
            </a:pPr>
            <a:r>
              <a:rPr lang="en-US" sz="750" b="1" dirty="0">
                <a:solidFill>
                  <a:srgbClr val="0F1E2A"/>
                </a:solidFill>
              </a:rPr>
              <a:t>REQUEST EDITS</a:t>
            </a:r>
            <a:endParaRPr lang="en-US" sz="750" dirty="0"/>
          </a:p>
        </p:txBody>
      </p:sp>
      <p:sp>
        <p:nvSpPr>
          <p:cNvPr id="17" name="Shape 15"/>
          <p:cNvSpPr/>
          <p:nvPr/>
        </p:nvSpPr>
        <p:spPr>
          <a:xfrm>
            <a:off x="4297680" y="1975104"/>
            <a:ext cx="1810512" cy="292608"/>
          </a:xfrm>
          <a:prstGeom prst="rect">
            <a:avLst/>
          </a:prstGeom>
          <a:solidFill>
            <a:srgbClr val="E74C3C"/>
          </a:solidFill>
          <a:ln/>
        </p:spPr>
      </p:sp>
      <p:sp>
        <p:nvSpPr>
          <p:cNvPr id="18" name="Text 16"/>
          <p:cNvSpPr/>
          <p:nvPr/>
        </p:nvSpPr>
        <p:spPr>
          <a:xfrm>
            <a:off x="4297680" y="1975104"/>
            <a:ext cx="1810512" cy="292608"/>
          </a:xfrm>
          <a:prstGeom prst="rect">
            <a:avLst/>
          </a:prstGeom>
          <a:noFill/>
          <a:ln/>
        </p:spPr>
        <p:txBody>
          <a:bodyPr wrap="square" lIns="0" tIns="0" rIns="0" bIns="0" rtlCol="0" anchor="ctr"/>
          <a:lstStyle/>
          <a:p>
            <a:pPr algn="ctr" indent="0" marL="0">
              <a:buNone/>
            </a:pPr>
            <a:r>
              <a:rPr lang="en-US" sz="750" b="1" dirty="0">
                <a:solidFill>
                  <a:srgbClr val="FFFFFF"/>
                </a:solidFill>
              </a:rPr>
              <a:t>REJECT</a:t>
            </a:r>
            <a:endParaRPr lang="en-US" sz="750" dirty="0"/>
          </a:p>
        </p:txBody>
      </p:sp>
      <p:sp>
        <p:nvSpPr>
          <p:cNvPr id="19" name="Shape 17"/>
          <p:cNvSpPr/>
          <p:nvPr/>
        </p:nvSpPr>
        <p:spPr>
          <a:xfrm>
            <a:off x="6199632" y="1975104"/>
            <a:ext cx="1810512" cy="292608"/>
          </a:xfrm>
          <a:prstGeom prst="rect">
            <a:avLst/>
          </a:prstGeom>
          <a:solidFill>
            <a:srgbClr val="3498DB"/>
          </a:solidFill>
          <a:ln/>
        </p:spPr>
      </p:sp>
      <p:sp>
        <p:nvSpPr>
          <p:cNvPr id="20" name="Text 18"/>
          <p:cNvSpPr/>
          <p:nvPr/>
        </p:nvSpPr>
        <p:spPr>
          <a:xfrm>
            <a:off x="6199632" y="1975104"/>
            <a:ext cx="1810512" cy="292608"/>
          </a:xfrm>
          <a:prstGeom prst="rect">
            <a:avLst/>
          </a:prstGeom>
          <a:noFill/>
          <a:ln/>
        </p:spPr>
        <p:txBody>
          <a:bodyPr wrap="square" lIns="0" tIns="0" rIns="0" bIns="0" rtlCol="0" anchor="ctr"/>
          <a:lstStyle/>
          <a:p>
            <a:pPr algn="ctr" indent="0" marL="0">
              <a:buNone/>
            </a:pPr>
            <a:r>
              <a:rPr lang="en-US" sz="750" b="1" dirty="0">
                <a:solidFill>
                  <a:srgbClr val="FFFFFF"/>
                </a:solidFill>
              </a:rPr>
              <a:t>PREVIEW EMAIL</a:t>
            </a:r>
            <a:endParaRPr lang="en-US" sz="750" dirty="0"/>
          </a:p>
        </p:txBody>
      </p:sp>
      <p:sp>
        <p:nvSpPr>
          <p:cNvPr id="21" name="Shape 19"/>
          <p:cNvSpPr/>
          <p:nvPr/>
        </p:nvSpPr>
        <p:spPr>
          <a:xfrm>
            <a:off x="8101584" y="1975104"/>
            <a:ext cx="1810512" cy="292608"/>
          </a:xfrm>
          <a:prstGeom prst="rect">
            <a:avLst/>
          </a:prstGeom>
          <a:solidFill>
            <a:srgbClr val="3498DB"/>
          </a:solidFill>
          <a:ln/>
        </p:spPr>
      </p:sp>
      <p:sp>
        <p:nvSpPr>
          <p:cNvPr id="22" name="Text 20"/>
          <p:cNvSpPr/>
          <p:nvPr/>
        </p:nvSpPr>
        <p:spPr>
          <a:xfrm>
            <a:off x="8101584" y="1975104"/>
            <a:ext cx="1810512" cy="292608"/>
          </a:xfrm>
          <a:prstGeom prst="rect">
            <a:avLst/>
          </a:prstGeom>
          <a:noFill/>
          <a:ln/>
        </p:spPr>
        <p:txBody>
          <a:bodyPr wrap="square" lIns="0" tIns="0" rIns="0" bIns="0" rtlCol="0" anchor="ctr"/>
          <a:lstStyle/>
          <a:p>
            <a:pPr algn="ctr" indent="0" marL="0">
              <a:buNone/>
            </a:pPr>
            <a:r>
              <a:rPr lang="en-US" sz="750" b="1" dirty="0">
                <a:solidFill>
                  <a:srgbClr val="FFFFFF"/>
                </a:solidFill>
              </a:rPr>
              <a:t>PREVIEW PDF</a:t>
            </a:r>
            <a:endParaRPr lang="en-US" sz="750" dirty="0"/>
          </a:p>
        </p:txBody>
      </p:sp>
      <p:sp>
        <p:nvSpPr>
          <p:cNvPr id="23" name="Shape 21"/>
          <p:cNvSpPr/>
          <p:nvPr/>
        </p:nvSpPr>
        <p:spPr>
          <a:xfrm>
            <a:off x="10003536" y="1975104"/>
            <a:ext cx="1810512" cy="292608"/>
          </a:xfrm>
          <a:prstGeom prst="rect">
            <a:avLst/>
          </a:prstGeom>
          <a:solidFill>
            <a:srgbClr val="7F8C8D"/>
          </a:solidFill>
          <a:ln/>
        </p:spPr>
      </p:sp>
      <p:sp>
        <p:nvSpPr>
          <p:cNvPr id="24" name="Text 22"/>
          <p:cNvSpPr/>
          <p:nvPr/>
        </p:nvSpPr>
        <p:spPr>
          <a:xfrm>
            <a:off x="10003536" y="1975104"/>
            <a:ext cx="1810512" cy="292608"/>
          </a:xfrm>
          <a:prstGeom prst="rect">
            <a:avLst/>
          </a:prstGeom>
          <a:noFill/>
          <a:ln/>
        </p:spPr>
        <p:txBody>
          <a:bodyPr wrap="square" lIns="0" tIns="0" rIns="0" bIns="0" rtlCol="0" anchor="ctr"/>
          <a:lstStyle/>
          <a:p>
            <a:pPr algn="ctr" indent="0" marL="0">
              <a:buNone/>
            </a:pPr>
            <a:r>
              <a:rPr lang="en-US" sz="750" b="1" dirty="0">
                <a:solidFill>
                  <a:srgbClr val="FFFFFF"/>
                </a:solidFill>
              </a:rPr>
              <a:t>EDIT CONTENT</a:t>
            </a:r>
            <a:endParaRPr lang="en-US" sz="750" dirty="0"/>
          </a:p>
        </p:txBody>
      </p:sp>
      <p:sp>
        <p:nvSpPr>
          <p:cNvPr id="25" name="Shape 23"/>
          <p:cNvSpPr/>
          <p:nvPr/>
        </p:nvSpPr>
        <p:spPr>
          <a:xfrm>
            <a:off x="493776" y="2377440"/>
            <a:ext cx="5577840" cy="1627632"/>
          </a:xfrm>
          <a:prstGeom prst="rect">
            <a:avLst/>
          </a:prstGeom>
          <a:solidFill>
            <a:srgbClr val="1E3A5F"/>
          </a:solidFill>
          <a:ln/>
          <a:effectLst>
            <a:outerShdw sx="100000" sy="100000" kx="0" ky="0" algn="bl" rotWithShape="0" blurRad="127000" dist="38100" dir="8100000">
              <a:srgbClr val="000000">
                <a:alpha val="10000"/>
              </a:srgbClr>
            </a:outerShdw>
          </a:effectLst>
        </p:spPr>
      </p:sp>
      <p:sp>
        <p:nvSpPr>
          <p:cNvPr id="26" name="Shape 24"/>
          <p:cNvSpPr/>
          <p:nvPr/>
        </p:nvSpPr>
        <p:spPr>
          <a:xfrm>
            <a:off x="493776" y="2377440"/>
            <a:ext cx="5577840" cy="54864"/>
          </a:xfrm>
          <a:prstGeom prst="rect">
            <a:avLst/>
          </a:prstGeom>
          <a:solidFill>
            <a:srgbClr val="2ECC71"/>
          </a:solidFill>
          <a:ln/>
        </p:spPr>
      </p:sp>
      <p:sp>
        <p:nvSpPr>
          <p:cNvPr id="27" name="Text 25"/>
          <p:cNvSpPr/>
          <p:nvPr/>
        </p:nvSpPr>
        <p:spPr>
          <a:xfrm>
            <a:off x="603504" y="2468880"/>
            <a:ext cx="3474720" cy="237744"/>
          </a:xfrm>
          <a:prstGeom prst="rect">
            <a:avLst/>
          </a:prstGeom>
          <a:noFill/>
          <a:ln/>
        </p:spPr>
        <p:txBody>
          <a:bodyPr wrap="square" lIns="0" tIns="0" rIns="0" bIns="0" rtlCol="0" anchor="ctr"/>
          <a:lstStyle/>
          <a:p>
            <a:pPr indent="0" marL="0">
              <a:buNone/>
            </a:pPr>
            <a:r>
              <a:rPr lang="en-US" sz="950" b="1" dirty="0">
                <a:solidFill>
                  <a:srgbClr val="2ECC71"/>
                </a:solidFill>
              </a:rPr>
              <a:t>SECTION 1: TOP GLOBAL UPDATE</a:t>
            </a:r>
            <a:endParaRPr lang="en-US" sz="950" dirty="0"/>
          </a:p>
        </p:txBody>
      </p:sp>
      <p:sp>
        <p:nvSpPr>
          <p:cNvPr id="28" name="Text 26"/>
          <p:cNvSpPr/>
          <p:nvPr/>
        </p:nvSpPr>
        <p:spPr>
          <a:xfrm>
            <a:off x="4242816" y="2468880"/>
            <a:ext cx="1719072" cy="237744"/>
          </a:xfrm>
          <a:prstGeom prst="rect">
            <a:avLst/>
          </a:prstGeom>
          <a:noFill/>
          <a:ln/>
        </p:spPr>
        <p:txBody>
          <a:bodyPr wrap="square" lIns="0" tIns="0" rIns="0" bIns="0" rtlCol="0" anchor="ctr"/>
          <a:lstStyle/>
          <a:p>
            <a:pPr algn="r" indent="0" marL="0">
              <a:buNone/>
            </a:pPr>
            <a:r>
              <a:rPr lang="en-US" sz="900" dirty="0">
                <a:solidFill>
                  <a:srgbClr val="2ECC71"/>
                </a:solidFill>
              </a:rPr>
              <a:t>✓ VERIFIED</a:t>
            </a:r>
            <a:endParaRPr lang="en-US" sz="900" dirty="0"/>
          </a:p>
        </p:txBody>
      </p:sp>
      <p:sp>
        <p:nvSpPr>
          <p:cNvPr id="29" name="Text 27"/>
          <p:cNvSpPr/>
          <p:nvPr/>
        </p:nvSpPr>
        <p:spPr>
          <a:xfrm>
            <a:off x="603504" y="2743200"/>
            <a:ext cx="5358384" cy="182880"/>
          </a:xfrm>
          <a:prstGeom prst="rect">
            <a:avLst/>
          </a:prstGeom>
          <a:noFill/>
          <a:ln/>
        </p:spPr>
        <p:txBody>
          <a:bodyPr wrap="square" lIns="0" tIns="0" rIns="0" bIns="0" rtlCol="0" anchor="ctr"/>
          <a:lstStyle/>
          <a:p>
            <a:pPr indent="0" marL="0">
              <a:buNone/>
            </a:pPr>
            <a:r>
              <a:rPr lang="en-US" sz="750" dirty="0">
                <a:solidFill>
                  <a:srgbClr val="9BB0C7"/>
                </a:solidFill>
              </a:rPr>
              <a:t>Sources: Ministry of Investment Vietnam · Thailand BOI · MITI Malaysia  ·  AI Confidence: 94%</a:t>
            </a:r>
            <a:endParaRPr lang="en-US" sz="750" dirty="0"/>
          </a:p>
        </p:txBody>
      </p:sp>
      <p:sp>
        <p:nvSpPr>
          <p:cNvPr id="30" name="Shape 28"/>
          <p:cNvSpPr/>
          <p:nvPr/>
        </p:nvSpPr>
        <p:spPr>
          <a:xfrm>
            <a:off x="603504" y="2962656"/>
            <a:ext cx="5358384" cy="0"/>
          </a:xfrm>
          <a:prstGeom prst="line">
            <a:avLst/>
          </a:prstGeom>
          <a:noFill/>
          <a:ln w="5080">
            <a:solidFill>
              <a:srgbClr val="2A4A6A"/>
            </a:solidFill>
            <a:prstDash val="solid"/>
          </a:ln>
        </p:spPr>
      </p:sp>
      <p:sp>
        <p:nvSpPr>
          <p:cNvPr id="31" name="Text 29"/>
          <p:cNvSpPr/>
          <p:nvPr/>
        </p:nvSpPr>
        <p:spPr>
          <a:xfrm>
            <a:off x="603504" y="3035808"/>
            <a:ext cx="5358384" cy="914400"/>
          </a:xfrm>
          <a:prstGeom prst="rect">
            <a:avLst/>
          </a:prstGeom>
          <a:noFill/>
          <a:ln/>
        </p:spPr>
        <p:txBody>
          <a:bodyPr wrap="square" lIns="0" tIns="0" rIns="0" bIns="0" rtlCol="0" anchor="ctr"/>
          <a:lstStyle/>
          <a:p>
            <a:pPr indent="0" marL="0">
              <a:lnSpc>
                <a:spcPct val="135000"/>
              </a:lnSpc>
              <a:buNone/>
            </a:pPr>
            <a:r>
              <a:rPr lang="en-US" sz="850" dirty="0">
                <a:solidFill>
                  <a:srgbClr val="C8D8E8"/>
                </a:solidFill>
              </a:rPr>
              <a:t>Vietnam, Thailand, Malaysia Form "ASEAN EV Corridor" — $25B Supply Chain Investment. Three nations signed landmark agreement. Harmonised incentives, cross-border tariff elimination, joint infrastructure.</a:t>
            </a:r>
            <a:endParaRPr lang="en-US" sz="850" dirty="0"/>
          </a:p>
        </p:txBody>
      </p:sp>
      <p:sp>
        <p:nvSpPr>
          <p:cNvPr id="32" name="Shape 30"/>
          <p:cNvSpPr/>
          <p:nvPr/>
        </p:nvSpPr>
        <p:spPr>
          <a:xfrm>
            <a:off x="6327648" y="2377440"/>
            <a:ext cx="5577840" cy="1627632"/>
          </a:xfrm>
          <a:prstGeom prst="rect">
            <a:avLst/>
          </a:prstGeom>
          <a:solidFill>
            <a:srgbClr val="1E3A5F"/>
          </a:solidFill>
          <a:ln/>
          <a:effectLst>
            <a:outerShdw sx="100000" sy="100000" kx="0" ky="0" algn="bl" rotWithShape="0" blurRad="127000" dist="38100" dir="8100000">
              <a:srgbClr val="000000">
                <a:alpha val="10000"/>
              </a:srgbClr>
            </a:outerShdw>
          </a:effectLst>
        </p:spPr>
      </p:sp>
      <p:sp>
        <p:nvSpPr>
          <p:cNvPr id="33" name="Shape 31"/>
          <p:cNvSpPr/>
          <p:nvPr/>
        </p:nvSpPr>
        <p:spPr>
          <a:xfrm>
            <a:off x="6327648" y="2377440"/>
            <a:ext cx="5577840" cy="54864"/>
          </a:xfrm>
          <a:prstGeom prst="rect">
            <a:avLst/>
          </a:prstGeom>
          <a:solidFill>
            <a:srgbClr val="F1C40F"/>
          </a:solidFill>
          <a:ln/>
        </p:spPr>
      </p:sp>
      <p:sp>
        <p:nvSpPr>
          <p:cNvPr id="34" name="Text 32"/>
          <p:cNvSpPr/>
          <p:nvPr/>
        </p:nvSpPr>
        <p:spPr>
          <a:xfrm>
            <a:off x="6437376" y="2468880"/>
            <a:ext cx="3474720" cy="237744"/>
          </a:xfrm>
          <a:prstGeom prst="rect">
            <a:avLst/>
          </a:prstGeom>
          <a:noFill/>
          <a:ln/>
        </p:spPr>
        <p:txBody>
          <a:bodyPr wrap="square" lIns="0" tIns="0" rIns="0" bIns="0" rtlCol="0" anchor="ctr"/>
          <a:lstStyle/>
          <a:p>
            <a:pPr indent="0" marL="0">
              <a:buNone/>
            </a:pPr>
            <a:r>
              <a:rPr lang="en-US" sz="950" b="1" dirty="0">
                <a:solidFill>
                  <a:srgbClr val="2ECC71"/>
                </a:solidFill>
              </a:rPr>
              <a:t>SECTION 2: REGIONAL UPDATES</a:t>
            </a:r>
            <a:endParaRPr lang="en-US" sz="950" dirty="0"/>
          </a:p>
        </p:txBody>
      </p:sp>
      <p:sp>
        <p:nvSpPr>
          <p:cNvPr id="35" name="Text 33"/>
          <p:cNvSpPr/>
          <p:nvPr/>
        </p:nvSpPr>
        <p:spPr>
          <a:xfrm>
            <a:off x="10076688" y="2468880"/>
            <a:ext cx="1719072" cy="237744"/>
          </a:xfrm>
          <a:prstGeom prst="rect">
            <a:avLst/>
          </a:prstGeom>
          <a:noFill/>
          <a:ln/>
        </p:spPr>
        <p:txBody>
          <a:bodyPr wrap="square" lIns="0" tIns="0" rIns="0" bIns="0" rtlCol="0" anchor="ctr"/>
          <a:lstStyle/>
          <a:p>
            <a:pPr algn="r" indent="0" marL="0">
              <a:buNone/>
            </a:pPr>
            <a:r>
              <a:rPr lang="en-US" sz="900" dirty="0">
                <a:solidFill>
                  <a:srgbClr val="F1C40F"/>
                </a:solidFill>
              </a:rPr>
              <a:t>⚠ REVIEW</a:t>
            </a:r>
            <a:endParaRPr lang="en-US" sz="900" dirty="0"/>
          </a:p>
        </p:txBody>
      </p:sp>
      <p:sp>
        <p:nvSpPr>
          <p:cNvPr id="36" name="Text 34"/>
          <p:cNvSpPr/>
          <p:nvPr/>
        </p:nvSpPr>
        <p:spPr>
          <a:xfrm>
            <a:off x="6437376" y="2743200"/>
            <a:ext cx="5358384" cy="182880"/>
          </a:xfrm>
          <a:prstGeom prst="rect">
            <a:avLst/>
          </a:prstGeom>
          <a:noFill/>
          <a:ln/>
        </p:spPr>
        <p:txBody>
          <a:bodyPr wrap="square" lIns="0" tIns="0" rIns="0" bIns="0" rtlCol="0" anchor="ctr"/>
          <a:lstStyle/>
          <a:p>
            <a:pPr indent="0" marL="0">
              <a:buNone/>
            </a:pPr>
            <a:r>
              <a:rPr lang="en-US" sz="750" dirty="0">
                <a:solidFill>
                  <a:srgbClr val="9BB0C7"/>
                </a:solidFill>
              </a:rPr>
              <a:t>Sources: 6 official sources · 1 wire service  ·  AI Confidence: 91%</a:t>
            </a:r>
            <a:endParaRPr lang="en-US" sz="750" dirty="0"/>
          </a:p>
        </p:txBody>
      </p:sp>
      <p:sp>
        <p:nvSpPr>
          <p:cNvPr id="37" name="Shape 35"/>
          <p:cNvSpPr/>
          <p:nvPr/>
        </p:nvSpPr>
        <p:spPr>
          <a:xfrm>
            <a:off x="6437376" y="2962656"/>
            <a:ext cx="5358384" cy="0"/>
          </a:xfrm>
          <a:prstGeom prst="line">
            <a:avLst/>
          </a:prstGeom>
          <a:noFill/>
          <a:ln w="5080">
            <a:solidFill>
              <a:srgbClr val="2A4A6A"/>
            </a:solidFill>
            <a:prstDash val="solid"/>
          </a:ln>
        </p:spPr>
      </p:sp>
      <p:sp>
        <p:nvSpPr>
          <p:cNvPr id="38" name="Text 36"/>
          <p:cNvSpPr/>
          <p:nvPr/>
        </p:nvSpPr>
        <p:spPr>
          <a:xfrm>
            <a:off x="6437376" y="3035808"/>
            <a:ext cx="5358384" cy="914400"/>
          </a:xfrm>
          <a:prstGeom prst="rect">
            <a:avLst/>
          </a:prstGeom>
          <a:noFill/>
          <a:ln/>
        </p:spPr>
        <p:txBody>
          <a:bodyPr wrap="square" lIns="0" tIns="0" rIns="0" bIns="0" rtlCol="0" anchor="ctr"/>
          <a:lstStyle/>
          <a:p>
            <a:pPr indent="0" marL="0">
              <a:lnSpc>
                <a:spcPct val="135000"/>
              </a:lnSpc>
              <a:buNone/>
            </a:pPr>
            <a:r>
              <a:rPr lang="en-US" sz="850" dirty="0">
                <a:solidFill>
                  <a:srgbClr val="C8D8E8"/>
                </a:solidFill>
              </a:rPr>
              <a:t>Asia Pacific (+0.6): Vietnam EV battery subsidy, Malaysia 100% FDI cap data centers, Thailand $2B package. Europe &amp; ME: UAE $10B AI fund, Saudi PIF $15B. Americas: Brazil $5B data center.</a:t>
            </a:r>
            <a:endParaRPr lang="en-US" sz="850" dirty="0"/>
          </a:p>
        </p:txBody>
      </p:sp>
      <p:sp>
        <p:nvSpPr>
          <p:cNvPr id="39" name="Shape 37"/>
          <p:cNvSpPr/>
          <p:nvPr/>
        </p:nvSpPr>
        <p:spPr>
          <a:xfrm>
            <a:off x="493776" y="4096512"/>
            <a:ext cx="5577840" cy="1627632"/>
          </a:xfrm>
          <a:prstGeom prst="rect">
            <a:avLst/>
          </a:prstGeom>
          <a:solidFill>
            <a:srgbClr val="1E3A5F"/>
          </a:solidFill>
          <a:ln/>
          <a:effectLst>
            <a:outerShdw sx="100000" sy="100000" kx="0" ky="0" algn="bl" rotWithShape="0" blurRad="127000" dist="38100" dir="8100000">
              <a:srgbClr val="000000">
                <a:alpha val="10000"/>
              </a:srgbClr>
            </a:outerShdw>
          </a:effectLst>
        </p:spPr>
      </p:sp>
      <p:sp>
        <p:nvSpPr>
          <p:cNvPr id="40" name="Shape 38"/>
          <p:cNvSpPr/>
          <p:nvPr/>
        </p:nvSpPr>
        <p:spPr>
          <a:xfrm>
            <a:off x="493776" y="4096512"/>
            <a:ext cx="5577840" cy="54864"/>
          </a:xfrm>
          <a:prstGeom prst="rect">
            <a:avLst/>
          </a:prstGeom>
          <a:solidFill>
            <a:srgbClr val="3498DB"/>
          </a:solidFill>
          <a:ln/>
        </p:spPr>
      </p:sp>
      <p:sp>
        <p:nvSpPr>
          <p:cNvPr id="41" name="Text 39"/>
          <p:cNvSpPr/>
          <p:nvPr/>
        </p:nvSpPr>
        <p:spPr>
          <a:xfrm>
            <a:off x="603504" y="4187952"/>
            <a:ext cx="3474720" cy="237744"/>
          </a:xfrm>
          <a:prstGeom prst="rect">
            <a:avLst/>
          </a:prstGeom>
          <a:noFill/>
          <a:ln/>
        </p:spPr>
        <p:txBody>
          <a:bodyPr wrap="square" lIns="0" tIns="0" rIns="0" bIns="0" rtlCol="0" anchor="ctr"/>
          <a:lstStyle/>
          <a:p>
            <a:pPr indent="0" marL="0">
              <a:buNone/>
            </a:pPr>
            <a:r>
              <a:rPr lang="en-US" sz="950" b="1" dirty="0">
                <a:solidFill>
                  <a:srgbClr val="2ECC71"/>
                </a:solidFill>
              </a:rPr>
              <a:t>SECTION 3: SECTOR UPDATES</a:t>
            </a:r>
            <a:endParaRPr lang="en-US" sz="950" dirty="0"/>
          </a:p>
        </p:txBody>
      </p:sp>
      <p:sp>
        <p:nvSpPr>
          <p:cNvPr id="42" name="Text 40"/>
          <p:cNvSpPr/>
          <p:nvPr/>
        </p:nvSpPr>
        <p:spPr>
          <a:xfrm>
            <a:off x="4242816" y="4187952"/>
            <a:ext cx="1719072" cy="237744"/>
          </a:xfrm>
          <a:prstGeom prst="rect">
            <a:avLst/>
          </a:prstGeom>
          <a:noFill/>
          <a:ln/>
        </p:spPr>
        <p:txBody>
          <a:bodyPr wrap="square" lIns="0" tIns="0" rIns="0" bIns="0" rtlCol="0" anchor="ctr"/>
          <a:lstStyle/>
          <a:p>
            <a:pPr algn="r" indent="0" marL="0">
              <a:buNone/>
            </a:pPr>
            <a:r>
              <a:rPr lang="en-US" sz="900" dirty="0">
                <a:solidFill>
                  <a:srgbClr val="2ECC71"/>
                </a:solidFill>
              </a:rPr>
              <a:t>✓ VERIFIED</a:t>
            </a:r>
            <a:endParaRPr lang="en-US" sz="900" dirty="0"/>
          </a:p>
        </p:txBody>
      </p:sp>
      <p:sp>
        <p:nvSpPr>
          <p:cNvPr id="43" name="Text 41"/>
          <p:cNvSpPr/>
          <p:nvPr/>
        </p:nvSpPr>
        <p:spPr>
          <a:xfrm>
            <a:off x="603504" y="4462272"/>
            <a:ext cx="5358384" cy="182880"/>
          </a:xfrm>
          <a:prstGeom prst="rect">
            <a:avLst/>
          </a:prstGeom>
          <a:noFill/>
          <a:ln/>
        </p:spPr>
        <p:txBody>
          <a:bodyPr wrap="square" lIns="0" tIns="0" rIns="0" bIns="0" rtlCol="0" anchor="ctr"/>
          <a:lstStyle/>
          <a:p>
            <a:pPr indent="0" marL="0">
              <a:buNone/>
            </a:pPr>
            <a:r>
              <a:rPr lang="en-US" sz="750" dirty="0">
                <a:solidFill>
                  <a:srgbClr val="9BB0C7"/>
                </a:solidFill>
              </a:rPr>
              <a:t>Sources: 8 sector authority sources  ·  AI Confidence: 93%</a:t>
            </a:r>
            <a:endParaRPr lang="en-US" sz="750" dirty="0"/>
          </a:p>
        </p:txBody>
      </p:sp>
      <p:sp>
        <p:nvSpPr>
          <p:cNvPr id="44" name="Shape 42"/>
          <p:cNvSpPr/>
          <p:nvPr/>
        </p:nvSpPr>
        <p:spPr>
          <a:xfrm>
            <a:off x="603504" y="4681728"/>
            <a:ext cx="5358384" cy="0"/>
          </a:xfrm>
          <a:prstGeom prst="line">
            <a:avLst/>
          </a:prstGeom>
          <a:noFill/>
          <a:ln w="5080">
            <a:solidFill>
              <a:srgbClr val="2A4A6A"/>
            </a:solidFill>
            <a:prstDash val="solid"/>
          </a:ln>
        </p:spPr>
      </p:sp>
      <p:sp>
        <p:nvSpPr>
          <p:cNvPr id="45" name="Text 43"/>
          <p:cNvSpPr/>
          <p:nvPr/>
        </p:nvSpPr>
        <p:spPr>
          <a:xfrm>
            <a:off x="603504" y="4754880"/>
            <a:ext cx="5358384" cy="914400"/>
          </a:xfrm>
          <a:prstGeom prst="rect">
            <a:avLst/>
          </a:prstGeom>
          <a:noFill/>
          <a:ln/>
        </p:spPr>
        <p:txBody>
          <a:bodyPr wrap="square" lIns="0" tIns="0" rIns="0" bIns="0" rtlCol="0" anchor="ctr"/>
          <a:lstStyle/>
          <a:p>
            <a:pPr indent="0" marL="0">
              <a:lnSpc>
                <a:spcPct val="135000"/>
              </a:lnSpc>
              <a:buNone/>
            </a:pPr>
            <a:r>
              <a:rPr lang="en-US" sz="850" dirty="0">
                <a:solidFill>
                  <a:srgbClr val="C8D8E8"/>
                </a:solidFill>
              </a:rPr>
              <a:t>EV Battery Manufacturing: Momentum 92/100 ▲+12. AI Data Centers: 78/100 ▲+8. Top 3 destinations with GOSA scores and recent investment announcements. Market Intel Layer signals correlated.</a:t>
            </a:r>
            <a:endParaRPr lang="en-US" sz="850" dirty="0"/>
          </a:p>
        </p:txBody>
      </p:sp>
      <p:sp>
        <p:nvSpPr>
          <p:cNvPr id="46" name="Shape 44"/>
          <p:cNvSpPr/>
          <p:nvPr/>
        </p:nvSpPr>
        <p:spPr>
          <a:xfrm>
            <a:off x="6327648" y="4096512"/>
            <a:ext cx="5577840" cy="1627632"/>
          </a:xfrm>
          <a:prstGeom prst="rect">
            <a:avLst/>
          </a:prstGeom>
          <a:solidFill>
            <a:srgbClr val="1E3A5F"/>
          </a:solidFill>
          <a:ln/>
          <a:effectLst>
            <a:outerShdw sx="100000" sy="100000" kx="0" ky="0" algn="bl" rotWithShape="0" blurRad="127000" dist="38100" dir="8100000">
              <a:srgbClr val="000000">
                <a:alpha val="10000"/>
              </a:srgbClr>
            </a:outerShdw>
          </a:effectLst>
        </p:spPr>
      </p:sp>
      <p:sp>
        <p:nvSpPr>
          <p:cNvPr id="47" name="Shape 45"/>
          <p:cNvSpPr/>
          <p:nvPr/>
        </p:nvSpPr>
        <p:spPr>
          <a:xfrm>
            <a:off x="6327648" y="4096512"/>
            <a:ext cx="5577840" cy="54864"/>
          </a:xfrm>
          <a:prstGeom prst="rect">
            <a:avLst/>
          </a:prstGeom>
          <a:solidFill>
            <a:srgbClr val="9B59B6"/>
          </a:solidFill>
          <a:ln/>
        </p:spPr>
      </p:sp>
      <p:sp>
        <p:nvSpPr>
          <p:cNvPr id="48" name="Text 46"/>
          <p:cNvSpPr/>
          <p:nvPr/>
        </p:nvSpPr>
        <p:spPr>
          <a:xfrm>
            <a:off x="6437376" y="4187952"/>
            <a:ext cx="3474720" cy="237744"/>
          </a:xfrm>
          <a:prstGeom prst="rect">
            <a:avLst/>
          </a:prstGeom>
          <a:noFill/>
          <a:ln/>
        </p:spPr>
        <p:txBody>
          <a:bodyPr wrap="square" lIns="0" tIns="0" rIns="0" bIns="0" rtlCol="0" anchor="ctr"/>
          <a:lstStyle/>
          <a:p>
            <a:pPr indent="0" marL="0">
              <a:buNone/>
            </a:pPr>
            <a:r>
              <a:rPr lang="en-US" sz="950" b="1" dirty="0">
                <a:solidFill>
                  <a:srgbClr val="2ECC71"/>
                </a:solidFill>
              </a:rPr>
              <a:t>SECTION 4: TOP 5 SIGNALS</a:t>
            </a:r>
            <a:endParaRPr lang="en-US" sz="950" dirty="0"/>
          </a:p>
        </p:txBody>
      </p:sp>
      <p:sp>
        <p:nvSpPr>
          <p:cNvPr id="49" name="Text 47"/>
          <p:cNvSpPr/>
          <p:nvPr/>
        </p:nvSpPr>
        <p:spPr>
          <a:xfrm>
            <a:off x="10076688" y="4187952"/>
            <a:ext cx="1719072" cy="237744"/>
          </a:xfrm>
          <a:prstGeom prst="rect">
            <a:avLst/>
          </a:prstGeom>
          <a:noFill/>
          <a:ln/>
        </p:spPr>
        <p:txBody>
          <a:bodyPr wrap="square" lIns="0" tIns="0" rIns="0" bIns="0" rtlCol="0" anchor="ctr"/>
          <a:lstStyle/>
          <a:p>
            <a:pPr algn="r" indent="0" marL="0">
              <a:buNone/>
            </a:pPr>
            <a:r>
              <a:rPr lang="en-US" sz="900" dirty="0">
                <a:solidFill>
                  <a:srgbClr val="2ECC71"/>
                </a:solidFill>
              </a:rPr>
              <a:t>✓ VERIFIED</a:t>
            </a:r>
            <a:endParaRPr lang="en-US" sz="900" dirty="0"/>
          </a:p>
        </p:txBody>
      </p:sp>
      <p:sp>
        <p:nvSpPr>
          <p:cNvPr id="50" name="Text 48"/>
          <p:cNvSpPr/>
          <p:nvPr/>
        </p:nvSpPr>
        <p:spPr>
          <a:xfrm>
            <a:off x="6437376" y="4462272"/>
            <a:ext cx="5358384" cy="182880"/>
          </a:xfrm>
          <a:prstGeom prst="rect">
            <a:avLst/>
          </a:prstGeom>
          <a:noFill/>
          <a:ln/>
        </p:spPr>
        <p:txBody>
          <a:bodyPr wrap="square" lIns="0" tIns="0" rIns="0" bIns="0" rtlCol="0" anchor="ctr"/>
          <a:lstStyle/>
          <a:p>
            <a:pPr indent="0" marL="0">
              <a:buNone/>
            </a:pPr>
            <a:r>
              <a:rPr lang="en-US" sz="750" dirty="0">
                <a:solidFill>
                  <a:srgbClr val="9BB0C7"/>
                </a:solidFill>
              </a:rPr>
              <a:t>Sources: All T1/T2 government sources  ·  AI Confidence: 95%</a:t>
            </a:r>
            <a:endParaRPr lang="en-US" sz="750" dirty="0"/>
          </a:p>
        </p:txBody>
      </p:sp>
      <p:sp>
        <p:nvSpPr>
          <p:cNvPr id="51" name="Shape 49"/>
          <p:cNvSpPr/>
          <p:nvPr/>
        </p:nvSpPr>
        <p:spPr>
          <a:xfrm>
            <a:off x="6437376" y="4681728"/>
            <a:ext cx="5358384" cy="0"/>
          </a:xfrm>
          <a:prstGeom prst="line">
            <a:avLst/>
          </a:prstGeom>
          <a:noFill/>
          <a:ln w="5080">
            <a:solidFill>
              <a:srgbClr val="2A4A6A"/>
            </a:solidFill>
            <a:prstDash val="solid"/>
          </a:ln>
        </p:spPr>
      </p:sp>
      <p:sp>
        <p:nvSpPr>
          <p:cNvPr id="52" name="Text 50"/>
          <p:cNvSpPr/>
          <p:nvPr/>
        </p:nvSpPr>
        <p:spPr>
          <a:xfrm>
            <a:off x="6437376" y="4754880"/>
            <a:ext cx="5358384" cy="914400"/>
          </a:xfrm>
          <a:prstGeom prst="rect">
            <a:avLst/>
          </a:prstGeom>
          <a:noFill/>
          <a:ln/>
        </p:spPr>
        <p:txBody>
          <a:bodyPr wrap="square" lIns="0" tIns="0" rIns="0" bIns="0" rtlCol="0" anchor="ctr"/>
          <a:lstStyle/>
          <a:p>
            <a:pPr indent="0" marL="0">
              <a:lnSpc>
                <a:spcPct val="135000"/>
              </a:lnSpc>
              <a:buNone/>
            </a:pPr>
            <a:r>
              <a:rPr lang="en-US" sz="850" dirty="0">
                <a:solidFill>
                  <a:srgbClr val="C8D8E8"/>
                </a:solidFill>
              </a:rPr>
              <a:t>#1 POLICY CHANGE Malaysia SCI 96. #2 NEW INCENTIVE Thailand SCI 95. #3 SECTOR GROWTH Vietnam SCI 92. #4 ZONE AVAIL Indonesia SCI 91. #5 COMPETITOR IDN SCI 93. All SHA-256 hashed.</a:t>
            </a:r>
            <a:endParaRPr lang="en-US" sz="850" dirty="0"/>
          </a:p>
        </p:txBody>
      </p:sp>
      <p:sp>
        <p:nvSpPr>
          <p:cNvPr id="53" name="Shape 51"/>
          <p:cNvSpPr/>
          <p:nvPr/>
        </p:nvSpPr>
        <p:spPr>
          <a:xfrm>
            <a:off x="365760" y="5888736"/>
            <a:ext cx="11430000" cy="347472"/>
          </a:xfrm>
          <a:prstGeom prst="rect">
            <a:avLst/>
          </a:prstGeom>
          <a:solidFill>
            <a:srgbClr val="1A2C3E"/>
          </a:solidFill>
          <a:ln/>
        </p:spPr>
      </p:sp>
      <p:sp>
        <p:nvSpPr>
          <p:cNvPr id="54" name="Text 52"/>
          <p:cNvSpPr/>
          <p:nvPr/>
        </p:nvSpPr>
        <p:spPr>
          <a:xfrm>
            <a:off x="548640" y="5943600"/>
            <a:ext cx="11430000" cy="237744"/>
          </a:xfrm>
          <a:prstGeom prst="rect">
            <a:avLst/>
          </a:prstGeom>
          <a:noFill/>
          <a:ln/>
        </p:spPr>
        <p:txBody>
          <a:bodyPr wrap="square" lIns="0" tIns="0" rIns="0" bIns="0" rtlCol="0" anchor="ctr"/>
          <a:lstStyle/>
          <a:p>
            <a:pPr indent="0" marL="0">
              <a:buNone/>
            </a:pPr>
            <a:r>
              <a:rPr lang="en-US" sz="800" dirty="0">
                <a:solidFill>
                  <a:srgbClr val="9BB0C7"/>
                </a:solidFill>
              </a:rPr>
              <a:t>DISTRIBUTION:  12,847 active subscribers  ·  Scheduled: Tuesday March 24 08:00 GMT  ·  PDF: Auto S3 upload  ·  LinkedIn: Auto-schedule with cover image  ·  [UPDATE SETTINGS]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Technical Stack</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Complete Technical Stack — All Layers &amp; Technologies</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Exact versions · Implementation-ready specifications for all components</a:t>
            </a:r>
            <a:endParaRPr lang="en-US" sz="1000" dirty="0"/>
          </a:p>
        </p:txBody>
      </p:sp>
      <p:sp>
        <p:nvSpPr>
          <p:cNvPr id="10" name="Shape 8"/>
          <p:cNvSpPr/>
          <p:nvPr/>
        </p:nvSpPr>
        <p:spPr>
          <a:xfrm>
            <a:off x="365760" y="1463040"/>
            <a:ext cx="2816352" cy="329184"/>
          </a:xfrm>
          <a:prstGeom prst="rect">
            <a:avLst/>
          </a:prstGeom>
          <a:solidFill>
            <a:srgbClr val="2ECC71"/>
          </a:solidFill>
          <a:ln/>
        </p:spPr>
      </p:sp>
      <p:sp>
        <p:nvSpPr>
          <p:cNvPr id="11" name="Text 9"/>
          <p:cNvSpPr/>
          <p:nvPr/>
        </p:nvSpPr>
        <p:spPr>
          <a:xfrm>
            <a:off x="365760" y="1463040"/>
            <a:ext cx="2816352" cy="329184"/>
          </a:xfrm>
          <a:prstGeom prst="rect">
            <a:avLst/>
          </a:prstGeom>
          <a:noFill/>
          <a:ln/>
        </p:spPr>
        <p:txBody>
          <a:bodyPr wrap="square" lIns="0" tIns="0" rIns="0" bIns="0" rtlCol="0" anchor="ctr"/>
          <a:lstStyle/>
          <a:p>
            <a:pPr algn="ctr" indent="0" marL="0">
              <a:buNone/>
            </a:pPr>
            <a:r>
              <a:rPr lang="en-US" sz="1000" b="1" spc="200" kern="0" dirty="0">
                <a:solidFill>
                  <a:srgbClr val="FFFFFF"/>
                </a:solidFill>
              </a:rPr>
              <a:t>FRONTEND</a:t>
            </a:r>
            <a:endParaRPr lang="en-US" sz="1000" dirty="0"/>
          </a:p>
        </p:txBody>
      </p:sp>
      <p:sp>
        <p:nvSpPr>
          <p:cNvPr id="12" name="Shape 10"/>
          <p:cNvSpPr/>
          <p:nvPr/>
        </p:nvSpPr>
        <p:spPr>
          <a:xfrm>
            <a:off x="365760" y="1847088"/>
            <a:ext cx="2816352" cy="466344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3" name="Shape 11"/>
          <p:cNvSpPr/>
          <p:nvPr/>
        </p:nvSpPr>
        <p:spPr>
          <a:xfrm>
            <a:off x="475488" y="1920240"/>
            <a:ext cx="2743200" cy="54864"/>
          </a:xfrm>
          <a:prstGeom prst="rect">
            <a:avLst/>
          </a:prstGeom>
          <a:solidFill>
            <a:srgbClr val="F7F9FC"/>
          </a:solidFill>
          <a:ln/>
        </p:spPr>
      </p:sp>
      <p:sp>
        <p:nvSpPr>
          <p:cNvPr id="14" name="Text 12"/>
          <p:cNvSpPr/>
          <p:nvPr/>
        </p:nvSpPr>
        <p:spPr>
          <a:xfrm>
            <a:off x="493776" y="1956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React</a:t>
            </a:r>
            <a:endParaRPr lang="en-US" sz="900" dirty="0"/>
          </a:p>
        </p:txBody>
      </p:sp>
      <p:sp>
        <p:nvSpPr>
          <p:cNvPr id="15" name="Shape 13"/>
          <p:cNvSpPr/>
          <p:nvPr/>
        </p:nvSpPr>
        <p:spPr>
          <a:xfrm>
            <a:off x="1755648" y="1975104"/>
            <a:ext cx="384048" cy="164592"/>
          </a:xfrm>
          <a:prstGeom prst="rect">
            <a:avLst/>
          </a:prstGeom>
          <a:solidFill>
            <a:srgbClr val="2ECC71"/>
          </a:solidFill>
          <a:ln w="12700">
            <a:solidFill>
              <a:srgbClr val="2ECC71"/>
            </a:solidFill>
            <a:prstDash val="solid"/>
          </a:ln>
        </p:spPr>
      </p:sp>
      <p:sp>
        <p:nvSpPr>
          <p:cNvPr id="16" name="Text 14"/>
          <p:cNvSpPr/>
          <p:nvPr/>
        </p:nvSpPr>
        <p:spPr>
          <a:xfrm>
            <a:off x="1755648" y="1975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18.2+</a:t>
            </a:r>
            <a:endParaRPr lang="en-US" sz="700" dirty="0"/>
          </a:p>
        </p:txBody>
      </p:sp>
      <p:sp>
        <p:nvSpPr>
          <p:cNvPr id="17" name="Text 15"/>
          <p:cNvSpPr/>
          <p:nvPr/>
        </p:nvSpPr>
        <p:spPr>
          <a:xfrm>
            <a:off x="2194560" y="1956816"/>
            <a:ext cx="969264" cy="201168"/>
          </a:xfrm>
          <a:prstGeom prst="rect">
            <a:avLst/>
          </a:prstGeom>
          <a:noFill/>
          <a:ln/>
        </p:spPr>
        <p:txBody>
          <a:bodyPr wrap="square" lIns="0" tIns="0" rIns="0" bIns="0" rtlCol="0" anchor="ctr"/>
          <a:lstStyle/>
          <a:p>
            <a:pPr indent="0" marL="0">
              <a:buNone/>
            </a:pPr>
            <a:r>
              <a:rPr lang="en-US" sz="750" dirty="0">
                <a:solidFill>
                  <a:srgbClr val="7F8C8D"/>
                </a:solidFill>
              </a:rPr>
              <a:t>Component-based UI architecture</a:t>
            </a:r>
            <a:endParaRPr lang="en-US" sz="750" dirty="0"/>
          </a:p>
        </p:txBody>
      </p:sp>
      <p:sp>
        <p:nvSpPr>
          <p:cNvPr id="18" name="Shape 16"/>
          <p:cNvSpPr/>
          <p:nvPr/>
        </p:nvSpPr>
        <p:spPr>
          <a:xfrm>
            <a:off x="475488" y="2377440"/>
            <a:ext cx="2743200" cy="54864"/>
          </a:xfrm>
          <a:prstGeom prst="rect">
            <a:avLst/>
          </a:prstGeom>
          <a:solidFill>
            <a:srgbClr val="FFFFFF"/>
          </a:solidFill>
          <a:ln/>
        </p:spPr>
      </p:sp>
      <p:sp>
        <p:nvSpPr>
          <p:cNvPr id="19" name="Text 17"/>
          <p:cNvSpPr/>
          <p:nvPr/>
        </p:nvSpPr>
        <p:spPr>
          <a:xfrm>
            <a:off x="493776" y="2414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TypeScript</a:t>
            </a:r>
            <a:endParaRPr lang="en-US" sz="900" dirty="0"/>
          </a:p>
        </p:txBody>
      </p:sp>
      <p:sp>
        <p:nvSpPr>
          <p:cNvPr id="20" name="Shape 18"/>
          <p:cNvSpPr/>
          <p:nvPr/>
        </p:nvSpPr>
        <p:spPr>
          <a:xfrm>
            <a:off x="1755648" y="2432304"/>
            <a:ext cx="384048" cy="164592"/>
          </a:xfrm>
          <a:prstGeom prst="rect">
            <a:avLst/>
          </a:prstGeom>
          <a:solidFill>
            <a:srgbClr val="2ECC71"/>
          </a:solidFill>
          <a:ln w="12700">
            <a:solidFill>
              <a:srgbClr val="2ECC71"/>
            </a:solidFill>
            <a:prstDash val="solid"/>
          </a:ln>
        </p:spPr>
      </p:sp>
      <p:sp>
        <p:nvSpPr>
          <p:cNvPr id="21" name="Text 19"/>
          <p:cNvSpPr/>
          <p:nvPr/>
        </p:nvSpPr>
        <p:spPr>
          <a:xfrm>
            <a:off x="1755648" y="2432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5.0+</a:t>
            </a:r>
            <a:endParaRPr lang="en-US" sz="700" dirty="0"/>
          </a:p>
        </p:txBody>
      </p:sp>
      <p:sp>
        <p:nvSpPr>
          <p:cNvPr id="22" name="Text 20"/>
          <p:cNvSpPr/>
          <p:nvPr/>
        </p:nvSpPr>
        <p:spPr>
          <a:xfrm>
            <a:off x="2194560" y="2414016"/>
            <a:ext cx="969264" cy="201168"/>
          </a:xfrm>
          <a:prstGeom prst="rect">
            <a:avLst/>
          </a:prstGeom>
          <a:noFill/>
          <a:ln/>
        </p:spPr>
        <p:txBody>
          <a:bodyPr wrap="square" lIns="0" tIns="0" rIns="0" bIns="0" rtlCol="0" anchor="ctr"/>
          <a:lstStyle/>
          <a:p>
            <a:pPr indent="0" marL="0">
              <a:buNone/>
            </a:pPr>
            <a:r>
              <a:rPr lang="en-US" sz="750" dirty="0">
                <a:solidFill>
                  <a:srgbClr val="7F8C8D"/>
                </a:solidFill>
              </a:rPr>
              <a:t>Type safety across all components</a:t>
            </a:r>
            <a:endParaRPr lang="en-US" sz="750" dirty="0"/>
          </a:p>
        </p:txBody>
      </p:sp>
      <p:sp>
        <p:nvSpPr>
          <p:cNvPr id="23" name="Shape 21"/>
          <p:cNvSpPr/>
          <p:nvPr/>
        </p:nvSpPr>
        <p:spPr>
          <a:xfrm>
            <a:off x="475488" y="2834640"/>
            <a:ext cx="2743200" cy="54864"/>
          </a:xfrm>
          <a:prstGeom prst="rect">
            <a:avLst/>
          </a:prstGeom>
          <a:solidFill>
            <a:srgbClr val="F7F9FC"/>
          </a:solidFill>
          <a:ln/>
        </p:spPr>
      </p:sp>
      <p:sp>
        <p:nvSpPr>
          <p:cNvPr id="24" name="Text 22"/>
          <p:cNvSpPr/>
          <p:nvPr/>
        </p:nvSpPr>
        <p:spPr>
          <a:xfrm>
            <a:off x="493776" y="2871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Next.js</a:t>
            </a:r>
            <a:endParaRPr lang="en-US" sz="900" dirty="0"/>
          </a:p>
        </p:txBody>
      </p:sp>
      <p:sp>
        <p:nvSpPr>
          <p:cNvPr id="25" name="Shape 23"/>
          <p:cNvSpPr/>
          <p:nvPr/>
        </p:nvSpPr>
        <p:spPr>
          <a:xfrm>
            <a:off x="1755648" y="2889504"/>
            <a:ext cx="384048" cy="164592"/>
          </a:xfrm>
          <a:prstGeom prst="rect">
            <a:avLst/>
          </a:prstGeom>
          <a:solidFill>
            <a:srgbClr val="2ECC71"/>
          </a:solidFill>
          <a:ln w="12700">
            <a:solidFill>
              <a:srgbClr val="2ECC71"/>
            </a:solidFill>
            <a:prstDash val="solid"/>
          </a:ln>
        </p:spPr>
      </p:sp>
      <p:sp>
        <p:nvSpPr>
          <p:cNvPr id="26" name="Text 24"/>
          <p:cNvSpPr/>
          <p:nvPr/>
        </p:nvSpPr>
        <p:spPr>
          <a:xfrm>
            <a:off x="1755648" y="2889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14.0+</a:t>
            </a:r>
            <a:endParaRPr lang="en-US" sz="700" dirty="0"/>
          </a:p>
        </p:txBody>
      </p:sp>
      <p:sp>
        <p:nvSpPr>
          <p:cNvPr id="27" name="Text 25"/>
          <p:cNvSpPr/>
          <p:nvPr/>
        </p:nvSpPr>
        <p:spPr>
          <a:xfrm>
            <a:off x="2194560" y="2871216"/>
            <a:ext cx="969264" cy="201168"/>
          </a:xfrm>
          <a:prstGeom prst="rect">
            <a:avLst/>
          </a:prstGeom>
          <a:noFill/>
          <a:ln/>
        </p:spPr>
        <p:txBody>
          <a:bodyPr wrap="square" lIns="0" tIns="0" rIns="0" bIns="0" rtlCol="0" anchor="ctr"/>
          <a:lstStyle/>
          <a:p>
            <a:pPr indent="0" marL="0">
              <a:buNone/>
            </a:pPr>
            <a:r>
              <a:rPr lang="en-US" sz="750" dirty="0">
                <a:solidFill>
                  <a:srgbClr val="7F8C8D"/>
                </a:solidFill>
              </a:rPr>
              <a:t>Static export + SSR capabilities</a:t>
            </a:r>
            <a:endParaRPr lang="en-US" sz="750" dirty="0"/>
          </a:p>
        </p:txBody>
      </p:sp>
      <p:sp>
        <p:nvSpPr>
          <p:cNvPr id="28" name="Shape 26"/>
          <p:cNvSpPr/>
          <p:nvPr/>
        </p:nvSpPr>
        <p:spPr>
          <a:xfrm>
            <a:off x="475488" y="3291840"/>
            <a:ext cx="2743200" cy="54864"/>
          </a:xfrm>
          <a:prstGeom prst="rect">
            <a:avLst/>
          </a:prstGeom>
          <a:solidFill>
            <a:srgbClr val="FFFFFF"/>
          </a:solidFill>
          <a:ln/>
        </p:spPr>
      </p:sp>
      <p:sp>
        <p:nvSpPr>
          <p:cNvPr id="29" name="Text 27"/>
          <p:cNvSpPr/>
          <p:nvPr/>
        </p:nvSpPr>
        <p:spPr>
          <a:xfrm>
            <a:off x="493776" y="3328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Tailwind CSS</a:t>
            </a:r>
            <a:endParaRPr lang="en-US" sz="900" dirty="0"/>
          </a:p>
        </p:txBody>
      </p:sp>
      <p:sp>
        <p:nvSpPr>
          <p:cNvPr id="30" name="Shape 28"/>
          <p:cNvSpPr/>
          <p:nvPr/>
        </p:nvSpPr>
        <p:spPr>
          <a:xfrm>
            <a:off x="1755648" y="3346704"/>
            <a:ext cx="384048" cy="164592"/>
          </a:xfrm>
          <a:prstGeom prst="rect">
            <a:avLst/>
          </a:prstGeom>
          <a:solidFill>
            <a:srgbClr val="2ECC71"/>
          </a:solidFill>
          <a:ln w="12700">
            <a:solidFill>
              <a:srgbClr val="2ECC71"/>
            </a:solidFill>
            <a:prstDash val="solid"/>
          </a:ln>
        </p:spPr>
      </p:sp>
      <p:sp>
        <p:nvSpPr>
          <p:cNvPr id="31" name="Text 29"/>
          <p:cNvSpPr/>
          <p:nvPr/>
        </p:nvSpPr>
        <p:spPr>
          <a:xfrm>
            <a:off x="1755648" y="3346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3.3+</a:t>
            </a:r>
            <a:endParaRPr lang="en-US" sz="700" dirty="0"/>
          </a:p>
        </p:txBody>
      </p:sp>
      <p:sp>
        <p:nvSpPr>
          <p:cNvPr id="32" name="Text 30"/>
          <p:cNvSpPr/>
          <p:nvPr/>
        </p:nvSpPr>
        <p:spPr>
          <a:xfrm>
            <a:off x="2194560" y="3328416"/>
            <a:ext cx="969264" cy="201168"/>
          </a:xfrm>
          <a:prstGeom prst="rect">
            <a:avLst/>
          </a:prstGeom>
          <a:noFill/>
          <a:ln/>
        </p:spPr>
        <p:txBody>
          <a:bodyPr wrap="square" lIns="0" tIns="0" rIns="0" bIns="0" rtlCol="0" anchor="ctr"/>
          <a:lstStyle/>
          <a:p>
            <a:pPr indent="0" marL="0">
              <a:buNone/>
            </a:pPr>
            <a:r>
              <a:rPr lang="en-US" sz="750" dirty="0">
                <a:solidFill>
                  <a:srgbClr val="7F8C8D"/>
                </a:solidFill>
              </a:rPr>
              <a:t>Utility-first styling with custom theme</a:t>
            </a:r>
            <a:endParaRPr lang="en-US" sz="750" dirty="0"/>
          </a:p>
        </p:txBody>
      </p:sp>
      <p:sp>
        <p:nvSpPr>
          <p:cNvPr id="33" name="Shape 31"/>
          <p:cNvSpPr/>
          <p:nvPr/>
        </p:nvSpPr>
        <p:spPr>
          <a:xfrm>
            <a:off x="475488" y="3749040"/>
            <a:ext cx="2743200" cy="54864"/>
          </a:xfrm>
          <a:prstGeom prst="rect">
            <a:avLst/>
          </a:prstGeom>
          <a:solidFill>
            <a:srgbClr val="F7F9FC"/>
          </a:solidFill>
          <a:ln/>
        </p:spPr>
      </p:sp>
      <p:sp>
        <p:nvSpPr>
          <p:cNvPr id="34" name="Text 32"/>
          <p:cNvSpPr/>
          <p:nvPr/>
        </p:nvSpPr>
        <p:spPr>
          <a:xfrm>
            <a:off x="493776" y="3785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Three.js</a:t>
            </a:r>
            <a:endParaRPr lang="en-US" sz="900" dirty="0"/>
          </a:p>
        </p:txBody>
      </p:sp>
      <p:sp>
        <p:nvSpPr>
          <p:cNvPr id="35" name="Shape 33"/>
          <p:cNvSpPr/>
          <p:nvPr/>
        </p:nvSpPr>
        <p:spPr>
          <a:xfrm>
            <a:off x="1755648" y="3803904"/>
            <a:ext cx="384048" cy="164592"/>
          </a:xfrm>
          <a:prstGeom prst="rect">
            <a:avLst/>
          </a:prstGeom>
          <a:solidFill>
            <a:srgbClr val="2ECC71"/>
          </a:solidFill>
          <a:ln w="12700">
            <a:solidFill>
              <a:srgbClr val="2ECC71"/>
            </a:solidFill>
            <a:prstDash val="solid"/>
          </a:ln>
        </p:spPr>
      </p:sp>
      <p:sp>
        <p:nvSpPr>
          <p:cNvPr id="36" name="Text 34"/>
          <p:cNvSpPr/>
          <p:nvPr/>
        </p:nvSpPr>
        <p:spPr>
          <a:xfrm>
            <a:off x="1755648" y="3803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0.128+</a:t>
            </a:r>
            <a:endParaRPr lang="en-US" sz="700" dirty="0"/>
          </a:p>
        </p:txBody>
      </p:sp>
      <p:sp>
        <p:nvSpPr>
          <p:cNvPr id="37" name="Text 35"/>
          <p:cNvSpPr/>
          <p:nvPr/>
        </p:nvSpPr>
        <p:spPr>
          <a:xfrm>
            <a:off x="2194560" y="3785616"/>
            <a:ext cx="969264" cy="201168"/>
          </a:xfrm>
          <a:prstGeom prst="rect">
            <a:avLst/>
          </a:prstGeom>
          <a:noFill/>
          <a:ln/>
        </p:spPr>
        <p:txBody>
          <a:bodyPr wrap="square" lIns="0" tIns="0" rIns="0" bIns="0" rtlCol="0" anchor="ctr"/>
          <a:lstStyle/>
          <a:p>
            <a:pPr indent="0" marL="0">
              <a:buNone/>
            </a:pPr>
            <a:r>
              <a:rPr lang="en-US" sz="750" dirty="0">
                <a:solidFill>
                  <a:srgbClr val="7F8C8D"/>
                </a:solidFill>
              </a:rPr>
              <a:t>3D globe + investment zone visualisations</a:t>
            </a:r>
            <a:endParaRPr lang="en-US" sz="750" dirty="0"/>
          </a:p>
        </p:txBody>
      </p:sp>
      <p:sp>
        <p:nvSpPr>
          <p:cNvPr id="38" name="Shape 36"/>
          <p:cNvSpPr/>
          <p:nvPr/>
        </p:nvSpPr>
        <p:spPr>
          <a:xfrm>
            <a:off x="475488" y="4206240"/>
            <a:ext cx="2743200" cy="54864"/>
          </a:xfrm>
          <a:prstGeom prst="rect">
            <a:avLst/>
          </a:prstGeom>
          <a:solidFill>
            <a:srgbClr val="FFFFFF"/>
          </a:solidFill>
          <a:ln/>
        </p:spPr>
      </p:sp>
      <p:sp>
        <p:nvSpPr>
          <p:cNvPr id="39" name="Text 37"/>
          <p:cNvSpPr/>
          <p:nvPr/>
        </p:nvSpPr>
        <p:spPr>
          <a:xfrm>
            <a:off x="493776" y="4242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React Three Fiber</a:t>
            </a:r>
            <a:endParaRPr lang="en-US" sz="900" dirty="0"/>
          </a:p>
        </p:txBody>
      </p:sp>
      <p:sp>
        <p:nvSpPr>
          <p:cNvPr id="40" name="Shape 38"/>
          <p:cNvSpPr/>
          <p:nvPr/>
        </p:nvSpPr>
        <p:spPr>
          <a:xfrm>
            <a:off x="1755648" y="4261104"/>
            <a:ext cx="384048" cy="164592"/>
          </a:xfrm>
          <a:prstGeom prst="rect">
            <a:avLst/>
          </a:prstGeom>
          <a:solidFill>
            <a:srgbClr val="2ECC71"/>
          </a:solidFill>
          <a:ln w="12700">
            <a:solidFill>
              <a:srgbClr val="2ECC71"/>
            </a:solidFill>
            <a:prstDash val="solid"/>
          </a:ln>
        </p:spPr>
      </p:sp>
      <p:sp>
        <p:nvSpPr>
          <p:cNvPr id="41" name="Text 39"/>
          <p:cNvSpPr/>
          <p:nvPr/>
        </p:nvSpPr>
        <p:spPr>
          <a:xfrm>
            <a:off x="1755648" y="4261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8.0+</a:t>
            </a:r>
            <a:endParaRPr lang="en-US" sz="700" dirty="0"/>
          </a:p>
        </p:txBody>
      </p:sp>
      <p:sp>
        <p:nvSpPr>
          <p:cNvPr id="42" name="Text 40"/>
          <p:cNvSpPr/>
          <p:nvPr/>
        </p:nvSpPr>
        <p:spPr>
          <a:xfrm>
            <a:off x="2194560" y="4242816"/>
            <a:ext cx="969264" cy="201168"/>
          </a:xfrm>
          <a:prstGeom prst="rect">
            <a:avLst/>
          </a:prstGeom>
          <a:noFill/>
          <a:ln/>
        </p:spPr>
        <p:txBody>
          <a:bodyPr wrap="square" lIns="0" tIns="0" rIns="0" bIns="0" rtlCol="0" anchor="ctr"/>
          <a:lstStyle/>
          <a:p>
            <a:pPr indent="0" marL="0">
              <a:buNone/>
            </a:pPr>
            <a:r>
              <a:rPr lang="en-US" sz="750" dirty="0">
                <a:solidFill>
                  <a:srgbClr val="7F8C8D"/>
                </a:solidFill>
              </a:rPr>
              <a:t>React wrapper for Three.js integration</a:t>
            </a:r>
            <a:endParaRPr lang="en-US" sz="750" dirty="0"/>
          </a:p>
        </p:txBody>
      </p:sp>
      <p:sp>
        <p:nvSpPr>
          <p:cNvPr id="43" name="Shape 41"/>
          <p:cNvSpPr/>
          <p:nvPr/>
        </p:nvSpPr>
        <p:spPr>
          <a:xfrm>
            <a:off x="475488" y="4663440"/>
            <a:ext cx="2743200" cy="54864"/>
          </a:xfrm>
          <a:prstGeom prst="rect">
            <a:avLst/>
          </a:prstGeom>
          <a:solidFill>
            <a:srgbClr val="F7F9FC"/>
          </a:solidFill>
          <a:ln/>
        </p:spPr>
      </p:sp>
      <p:sp>
        <p:nvSpPr>
          <p:cNvPr id="44" name="Text 42"/>
          <p:cNvSpPr/>
          <p:nvPr/>
        </p:nvSpPr>
        <p:spPr>
          <a:xfrm>
            <a:off x="493776" y="4700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D3.js</a:t>
            </a:r>
            <a:endParaRPr lang="en-US" sz="900" dirty="0"/>
          </a:p>
        </p:txBody>
      </p:sp>
      <p:sp>
        <p:nvSpPr>
          <p:cNvPr id="45" name="Shape 43"/>
          <p:cNvSpPr/>
          <p:nvPr/>
        </p:nvSpPr>
        <p:spPr>
          <a:xfrm>
            <a:off x="1755648" y="4718304"/>
            <a:ext cx="384048" cy="164592"/>
          </a:xfrm>
          <a:prstGeom prst="rect">
            <a:avLst/>
          </a:prstGeom>
          <a:solidFill>
            <a:srgbClr val="2ECC71"/>
          </a:solidFill>
          <a:ln w="12700">
            <a:solidFill>
              <a:srgbClr val="2ECC71"/>
            </a:solidFill>
            <a:prstDash val="solid"/>
          </a:ln>
        </p:spPr>
      </p:sp>
      <p:sp>
        <p:nvSpPr>
          <p:cNvPr id="46" name="Text 44"/>
          <p:cNvSpPr/>
          <p:nvPr/>
        </p:nvSpPr>
        <p:spPr>
          <a:xfrm>
            <a:off x="1755648" y="4718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7.8+</a:t>
            </a:r>
            <a:endParaRPr lang="en-US" sz="700" dirty="0"/>
          </a:p>
        </p:txBody>
      </p:sp>
      <p:sp>
        <p:nvSpPr>
          <p:cNvPr id="47" name="Text 45"/>
          <p:cNvSpPr/>
          <p:nvPr/>
        </p:nvSpPr>
        <p:spPr>
          <a:xfrm>
            <a:off x="2194560" y="4700016"/>
            <a:ext cx="969264" cy="201168"/>
          </a:xfrm>
          <a:prstGeom prst="rect">
            <a:avLst/>
          </a:prstGeom>
          <a:noFill/>
          <a:ln/>
        </p:spPr>
        <p:txBody>
          <a:bodyPr wrap="square" lIns="0" tIns="0" rIns="0" bIns="0" rtlCol="0" anchor="ctr"/>
          <a:lstStyle/>
          <a:p>
            <a:pPr indent="0" marL="0">
              <a:buNone/>
            </a:pPr>
            <a:r>
              <a:rPr lang="en-US" sz="750" dirty="0">
                <a:solidFill>
                  <a:srgbClr val="7F8C8D"/>
                </a:solidFill>
              </a:rPr>
              <a:t>Progress bars, scatter plots, heatmaps</a:t>
            </a:r>
            <a:endParaRPr lang="en-US" sz="750" dirty="0"/>
          </a:p>
        </p:txBody>
      </p:sp>
      <p:sp>
        <p:nvSpPr>
          <p:cNvPr id="48" name="Shape 46"/>
          <p:cNvSpPr/>
          <p:nvPr/>
        </p:nvSpPr>
        <p:spPr>
          <a:xfrm>
            <a:off x="475488" y="5120640"/>
            <a:ext cx="2743200" cy="54864"/>
          </a:xfrm>
          <a:prstGeom prst="rect">
            <a:avLst/>
          </a:prstGeom>
          <a:solidFill>
            <a:srgbClr val="FFFFFF"/>
          </a:solidFill>
          <a:ln/>
        </p:spPr>
      </p:sp>
      <p:sp>
        <p:nvSpPr>
          <p:cNvPr id="49" name="Text 47"/>
          <p:cNvSpPr/>
          <p:nvPr/>
        </p:nvSpPr>
        <p:spPr>
          <a:xfrm>
            <a:off x="493776" y="5157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ag-Grid</a:t>
            </a:r>
            <a:endParaRPr lang="en-US" sz="900" dirty="0"/>
          </a:p>
        </p:txBody>
      </p:sp>
      <p:sp>
        <p:nvSpPr>
          <p:cNvPr id="50" name="Shape 48"/>
          <p:cNvSpPr/>
          <p:nvPr/>
        </p:nvSpPr>
        <p:spPr>
          <a:xfrm>
            <a:off x="1755648" y="5175504"/>
            <a:ext cx="384048" cy="164592"/>
          </a:xfrm>
          <a:prstGeom prst="rect">
            <a:avLst/>
          </a:prstGeom>
          <a:solidFill>
            <a:srgbClr val="2ECC71"/>
          </a:solidFill>
          <a:ln w="12700">
            <a:solidFill>
              <a:srgbClr val="2ECC71"/>
            </a:solidFill>
            <a:prstDash val="solid"/>
          </a:ln>
        </p:spPr>
      </p:sp>
      <p:sp>
        <p:nvSpPr>
          <p:cNvPr id="51" name="Text 49"/>
          <p:cNvSpPr/>
          <p:nvPr/>
        </p:nvSpPr>
        <p:spPr>
          <a:xfrm>
            <a:off x="1755648" y="5175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30.0+</a:t>
            </a:r>
            <a:endParaRPr lang="en-US" sz="700" dirty="0"/>
          </a:p>
        </p:txBody>
      </p:sp>
      <p:sp>
        <p:nvSpPr>
          <p:cNvPr id="52" name="Text 50"/>
          <p:cNvSpPr/>
          <p:nvPr/>
        </p:nvSpPr>
        <p:spPr>
          <a:xfrm>
            <a:off x="2194560" y="5157216"/>
            <a:ext cx="969264" cy="201168"/>
          </a:xfrm>
          <a:prstGeom prst="rect">
            <a:avLst/>
          </a:prstGeom>
          <a:noFill/>
          <a:ln/>
        </p:spPr>
        <p:txBody>
          <a:bodyPr wrap="square" lIns="0" tIns="0" rIns="0" bIns="0" rtlCol="0" anchor="ctr"/>
          <a:lstStyle/>
          <a:p>
            <a:pPr indent="0" marL="0">
              <a:buNone/>
            </a:pPr>
            <a:r>
              <a:rPr lang="en-US" sz="750" dirty="0">
                <a:solidFill>
                  <a:srgbClr val="7F8C8D"/>
                </a:solidFill>
              </a:rPr>
              <a:t>Sortable/filterable country analysis tables</a:t>
            </a:r>
            <a:endParaRPr lang="en-US" sz="750" dirty="0"/>
          </a:p>
        </p:txBody>
      </p:sp>
      <p:sp>
        <p:nvSpPr>
          <p:cNvPr id="53" name="Shape 51"/>
          <p:cNvSpPr/>
          <p:nvPr/>
        </p:nvSpPr>
        <p:spPr>
          <a:xfrm>
            <a:off x="475488" y="5577840"/>
            <a:ext cx="2743200" cy="54864"/>
          </a:xfrm>
          <a:prstGeom prst="rect">
            <a:avLst/>
          </a:prstGeom>
          <a:solidFill>
            <a:srgbClr val="F7F9FC"/>
          </a:solidFill>
          <a:ln/>
        </p:spPr>
      </p:sp>
      <p:sp>
        <p:nvSpPr>
          <p:cNvPr id="54" name="Text 52"/>
          <p:cNvSpPr/>
          <p:nvPr/>
        </p:nvSpPr>
        <p:spPr>
          <a:xfrm>
            <a:off x="493776" y="5614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Socket.io-client</a:t>
            </a:r>
            <a:endParaRPr lang="en-US" sz="900" dirty="0"/>
          </a:p>
        </p:txBody>
      </p:sp>
      <p:sp>
        <p:nvSpPr>
          <p:cNvPr id="55" name="Shape 53"/>
          <p:cNvSpPr/>
          <p:nvPr/>
        </p:nvSpPr>
        <p:spPr>
          <a:xfrm>
            <a:off x="1755648" y="5632704"/>
            <a:ext cx="384048" cy="164592"/>
          </a:xfrm>
          <a:prstGeom prst="rect">
            <a:avLst/>
          </a:prstGeom>
          <a:solidFill>
            <a:srgbClr val="2ECC71"/>
          </a:solidFill>
          <a:ln w="12700">
            <a:solidFill>
              <a:srgbClr val="2ECC71"/>
            </a:solidFill>
            <a:prstDash val="solid"/>
          </a:ln>
        </p:spPr>
      </p:sp>
      <p:sp>
        <p:nvSpPr>
          <p:cNvPr id="56" name="Text 54"/>
          <p:cNvSpPr/>
          <p:nvPr/>
        </p:nvSpPr>
        <p:spPr>
          <a:xfrm>
            <a:off x="1755648" y="5632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4.6+</a:t>
            </a:r>
            <a:endParaRPr lang="en-US" sz="700" dirty="0"/>
          </a:p>
        </p:txBody>
      </p:sp>
      <p:sp>
        <p:nvSpPr>
          <p:cNvPr id="57" name="Text 55"/>
          <p:cNvSpPr/>
          <p:nvPr/>
        </p:nvSpPr>
        <p:spPr>
          <a:xfrm>
            <a:off x="2194560" y="5614416"/>
            <a:ext cx="969264" cy="201168"/>
          </a:xfrm>
          <a:prstGeom prst="rect">
            <a:avLst/>
          </a:prstGeom>
          <a:noFill/>
          <a:ln/>
        </p:spPr>
        <p:txBody>
          <a:bodyPr wrap="square" lIns="0" tIns="0" rIns="0" bIns="0" rtlCol="0" anchor="ctr"/>
          <a:lstStyle/>
          <a:p>
            <a:pPr indent="0" marL="0">
              <a:buNone/>
            </a:pPr>
            <a:r>
              <a:rPr lang="en-US" sz="750" dirty="0">
                <a:solidFill>
                  <a:srgbClr val="7F8C8D"/>
                </a:solidFill>
              </a:rPr>
              <a:t>WebSocket real-time signals feed</a:t>
            </a:r>
            <a:endParaRPr lang="en-US" sz="750" dirty="0"/>
          </a:p>
        </p:txBody>
      </p:sp>
      <p:sp>
        <p:nvSpPr>
          <p:cNvPr id="58" name="Shape 56"/>
          <p:cNvSpPr/>
          <p:nvPr/>
        </p:nvSpPr>
        <p:spPr>
          <a:xfrm>
            <a:off x="475488" y="6035040"/>
            <a:ext cx="2743200" cy="54864"/>
          </a:xfrm>
          <a:prstGeom prst="rect">
            <a:avLst/>
          </a:prstGeom>
          <a:solidFill>
            <a:srgbClr val="FFFFFF"/>
          </a:solidFill>
          <a:ln/>
        </p:spPr>
      </p:sp>
      <p:sp>
        <p:nvSpPr>
          <p:cNvPr id="59" name="Text 57"/>
          <p:cNvSpPr/>
          <p:nvPr/>
        </p:nvSpPr>
        <p:spPr>
          <a:xfrm>
            <a:off x="493776" y="6071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Lucide React</a:t>
            </a:r>
            <a:endParaRPr lang="en-US" sz="900" dirty="0"/>
          </a:p>
        </p:txBody>
      </p:sp>
      <p:sp>
        <p:nvSpPr>
          <p:cNvPr id="60" name="Shape 58"/>
          <p:cNvSpPr/>
          <p:nvPr/>
        </p:nvSpPr>
        <p:spPr>
          <a:xfrm>
            <a:off x="1755648" y="6089904"/>
            <a:ext cx="384048" cy="164592"/>
          </a:xfrm>
          <a:prstGeom prst="rect">
            <a:avLst/>
          </a:prstGeom>
          <a:solidFill>
            <a:srgbClr val="2ECC71"/>
          </a:solidFill>
          <a:ln w="12700">
            <a:solidFill>
              <a:srgbClr val="2ECC71"/>
            </a:solidFill>
            <a:prstDash val="solid"/>
          </a:ln>
        </p:spPr>
      </p:sp>
      <p:sp>
        <p:nvSpPr>
          <p:cNvPr id="61" name="Text 59"/>
          <p:cNvSpPr/>
          <p:nvPr/>
        </p:nvSpPr>
        <p:spPr>
          <a:xfrm>
            <a:off x="1755648" y="6089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0.268+</a:t>
            </a:r>
            <a:endParaRPr lang="en-US" sz="700" dirty="0"/>
          </a:p>
        </p:txBody>
      </p:sp>
      <p:sp>
        <p:nvSpPr>
          <p:cNvPr id="62" name="Text 60"/>
          <p:cNvSpPr/>
          <p:nvPr/>
        </p:nvSpPr>
        <p:spPr>
          <a:xfrm>
            <a:off x="2194560" y="6071616"/>
            <a:ext cx="969264" cy="201168"/>
          </a:xfrm>
          <a:prstGeom prst="rect">
            <a:avLst/>
          </a:prstGeom>
          <a:noFill/>
          <a:ln/>
        </p:spPr>
        <p:txBody>
          <a:bodyPr wrap="square" lIns="0" tIns="0" rIns="0" bIns="0" rtlCol="0" anchor="ctr"/>
          <a:lstStyle/>
          <a:p>
            <a:pPr indent="0" marL="0">
              <a:buNone/>
            </a:pPr>
            <a:r>
              <a:rPr lang="en-US" sz="750" dirty="0">
                <a:solidFill>
                  <a:srgbClr val="7F8C8D"/>
                </a:solidFill>
              </a:rPr>
              <a:t>Consistent SVG icon system</a:t>
            </a:r>
            <a:endParaRPr lang="en-US" sz="750" dirty="0"/>
          </a:p>
        </p:txBody>
      </p:sp>
      <p:sp>
        <p:nvSpPr>
          <p:cNvPr id="63" name="Shape 61"/>
          <p:cNvSpPr/>
          <p:nvPr/>
        </p:nvSpPr>
        <p:spPr>
          <a:xfrm>
            <a:off x="3310128" y="1463040"/>
            <a:ext cx="2816352" cy="329184"/>
          </a:xfrm>
          <a:prstGeom prst="rect">
            <a:avLst/>
          </a:prstGeom>
          <a:solidFill>
            <a:srgbClr val="3498DB"/>
          </a:solidFill>
          <a:ln/>
        </p:spPr>
      </p:sp>
      <p:sp>
        <p:nvSpPr>
          <p:cNvPr id="64" name="Text 62"/>
          <p:cNvSpPr/>
          <p:nvPr/>
        </p:nvSpPr>
        <p:spPr>
          <a:xfrm>
            <a:off x="3310128" y="1463040"/>
            <a:ext cx="2816352" cy="329184"/>
          </a:xfrm>
          <a:prstGeom prst="rect">
            <a:avLst/>
          </a:prstGeom>
          <a:noFill/>
          <a:ln/>
        </p:spPr>
        <p:txBody>
          <a:bodyPr wrap="square" lIns="0" tIns="0" rIns="0" bIns="0" rtlCol="0" anchor="ctr"/>
          <a:lstStyle/>
          <a:p>
            <a:pPr algn="ctr" indent="0" marL="0">
              <a:buNone/>
            </a:pPr>
            <a:r>
              <a:rPr lang="en-US" sz="1000" b="1" spc="200" kern="0" dirty="0">
                <a:solidFill>
                  <a:srgbClr val="FFFFFF"/>
                </a:solidFill>
              </a:rPr>
              <a:t>BACKEND</a:t>
            </a:r>
            <a:endParaRPr lang="en-US" sz="1000" dirty="0"/>
          </a:p>
        </p:txBody>
      </p:sp>
      <p:sp>
        <p:nvSpPr>
          <p:cNvPr id="65" name="Shape 63"/>
          <p:cNvSpPr/>
          <p:nvPr/>
        </p:nvSpPr>
        <p:spPr>
          <a:xfrm>
            <a:off x="3310128" y="1847088"/>
            <a:ext cx="2816352" cy="466344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66" name="Shape 64"/>
          <p:cNvSpPr/>
          <p:nvPr/>
        </p:nvSpPr>
        <p:spPr>
          <a:xfrm>
            <a:off x="3419856" y="1920240"/>
            <a:ext cx="2743200" cy="54864"/>
          </a:xfrm>
          <a:prstGeom prst="rect">
            <a:avLst/>
          </a:prstGeom>
          <a:solidFill>
            <a:srgbClr val="F7F9FC"/>
          </a:solidFill>
          <a:ln/>
        </p:spPr>
      </p:sp>
      <p:sp>
        <p:nvSpPr>
          <p:cNvPr id="67" name="Text 65"/>
          <p:cNvSpPr/>
          <p:nvPr/>
        </p:nvSpPr>
        <p:spPr>
          <a:xfrm>
            <a:off x="3438144" y="1956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Node.js</a:t>
            </a:r>
            <a:endParaRPr lang="en-US" sz="900" dirty="0"/>
          </a:p>
        </p:txBody>
      </p:sp>
      <p:sp>
        <p:nvSpPr>
          <p:cNvPr id="68" name="Shape 66"/>
          <p:cNvSpPr/>
          <p:nvPr/>
        </p:nvSpPr>
        <p:spPr>
          <a:xfrm>
            <a:off x="4700016" y="1975104"/>
            <a:ext cx="384048" cy="164592"/>
          </a:xfrm>
          <a:prstGeom prst="rect">
            <a:avLst/>
          </a:prstGeom>
          <a:solidFill>
            <a:srgbClr val="3498DB"/>
          </a:solidFill>
          <a:ln w="12700">
            <a:solidFill>
              <a:srgbClr val="3498DB"/>
            </a:solidFill>
            <a:prstDash val="solid"/>
          </a:ln>
        </p:spPr>
      </p:sp>
      <p:sp>
        <p:nvSpPr>
          <p:cNvPr id="69" name="Text 67"/>
          <p:cNvSpPr/>
          <p:nvPr/>
        </p:nvSpPr>
        <p:spPr>
          <a:xfrm>
            <a:off x="4700016" y="1975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18.0+</a:t>
            </a:r>
            <a:endParaRPr lang="en-US" sz="700" dirty="0"/>
          </a:p>
        </p:txBody>
      </p:sp>
      <p:sp>
        <p:nvSpPr>
          <p:cNvPr id="70" name="Text 68"/>
          <p:cNvSpPr/>
          <p:nvPr/>
        </p:nvSpPr>
        <p:spPr>
          <a:xfrm>
            <a:off x="5138928" y="1956816"/>
            <a:ext cx="969264" cy="201168"/>
          </a:xfrm>
          <a:prstGeom prst="rect">
            <a:avLst/>
          </a:prstGeom>
          <a:noFill/>
          <a:ln/>
        </p:spPr>
        <p:txBody>
          <a:bodyPr wrap="square" lIns="0" tIns="0" rIns="0" bIns="0" rtlCol="0" anchor="ctr"/>
          <a:lstStyle/>
          <a:p>
            <a:pPr indent="0" marL="0">
              <a:buNone/>
            </a:pPr>
            <a:r>
              <a:rPr lang="en-US" sz="750" dirty="0">
                <a:solidFill>
                  <a:srgbClr val="7F8C8D"/>
                </a:solidFill>
              </a:rPr>
              <a:t>JavaScript runtime (Express API server)</a:t>
            </a:r>
            <a:endParaRPr lang="en-US" sz="750" dirty="0"/>
          </a:p>
        </p:txBody>
      </p:sp>
      <p:sp>
        <p:nvSpPr>
          <p:cNvPr id="71" name="Shape 69"/>
          <p:cNvSpPr/>
          <p:nvPr/>
        </p:nvSpPr>
        <p:spPr>
          <a:xfrm>
            <a:off x="3419856" y="2377440"/>
            <a:ext cx="2743200" cy="54864"/>
          </a:xfrm>
          <a:prstGeom prst="rect">
            <a:avLst/>
          </a:prstGeom>
          <a:solidFill>
            <a:srgbClr val="FFFFFF"/>
          </a:solidFill>
          <a:ln/>
        </p:spPr>
      </p:sp>
      <p:sp>
        <p:nvSpPr>
          <p:cNvPr id="72" name="Text 70"/>
          <p:cNvSpPr/>
          <p:nvPr/>
        </p:nvSpPr>
        <p:spPr>
          <a:xfrm>
            <a:off x="3438144" y="2414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Express</a:t>
            </a:r>
            <a:endParaRPr lang="en-US" sz="900" dirty="0"/>
          </a:p>
        </p:txBody>
      </p:sp>
      <p:sp>
        <p:nvSpPr>
          <p:cNvPr id="73" name="Shape 71"/>
          <p:cNvSpPr/>
          <p:nvPr/>
        </p:nvSpPr>
        <p:spPr>
          <a:xfrm>
            <a:off x="4700016" y="2432304"/>
            <a:ext cx="384048" cy="164592"/>
          </a:xfrm>
          <a:prstGeom prst="rect">
            <a:avLst/>
          </a:prstGeom>
          <a:solidFill>
            <a:srgbClr val="3498DB"/>
          </a:solidFill>
          <a:ln w="12700">
            <a:solidFill>
              <a:srgbClr val="3498DB"/>
            </a:solidFill>
            <a:prstDash val="solid"/>
          </a:ln>
        </p:spPr>
      </p:sp>
      <p:sp>
        <p:nvSpPr>
          <p:cNvPr id="74" name="Text 72"/>
          <p:cNvSpPr/>
          <p:nvPr/>
        </p:nvSpPr>
        <p:spPr>
          <a:xfrm>
            <a:off x="4700016" y="2432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4.18+</a:t>
            </a:r>
            <a:endParaRPr lang="en-US" sz="700" dirty="0"/>
          </a:p>
        </p:txBody>
      </p:sp>
      <p:sp>
        <p:nvSpPr>
          <p:cNvPr id="75" name="Text 73"/>
          <p:cNvSpPr/>
          <p:nvPr/>
        </p:nvSpPr>
        <p:spPr>
          <a:xfrm>
            <a:off x="5138928" y="2414016"/>
            <a:ext cx="969264" cy="201168"/>
          </a:xfrm>
          <a:prstGeom prst="rect">
            <a:avLst/>
          </a:prstGeom>
          <a:noFill/>
          <a:ln/>
        </p:spPr>
        <p:txBody>
          <a:bodyPr wrap="square" lIns="0" tIns="0" rIns="0" bIns="0" rtlCol="0" anchor="ctr"/>
          <a:lstStyle/>
          <a:p>
            <a:pPr indent="0" marL="0">
              <a:buNone/>
            </a:pPr>
            <a:r>
              <a:rPr lang="en-US" sz="750" dirty="0">
                <a:solidFill>
                  <a:srgbClr val="7F8C8D"/>
                </a:solidFill>
              </a:rPr>
              <a:t>REST API framework (122 routes)</a:t>
            </a:r>
            <a:endParaRPr lang="en-US" sz="750" dirty="0"/>
          </a:p>
        </p:txBody>
      </p:sp>
      <p:sp>
        <p:nvSpPr>
          <p:cNvPr id="76" name="Shape 74"/>
          <p:cNvSpPr/>
          <p:nvPr/>
        </p:nvSpPr>
        <p:spPr>
          <a:xfrm>
            <a:off x="3419856" y="2834640"/>
            <a:ext cx="2743200" cy="54864"/>
          </a:xfrm>
          <a:prstGeom prst="rect">
            <a:avLst/>
          </a:prstGeom>
          <a:solidFill>
            <a:srgbClr val="F7F9FC"/>
          </a:solidFill>
          <a:ln/>
        </p:spPr>
      </p:sp>
      <p:sp>
        <p:nvSpPr>
          <p:cNvPr id="77" name="Text 75"/>
          <p:cNvSpPr/>
          <p:nvPr/>
        </p:nvSpPr>
        <p:spPr>
          <a:xfrm>
            <a:off x="3438144" y="2871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PostgreSQL</a:t>
            </a:r>
            <a:endParaRPr lang="en-US" sz="900" dirty="0"/>
          </a:p>
        </p:txBody>
      </p:sp>
      <p:sp>
        <p:nvSpPr>
          <p:cNvPr id="78" name="Shape 76"/>
          <p:cNvSpPr/>
          <p:nvPr/>
        </p:nvSpPr>
        <p:spPr>
          <a:xfrm>
            <a:off x="4700016" y="2889504"/>
            <a:ext cx="384048" cy="164592"/>
          </a:xfrm>
          <a:prstGeom prst="rect">
            <a:avLst/>
          </a:prstGeom>
          <a:solidFill>
            <a:srgbClr val="3498DB"/>
          </a:solidFill>
          <a:ln w="12700">
            <a:solidFill>
              <a:srgbClr val="3498DB"/>
            </a:solidFill>
            <a:prstDash val="solid"/>
          </a:ln>
        </p:spPr>
      </p:sp>
      <p:sp>
        <p:nvSpPr>
          <p:cNvPr id="79" name="Text 77"/>
          <p:cNvSpPr/>
          <p:nvPr/>
        </p:nvSpPr>
        <p:spPr>
          <a:xfrm>
            <a:off x="4700016" y="2889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15.0+</a:t>
            </a:r>
            <a:endParaRPr lang="en-US" sz="700" dirty="0"/>
          </a:p>
        </p:txBody>
      </p:sp>
      <p:sp>
        <p:nvSpPr>
          <p:cNvPr id="80" name="Text 78"/>
          <p:cNvSpPr/>
          <p:nvPr/>
        </p:nvSpPr>
        <p:spPr>
          <a:xfrm>
            <a:off x="5138928" y="2871216"/>
            <a:ext cx="969264" cy="201168"/>
          </a:xfrm>
          <a:prstGeom prst="rect">
            <a:avLst/>
          </a:prstGeom>
          <a:noFill/>
          <a:ln/>
        </p:spPr>
        <p:txBody>
          <a:bodyPr wrap="square" lIns="0" tIns="0" rIns="0" bIns="0" rtlCol="0" anchor="ctr"/>
          <a:lstStyle/>
          <a:p>
            <a:pPr indent="0" marL="0">
              <a:buNone/>
            </a:pPr>
            <a:r>
              <a:rPr lang="en-US" sz="750" dirty="0">
                <a:solidFill>
                  <a:srgbClr val="7F8C8D"/>
                </a:solidFill>
              </a:rPr>
              <a:t>Primary relational database</a:t>
            </a:r>
            <a:endParaRPr lang="en-US" sz="750" dirty="0"/>
          </a:p>
        </p:txBody>
      </p:sp>
      <p:sp>
        <p:nvSpPr>
          <p:cNvPr id="81" name="Shape 79"/>
          <p:cNvSpPr/>
          <p:nvPr/>
        </p:nvSpPr>
        <p:spPr>
          <a:xfrm>
            <a:off x="3419856" y="3291840"/>
            <a:ext cx="2743200" cy="54864"/>
          </a:xfrm>
          <a:prstGeom prst="rect">
            <a:avLst/>
          </a:prstGeom>
          <a:solidFill>
            <a:srgbClr val="FFFFFF"/>
          </a:solidFill>
          <a:ln/>
        </p:spPr>
      </p:sp>
      <p:sp>
        <p:nvSpPr>
          <p:cNvPr id="82" name="Text 80"/>
          <p:cNvSpPr/>
          <p:nvPr/>
        </p:nvSpPr>
        <p:spPr>
          <a:xfrm>
            <a:off x="3438144" y="3328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PostGIS</a:t>
            </a:r>
            <a:endParaRPr lang="en-US" sz="900" dirty="0"/>
          </a:p>
        </p:txBody>
      </p:sp>
      <p:sp>
        <p:nvSpPr>
          <p:cNvPr id="83" name="Shape 81"/>
          <p:cNvSpPr/>
          <p:nvPr/>
        </p:nvSpPr>
        <p:spPr>
          <a:xfrm>
            <a:off x="4700016" y="3346704"/>
            <a:ext cx="384048" cy="164592"/>
          </a:xfrm>
          <a:prstGeom prst="rect">
            <a:avLst/>
          </a:prstGeom>
          <a:solidFill>
            <a:srgbClr val="3498DB"/>
          </a:solidFill>
          <a:ln w="12700">
            <a:solidFill>
              <a:srgbClr val="3498DB"/>
            </a:solidFill>
            <a:prstDash val="solid"/>
          </a:ln>
        </p:spPr>
      </p:sp>
      <p:sp>
        <p:nvSpPr>
          <p:cNvPr id="84" name="Text 82"/>
          <p:cNvSpPr/>
          <p:nvPr/>
        </p:nvSpPr>
        <p:spPr>
          <a:xfrm>
            <a:off x="4700016" y="3346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3.3+</a:t>
            </a:r>
            <a:endParaRPr lang="en-US" sz="700" dirty="0"/>
          </a:p>
        </p:txBody>
      </p:sp>
      <p:sp>
        <p:nvSpPr>
          <p:cNvPr id="85" name="Text 83"/>
          <p:cNvSpPr/>
          <p:nvPr/>
        </p:nvSpPr>
        <p:spPr>
          <a:xfrm>
            <a:off x="5138928" y="3328416"/>
            <a:ext cx="969264" cy="201168"/>
          </a:xfrm>
          <a:prstGeom prst="rect">
            <a:avLst/>
          </a:prstGeom>
          <a:noFill/>
          <a:ln/>
        </p:spPr>
        <p:txBody>
          <a:bodyPr wrap="square" lIns="0" tIns="0" rIns="0" bIns="0" rtlCol="0" anchor="ctr"/>
          <a:lstStyle/>
          <a:p>
            <a:pPr indent="0" marL="0">
              <a:buNone/>
            </a:pPr>
            <a:r>
              <a:rPr lang="en-US" sz="750" dirty="0">
                <a:solidFill>
                  <a:srgbClr val="7F8C8D"/>
                </a:solidFill>
              </a:rPr>
              <a:t>Geospatial queries for zones &amp; countries</a:t>
            </a:r>
            <a:endParaRPr lang="en-US" sz="750" dirty="0"/>
          </a:p>
        </p:txBody>
      </p:sp>
      <p:sp>
        <p:nvSpPr>
          <p:cNvPr id="86" name="Shape 84"/>
          <p:cNvSpPr/>
          <p:nvPr/>
        </p:nvSpPr>
        <p:spPr>
          <a:xfrm>
            <a:off x="3419856" y="3749040"/>
            <a:ext cx="2743200" cy="54864"/>
          </a:xfrm>
          <a:prstGeom prst="rect">
            <a:avLst/>
          </a:prstGeom>
          <a:solidFill>
            <a:srgbClr val="F7F9FC"/>
          </a:solidFill>
          <a:ln/>
        </p:spPr>
      </p:sp>
      <p:sp>
        <p:nvSpPr>
          <p:cNvPr id="87" name="Text 85"/>
          <p:cNvSpPr/>
          <p:nvPr/>
        </p:nvSpPr>
        <p:spPr>
          <a:xfrm>
            <a:off x="3438144" y="3785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Redis</a:t>
            </a:r>
            <a:endParaRPr lang="en-US" sz="900" dirty="0"/>
          </a:p>
        </p:txBody>
      </p:sp>
      <p:sp>
        <p:nvSpPr>
          <p:cNvPr id="88" name="Shape 86"/>
          <p:cNvSpPr/>
          <p:nvPr/>
        </p:nvSpPr>
        <p:spPr>
          <a:xfrm>
            <a:off x="4700016" y="3803904"/>
            <a:ext cx="384048" cy="164592"/>
          </a:xfrm>
          <a:prstGeom prst="rect">
            <a:avLst/>
          </a:prstGeom>
          <a:solidFill>
            <a:srgbClr val="3498DB"/>
          </a:solidFill>
          <a:ln w="12700">
            <a:solidFill>
              <a:srgbClr val="3498DB"/>
            </a:solidFill>
            <a:prstDash val="solid"/>
          </a:ln>
        </p:spPr>
      </p:sp>
      <p:sp>
        <p:nvSpPr>
          <p:cNvPr id="89" name="Text 87"/>
          <p:cNvSpPr/>
          <p:nvPr/>
        </p:nvSpPr>
        <p:spPr>
          <a:xfrm>
            <a:off x="4700016" y="3803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7.0+</a:t>
            </a:r>
            <a:endParaRPr lang="en-US" sz="700" dirty="0"/>
          </a:p>
        </p:txBody>
      </p:sp>
      <p:sp>
        <p:nvSpPr>
          <p:cNvPr id="90" name="Text 88"/>
          <p:cNvSpPr/>
          <p:nvPr/>
        </p:nvSpPr>
        <p:spPr>
          <a:xfrm>
            <a:off x="5138928" y="3785616"/>
            <a:ext cx="969264" cy="201168"/>
          </a:xfrm>
          <a:prstGeom prst="rect">
            <a:avLst/>
          </a:prstGeom>
          <a:noFill/>
          <a:ln/>
        </p:spPr>
        <p:txBody>
          <a:bodyPr wrap="square" lIns="0" tIns="0" rIns="0" bIns="0" rtlCol="0" anchor="ctr"/>
          <a:lstStyle/>
          <a:p>
            <a:pPr indent="0" marL="0">
              <a:buNone/>
            </a:pPr>
            <a:r>
              <a:rPr lang="en-US" sz="750" dirty="0">
                <a:solidFill>
                  <a:srgbClr val="7F8C8D"/>
                </a:solidFill>
              </a:rPr>
              <a:t>Real-time signal cache + session store</a:t>
            </a:r>
            <a:endParaRPr lang="en-US" sz="750" dirty="0"/>
          </a:p>
        </p:txBody>
      </p:sp>
      <p:sp>
        <p:nvSpPr>
          <p:cNvPr id="91" name="Shape 89"/>
          <p:cNvSpPr/>
          <p:nvPr/>
        </p:nvSpPr>
        <p:spPr>
          <a:xfrm>
            <a:off x="3419856" y="4206240"/>
            <a:ext cx="2743200" cy="54864"/>
          </a:xfrm>
          <a:prstGeom prst="rect">
            <a:avLst/>
          </a:prstGeom>
          <a:solidFill>
            <a:srgbClr val="FFFFFF"/>
          </a:solidFill>
          <a:ln/>
        </p:spPr>
      </p:sp>
      <p:sp>
        <p:nvSpPr>
          <p:cNvPr id="92" name="Text 90"/>
          <p:cNvSpPr/>
          <p:nvPr/>
        </p:nvSpPr>
        <p:spPr>
          <a:xfrm>
            <a:off x="3438144" y="4242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JWT</a:t>
            </a:r>
            <a:endParaRPr lang="en-US" sz="900" dirty="0"/>
          </a:p>
        </p:txBody>
      </p:sp>
      <p:sp>
        <p:nvSpPr>
          <p:cNvPr id="93" name="Shape 91"/>
          <p:cNvSpPr/>
          <p:nvPr/>
        </p:nvSpPr>
        <p:spPr>
          <a:xfrm>
            <a:off x="4700016" y="4261104"/>
            <a:ext cx="384048" cy="164592"/>
          </a:xfrm>
          <a:prstGeom prst="rect">
            <a:avLst/>
          </a:prstGeom>
          <a:solidFill>
            <a:srgbClr val="3498DB"/>
          </a:solidFill>
          <a:ln w="12700">
            <a:solidFill>
              <a:srgbClr val="3498DB"/>
            </a:solidFill>
            <a:prstDash val="solid"/>
          </a:ln>
        </p:spPr>
      </p:sp>
      <p:sp>
        <p:nvSpPr>
          <p:cNvPr id="94" name="Text 92"/>
          <p:cNvSpPr/>
          <p:nvPr/>
        </p:nvSpPr>
        <p:spPr>
          <a:xfrm>
            <a:off x="4700016" y="4261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9.0+</a:t>
            </a:r>
            <a:endParaRPr lang="en-US" sz="700" dirty="0"/>
          </a:p>
        </p:txBody>
      </p:sp>
      <p:sp>
        <p:nvSpPr>
          <p:cNvPr id="95" name="Text 93"/>
          <p:cNvSpPr/>
          <p:nvPr/>
        </p:nvSpPr>
        <p:spPr>
          <a:xfrm>
            <a:off x="5138928" y="4242816"/>
            <a:ext cx="969264" cy="201168"/>
          </a:xfrm>
          <a:prstGeom prst="rect">
            <a:avLst/>
          </a:prstGeom>
          <a:noFill/>
          <a:ln/>
        </p:spPr>
        <p:txBody>
          <a:bodyPr wrap="square" lIns="0" tIns="0" rIns="0" bIns="0" rtlCol="0" anchor="ctr"/>
          <a:lstStyle/>
          <a:p>
            <a:pPr indent="0" marL="0">
              <a:buNone/>
            </a:pPr>
            <a:r>
              <a:rPr lang="en-US" sz="750" dirty="0">
                <a:solidFill>
                  <a:srgbClr val="7F8C8D"/>
                </a:solidFill>
              </a:rPr>
              <a:t>Token-based RBAC authentication</a:t>
            </a:r>
            <a:endParaRPr lang="en-US" sz="750" dirty="0"/>
          </a:p>
        </p:txBody>
      </p:sp>
      <p:sp>
        <p:nvSpPr>
          <p:cNvPr id="96" name="Shape 94"/>
          <p:cNvSpPr/>
          <p:nvPr/>
        </p:nvSpPr>
        <p:spPr>
          <a:xfrm>
            <a:off x="3419856" y="4663440"/>
            <a:ext cx="2743200" cy="54864"/>
          </a:xfrm>
          <a:prstGeom prst="rect">
            <a:avLst/>
          </a:prstGeom>
          <a:solidFill>
            <a:srgbClr val="F7F9FC"/>
          </a:solidFill>
          <a:ln/>
        </p:spPr>
      </p:sp>
      <p:sp>
        <p:nvSpPr>
          <p:cNvPr id="97" name="Text 95"/>
          <p:cNvSpPr/>
          <p:nvPr/>
        </p:nvSpPr>
        <p:spPr>
          <a:xfrm>
            <a:off x="3438144" y="4700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AWS S3</a:t>
            </a:r>
            <a:endParaRPr lang="en-US" sz="900" dirty="0"/>
          </a:p>
        </p:txBody>
      </p:sp>
      <p:sp>
        <p:nvSpPr>
          <p:cNvPr id="98" name="Shape 96"/>
          <p:cNvSpPr/>
          <p:nvPr/>
        </p:nvSpPr>
        <p:spPr>
          <a:xfrm>
            <a:off x="4700016" y="4718304"/>
            <a:ext cx="384048" cy="164592"/>
          </a:xfrm>
          <a:prstGeom prst="rect">
            <a:avLst/>
          </a:prstGeom>
          <a:solidFill>
            <a:srgbClr val="3498DB"/>
          </a:solidFill>
          <a:ln w="12700">
            <a:solidFill>
              <a:srgbClr val="3498DB"/>
            </a:solidFill>
            <a:prstDash val="solid"/>
          </a:ln>
        </p:spPr>
      </p:sp>
      <p:sp>
        <p:nvSpPr>
          <p:cNvPr id="99" name="Text 97"/>
          <p:cNvSpPr/>
          <p:nvPr/>
        </p:nvSpPr>
        <p:spPr>
          <a:xfrm>
            <a:off x="4700016" y="4718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00" name="Text 98"/>
          <p:cNvSpPr/>
          <p:nvPr/>
        </p:nvSpPr>
        <p:spPr>
          <a:xfrm>
            <a:off x="5138928" y="4700016"/>
            <a:ext cx="969264" cy="201168"/>
          </a:xfrm>
          <a:prstGeom prst="rect">
            <a:avLst/>
          </a:prstGeom>
          <a:noFill/>
          <a:ln/>
        </p:spPr>
        <p:txBody>
          <a:bodyPr wrap="square" lIns="0" tIns="0" rIns="0" bIns="0" rtlCol="0" anchor="ctr"/>
          <a:lstStyle/>
          <a:p>
            <a:pPr indent="0" marL="0">
              <a:buNone/>
            </a:pPr>
            <a:r>
              <a:rPr lang="en-US" sz="750" dirty="0">
                <a:solidFill>
                  <a:srgbClr val="7F8C8D"/>
                </a:solidFill>
              </a:rPr>
              <a:t>PDF publication file storage + CDN</a:t>
            </a:r>
            <a:endParaRPr lang="en-US" sz="750" dirty="0"/>
          </a:p>
        </p:txBody>
      </p:sp>
      <p:sp>
        <p:nvSpPr>
          <p:cNvPr id="101" name="Shape 99"/>
          <p:cNvSpPr/>
          <p:nvPr/>
        </p:nvSpPr>
        <p:spPr>
          <a:xfrm>
            <a:off x="3419856" y="5120640"/>
            <a:ext cx="2743200" cy="54864"/>
          </a:xfrm>
          <a:prstGeom prst="rect">
            <a:avLst/>
          </a:prstGeom>
          <a:solidFill>
            <a:srgbClr val="FFFFFF"/>
          </a:solidFill>
          <a:ln/>
        </p:spPr>
      </p:sp>
      <p:sp>
        <p:nvSpPr>
          <p:cNvPr id="102" name="Text 100"/>
          <p:cNvSpPr/>
          <p:nvPr/>
        </p:nvSpPr>
        <p:spPr>
          <a:xfrm>
            <a:off x="3438144" y="5157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Puppeteer</a:t>
            </a:r>
            <a:endParaRPr lang="en-US" sz="900" dirty="0"/>
          </a:p>
        </p:txBody>
      </p:sp>
      <p:sp>
        <p:nvSpPr>
          <p:cNvPr id="103" name="Shape 101"/>
          <p:cNvSpPr/>
          <p:nvPr/>
        </p:nvSpPr>
        <p:spPr>
          <a:xfrm>
            <a:off x="4700016" y="5175504"/>
            <a:ext cx="384048" cy="164592"/>
          </a:xfrm>
          <a:prstGeom prst="rect">
            <a:avLst/>
          </a:prstGeom>
          <a:solidFill>
            <a:srgbClr val="3498DB"/>
          </a:solidFill>
          <a:ln w="12700">
            <a:solidFill>
              <a:srgbClr val="3498DB"/>
            </a:solidFill>
            <a:prstDash val="solid"/>
          </a:ln>
        </p:spPr>
      </p:sp>
      <p:sp>
        <p:nvSpPr>
          <p:cNvPr id="104" name="Text 102"/>
          <p:cNvSpPr/>
          <p:nvPr/>
        </p:nvSpPr>
        <p:spPr>
          <a:xfrm>
            <a:off x="4700016" y="5175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20.0+</a:t>
            </a:r>
            <a:endParaRPr lang="en-US" sz="700" dirty="0"/>
          </a:p>
        </p:txBody>
      </p:sp>
      <p:sp>
        <p:nvSpPr>
          <p:cNvPr id="105" name="Text 103"/>
          <p:cNvSpPr/>
          <p:nvPr/>
        </p:nvSpPr>
        <p:spPr>
          <a:xfrm>
            <a:off x="5138928" y="5157216"/>
            <a:ext cx="969264" cy="201168"/>
          </a:xfrm>
          <a:prstGeom prst="rect">
            <a:avLst/>
          </a:prstGeom>
          <a:noFill/>
          <a:ln/>
        </p:spPr>
        <p:txBody>
          <a:bodyPr wrap="square" lIns="0" tIns="0" rIns="0" bIns="0" rtlCol="0" anchor="ctr"/>
          <a:lstStyle/>
          <a:p>
            <a:pPr indent="0" marL="0">
              <a:buNone/>
            </a:pPr>
            <a:r>
              <a:rPr lang="en-US" sz="750" dirty="0">
                <a:solidFill>
                  <a:srgbClr val="7F8C8D"/>
                </a:solidFill>
              </a:rPr>
              <a:t>PDF generation + source scraping</a:t>
            </a:r>
            <a:endParaRPr lang="en-US" sz="750" dirty="0"/>
          </a:p>
        </p:txBody>
      </p:sp>
      <p:sp>
        <p:nvSpPr>
          <p:cNvPr id="106" name="Shape 104"/>
          <p:cNvSpPr/>
          <p:nvPr/>
        </p:nvSpPr>
        <p:spPr>
          <a:xfrm>
            <a:off x="3419856" y="5577840"/>
            <a:ext cx="2743200" cy="54864"/>
          </a:xfrm>
          <a:prstGeom prst="rect">
            <a:avLst/>
          </a:prstGeom>
          <a:solidFill>
            <a:srgbClr val="F7F9FC"/>
          </a:solidFill>
          <a:ln/>
        </p:spPr>
      </p:sp>
      <p:sp>
        <p:nvSpPr>
          <p:cNvPr id="107" name="Text 105"/>
          <p:cNvSpPr/>
          <p:nvPr/>
        </p:nvSpPr>
        <p:spPr>
          <a:xfrm>
            <a:off x="3438144" y="5614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SendGrid</a:t>
            </a:r>
            <a:endParaRPr lang="en-US" sz="900" dirty="0"/>
          </a:p>
        </p:txBody>
      </p:sp>
      <p:sp>
        <p:nvSpPr>
          <p:cNvPr id="108" name="Shape 106"/>
          <p:cNvSpPr/>
          <p:nvPr/>
        </p:nvSpPr>
        <p:spPr>
          <a:xfrm>
            <a:off x="4700016" y="5632704"/>
            <a:ext cx="384048" cy="164592"/>
          </a:xfrm>
          <a:prstGeom prst="rect">
            <a:avLst/>
          </a:prstGeom>
          <a:solidFill>
            <a:srgbClr val="3498DB"/>
          </a:solidFill>
          <a:ln w="12700">
            <a:solidFill>
              <a:srgbClr val="3498DB"/>
            </a:solidFill>
            <a:prstDash val="solid"/>
          </a:ln>
        </p:spPr>
      </p:sp>
      <p:sp>
        <p:nvSpPr>
          <p:cNvPr id="109" name="Text 107"/>
          <p:cNvSpPr/>
          <p:nvPr/>
        </p:nvSpPr>
        <p:spPr>
          <a:xfrm>
            <a:off x="4700016" y="5632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7.7+</a:t>
            </a:r>
            <a:endParaRPr lang="en-US" sz="700" dirty="0"/>
          </a:p>
        </p:txBody>
      </p:sp>
      <p:sp>
        <p:nvSpPr>
          <p:cNvPr id="110" name="Text 108"/>
          <p:cNvSpPr/>
          <p:nvPr/>
        </p:nvSpPr>
        <p:spPr>
          <a:xfrm>
            <a:off x="5138928" y="5614416"/>
            <a:ext cx="969264" cy="201168"/>
          </a:xfrm>
          <a:prstGeom prst="rect">
            <a:avLst/>
          </a:prstGeom>
          <a:noFill/>
          <a:ln/>
        </p:spPr>
        <p:txBody>
          <a:bodyPr wrap="square" lIns="0" tIns="0" rIns="0" bIns="0" rtlCol="0" anchor="ctr"/>
          <a:lstStyle/>
          <a:p>
            <a:pPr indent="0" marL="0">
              <a:buNone/>
            </a:pPr>
            <a:r>
              <a:rPr lang="en-US" sz="750" dirty="0">
                <a:solidFill>
                  <a:srgbClr val="7F8C8D"/>
                </a:solidFill>
              </a:rPr>
              <a:t>Newsletter email delivery system</a:t>
            </a:r>
            <a:endParaRPr lang="en-US" sz="750" dirty="0"/>
          </a:p>
        </p:txBody>
      </p:sp>
      <p:sp>
        <p:nvSpPr>
          <p:cNvPr id="111" name="Shape 109"/>
          <p:cNvSpPr/>
          <p:nvPr/>
        </p:nvSpPr>
        <p:spPr>
          <a:xfrm>
            <a:off x="3419856" y="6035040"/>
            <a:ext cx="2743200" cy="54864"/>
          </a:xfrm>
          <a:prstGeom prst="rect">
            <a:avLst/>
          </a:prstGeom>
          <a:solidFill>
            <a:srgbClr val="FFFFFF"/>
          </a:solidFill>
          <a:ln/>
        </p:spPr>
      </p:sp>
      <p:sp>
        <p:nvSpPr>
          <p:cNvPr id="112" name="Text 110"/>
          <p:cNvSpPr/>
          <p:nvPr/>
        </p:nvSpPr>
        <p:spPr>
          <a:xfrm>
            <a:off x="3438144" y="6071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LinkedIn API</a:t>
            </a:r>
            <a:endParaRPr lang="en-US" sz="900" dirty="0"/>
          </a:p>
        </p:txBody>
      </p:sp>
      <p:sp>
        <p:nvSpPr>
          <p:cNvPr id="113" name="Shape 111"/>
          <p:cNvSpPr/>
          <p:nvPr/>
        </p:nvSpPr>
        <p:spPr>
          <a:xfrm>
            <a:off x="4700016" y="6089904"/>
            <a:ext cx="384048" cy="164592"/>
          </a:xfrm>
          <a:prstGeom prst="rect">
            <a:avLst/>
          </a:prstGeom>
          <a:solidFill>
            <a:srgbClr val="3498DB"/>
          </a:solidFill>
          <a:ln w="12700">
            <a:solidFill>
              <a:srgbClr val="3498DB"/>
            </a:solidFill>
            <a:prstDash val="solid"/>
          </a:ln>
        </p:spPr>
      </p:sp>
      <p:sp>
        <p:nvSpPr>
          <p:cNvPr id="114" name="Text 112"/>
          <p:cNvSpPr/>
          <p:nvPr/>
        </p:nvSpPr>
        <p:spPr>
          <a:xfrm>
            <a:off x="4700016" y="6089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v2</a:t>
            </a:r>
            <a:endParaRPr lang="en-US" sz="700" dirty="0"/>
          </a:p>
        </p:txBody>
      </p:sp>
      <p:sp>
        <p:nvSpPr>
          <p:cNvPr id="115" name="Text 113"/>
          <p:cNvSpPr/>
          <p:nvPr/>
        </p:nvSpPr>
        <p:spPr>
          <a:xfrm>
            <a:off x="5138928" y="6071616"/>
            <a:ext cx="969264" cy="201168"/>
          </a:xfrm>
          <a:prstGeom prst="rect">
            <a:avLst/>
          </a:prstGeom>
          <a:noFill/>
          <a:ln/>
        </p:spPr>
        <p:txBody>
          <a:bodyPr wrap="square" lIns="0" tIns="0" rIns="0" bIns="0" rtlCol="0" anchor="ctr"/>
          <a:lstStyle/>
          <a:p>
            <a:pPr indent="0" marL="0">
              <a:buNone/>
            </a:pPr>
            <a:r>
              <a:rPr lang="en-US" sz="750" dirty="0">
                <a:solidFill>
                  <a:srgbClr val="7F8C8D"/>
                </a:solidFill>
              </a:rPr>
              <a:t>Auto-post weekly intelligence brief</a:t>
            </a:r>
            <a:endParaRPr lang="en-US" sz="750" dirty="0"/>
          </a:p>
        </p:txBody>
      </p:sp>
      <p:sp>
        <p:nvSpPr>
          <p:cNvPr id="116" name="Shape 114"/>
          <p:cNvSpPr/>
          <p:nvPr/>
        </p:nvSpPr>
        <p:spPr>
          <a:xfrm>
            <a:off x="6254496" y="1463040"/>
            <a:ext cx="2816352" cy="329184"/>
          </a:xfrm>
          <a:prstGeom prst="rect">
            <a:avLst/>
          </a:prstGeom>
          <a:solidFill>
            <a:srgbClr val="9B59B6"/>
          </a:solidFill>
          <a:ln/>
        </p:spPr>
      </p:sp>
      <p:sp>
        <p:nvSpPr>
          <p:cNvPr id="117" name="Text 115"/>
          <p:cNvSpPr/>
          <p:nvPr/>
        </p:nvSpPr>
        <p:spPr>
          <a:xfrm>
            <a:off x="6254496" y="1463040"/>
            <a:ext cx="2816352" cy="329184"/>
          </a:xfrm>
          <a:prstGeom prst="rect">
            <a:avLst/>
          </a:prstGeom>
          <a:noFill/>
          <a:ln/>
        </p:spPr>
        <p:txBody>
          <a:bodyPr wrap="square" lIns="0" tIns="0" rIns="0" bIns="0" rtlCol="0" anchor="ctr"/>
          <a:lstStyle/>
          <a:p>
            <a:pPr algn="ctr" indent="0" marL="0">
              <a:buNone/>
            </a:pPr>
            <a:r>
              <a:rPr lang="en-US" sz="1000" b="1" spc="200" kern="0" dirty="0">
                <a:solidFill>
                  <a:srgbClr val="FFFFFF"/>
                </a:solidFill>
              </a:rPr>
              <a:t>AI &amp; AGENTS</a:t>
            </a:r>
            <a:endParaRPr lang="en-US" sz="1000" dirty="0"/>
          </a:p>
        </p:txBody>
      </p:sp>
      <p:sp>
        <p:nvSpPr>
          <p:cNvPr id="118" name="Shape 116"/>
          <p:cNvSpPr/>
          <p:nvPr/>
        </p:nvSpPr>
        <p:spPr>
          <a:xfrm>
            <a:off x="6254496" y="1847088"/>
            <a:ext cx="2816352" cy="466344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19" name="Shape 117"/>
          <p:cNvSpPr/>
          <p:nvPr/>
        </p:nvSpPr>
        <p:spPr>
          <a:xfrm>
            <a:off x="6364224" y="1920240"/>
            <a:ext cx="2743200" cy="54864"/>
          </a:xfrm>
          <a:prstGeom prst="rect">
            <a:avLst/>
          </a:prstGeom>
          <a:solidFill>
            <a:srgbClr val="F7F9FC"/>
          </a:solidFill>
          <a:ln/>
        </p:spPr>
      </p:sp>
      <p:sp>
        <p:nvSpPr>
          <p:cNvPr id="120" name="Text 118"/>
          <p:cNvSpPr/>
          <p:nvPr/>
        </p:nvSpPr>
        <p:spPr>
          <a:xfrm>
            <a:off x="6382512" y="1956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Python</a:t>
            </a:r>
            <a:endParaRPr lang="en-US" sz="900" dirty="0"/>
          </a:p>
        </p:txBody>
      </p:sp>
      <p:sp>
        <p:nvSpPr>
          <p:cNvPr id="121" name="Shape 119"/>
          <p:cNvSpPr/>
          <p:nvPr/>
        </p:nvSpPr>
        <p:spPr>
          <a:xfrm>
            <a:off x="7644384" y="1975104"/>
            <a:ext cx="384048" cy="164592"/>
          </a:xfrm>
          <a:prstGeom prst="rect">
            <a:avLst/>
          </a:prstGeom>
          <a:solidFill>
            <a:srgbClr val="9B59B6"/>
          </a:solidFill>
          <a:ln w="12700">
            <a:solidFill>
              <a:srgbClr val="9B59B6"/>
            </a:solidFill>
            <a:prstDash val="solid"/>
          </a:ln>
        </p:spPr>
      </p:sp>
      <p:sp>
        <p:nvSpPr>
          <p:cNvPr id="122" name="Text 120"/>
          <p:cNvSpPr/>
          <p:nvPr/>
        </p:nvSpPr>
        <p:spPr>
          <a:xfrm>
            <a:off x="7644384" y="1975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3.12</a:t>
            </a:r>
            <a:endParaRPr lang="en-US" sz="700" dirty="0"/>
          </a:p>
        </p:txBody>
      </p:sp>
      <p:sp>
        <p:nvSpPr>
          <p:cNvPr id="123" name="Text 121"/>
          <p:cNvSpPr/>
          <p:nvPr/>
        </p:nvSpPr>
        <p:spPr>
          <a:xfrm>
            <a:off x="8083296" y="1956816"/>
            <a:ext cx="969264" cy="201168"/>
          </a:xfrm>
          <a:prstGeom prst="rect">
            <a:avLst/>
          </a:prstGeom>
          <a:noFill/>
          <a:ln/>
        </p:spPr>
        <p:txBody>
          <a:bodyPr wrap="square" lIns="0" tIns="0" rIns="0" bIns="0" rtlCol="0" anchor="ctr"/>
          <a:lstStyle/>
          <a:p>
            <a:pPr indent="0" marL="0">
              <a:buNone/>
            </a:pPr>
            <a:r>
              <a:rPr lang="en-US" sz="750" dirty="0">
                <a:solidFill>
                  <a:srgbClr val="7F8C8D"/>
                </a:solidFill>
              </a:rPr>
              <a:t>Agent runtime environment</a:t>
            </a:r>
            <a:endParaRPr lang="en-US" sz="750" dirty="0"/>
          </a:p>
        </p:txBody>
      </p:sp>
      <p:sp>
        <p:nvSpPr>
          <p:cNvPr id="124" name="Shape 122"/>
          <p:cNvSpPr/>
          <p:nvPr/>
        </p:nvSpPr>
        <p:spPr>
          <a:xfrm>
            <a:off x="6364224" y="2377440"/>
            <a:ext cx="2743200" cy="54864"/>
          </a:xfrm>
          <a:prstGeom prst="rect">
            <a:avLst/>
          </a:prstGeom>
          <a:solidFill>
            <a:srgbClr val="FFFFFF"/>
          </a:solidFill>
          <a:ln/>
        </p:spPr>
      </p:sp>
      <p:sp>
        <p:nvSpPr>
          <p:cNvPr id="125" name="Text 123"/>
          <p:cNvSpPr/>
          <p:nvPr/>
        </p:nvSpPr>
        <p:spPr>
          <a:xfrm>
            <a:off x="6382512" y="2414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Anthropic API</a:t>
            </a:r>
            <a:endParaRPr lang="en-US" sz="900" dirty="0"/>
          </a:p>
        </p:txBody>
      </p:sp>
      <p:sp>
        <p:nvSpPr>
          <p:cNvPr id="126" name="Shape 124"/>
          <p:cNvSpPr/>
          <p:nvPr/>
        </p:nvSpPr>
        <p:spPr>
          <a:xfrm>
            <a:off x="7644384" y="2432304"/>
            <a:ext cx="384048" cy="164592"/>
          </a:xfrm>
          <a:prstGeom prst="rect">
            <a:avLst/>
          </a:prstGeom>
          <a:solidFill>
            <a:srgbClr val="9B59B6"/>
          </a:solidFill>
          <a:ln w="12700">
            <a:solidFill>
              <a:srgbClr val="9B59B6"/>
            </a:solidFill>
            <a:prstDash val="solid"/>
          </a:ln>
        </p:spPr>
      </p:sp>
      <p:sp>
        <p:nvSpPr>
          <p:cNvPr id="127" name="Text 125"/>
          <p:cNvSpPr/>
          <p:nvPr/>
        </p:nvSpPr>
        <p:spPr>
          <a:xfrm>
            <a:off x="7644384" y="2432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0.18+</a:t>
            </a:r>
            <a:endParaRPr lang="en-US" sz="700" dirty="0"/>
          </a:p>
        </p:txBody>
      </p:sp>
      <p:sp>
        <p:nvSpPr>
          <p:cNvPr id="128" name="Text 126"/>
          <p:cNvSpPr/>
          <p:nvPr/>
        </p:nvSpPr>
        <p:spPr>
          <a:xfrm>
            <a:off x="8083296" y="2414016"/>
            <a:ext cx="969264" cy="201168"/>
          </a:xfrm>
          <a:prstGeom prst="rect">
            <a:avLst/>
          </a:prstGeom>
          <a:noFill/>
          <a:ln/>
        </p:spPr>
        <p:txBody>
          <a:bodyPr wrap="square" lIns="0" tIns="0" rIns="0" bIns="0" rtlCol="0" anchor="ctr"/>
          <a:lstStyle/>
          <a:p>
            <a:pPr indent="0" marL="0">
              <a:buNone/>
            </a:pPr>
            <a:r>
              <a:rPr lang="en-US" sz="750" dirty="0">
                <a:solidFill>
                  <a:srgbClr val="7F8C8D"/>
                </a:solidFill>
              </a:rPr>
              <a:t>Claude AI for signal analysis</a:t>
            </a:r>
            <a:endParaRPr lang="en-US" sz="750" dirty="0"/>
          </a:p>
        </p:txBody>
      </p:sp>
      <p:sp>
        <p:nvSpPr>
          <p:cNvPr id="129" name="Shape 127"/>
          <p:cNvSpPr/>
          <p:nvPr/>
        </p:nvSpPr>
        <p:spPr>
          <a:xfrm>
            <a:off x="6364224" y="2834640"/>
            <a:ext cx="2743200" cy="54864"/>
          </a:xfrm>
          <a:prstGeom prst="rect">
            <a:avLst/>
          </a:prstGeom>
          <a:solidFill>
            <a:srgbClr val="F7F9FC"/>
          </a:solidFill>
          <a:ln/>
        </p:spPr>
      </p:sp>
      <p:sp>
        <p:nvSpPr>
          <p:cNvPr id="130" name="Text 128"/>
          <p:cNvSpPr/>
          <p:nvPr/>
        </p:nvSpPr>
        <p:spPr>
          <a:xfrm>
            <a:off x="6382512" y="2871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GPT-4 (OpenAI)</a:t>
            </a:r>
            <a:endParaRPr lang="en-US" sz="900" dirty="0"/>
          </a:p>
        </p:txBody>
      </p:sp>
      <p:sp>
        <p:nvSpPr>
          <p:cNvPr id="131" name="Shape 129"/>
          <p:cNvSpPr/>
          <p:nvPr/>
        </p:nvSpPr>
        <p:spPr>
          <a:xfrm>
            <a:off x="7644384" y="2889504"/>
            <a:ext cx="384048" cy="164592"/>
          </a:xfrm>
          <a:prstGeom prst="rect">
            <a:avLst/>
          </a:prstGeom>
          <a:solidFill>
            <a:srgbClr val="9B59B6"/>
          </a:solidFill>
          <a:ln w="12700">
            <a:solidFill>
              <a:srgbClr val="9B59B6"/>
            </a:solidFill>
            <a:prstDash val="solid"/>
          </a:ln>
        </p:spPr>
      </p:sp>
      <p:sp>
        <p:nvSpPr>
          <p:cNvPr id="132" name="Text 130"/>
          <p:cNvSpPr/>
          <p:nvPr/>
        </p:nvSpPr>
        <p:spPr>
          <a:xfrm>
            <a:off x="7644384" y="2889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33" name="Text 131"/>
          <p:cNvSpPr/>
          <p:nvPr/>
        </p:nvSpPr>
        <p:spPr>
          <a:xfrm>
            <a:off x="8083296" y="2871216"/>
            <a:ext cx="969264" cy="201168"/>
          </a:xfrm>
          <a:prstGeom prst="rect">
            <a:avLst/>
          </a:prstGeom>
          <a:noFill/>
          <a:ln/>
        </p:spPr>
        <p:txBody>
          <a:bodyPr wrap="square" lIns="0" tIns="0" rIns="0" bIns="0" rtlCol="0" anchor="ctr"/>
          <a:lstStyle/>
          <a:p>
            <a:pPr indent="0" marL="0">
              <a:buNone/>
            </a:pPr>
            <a:r>
              <a:rPr lang="en-US" sz="750" dirty="0">
                <a:solidFill>
                  <a:srgbClr val="7F8C8D"/>
                </a:solidFill>
              </a:rPr>
              <a:t>Newsletter content generation</a:t>
            </a:r>
            <a:endParaRPr lang="en-US" sz="750" dirty="0"/>
          </a:p>
        </p:txBody>
      </p:sp>
      <p:sp>
        <p:nvSpPr>
          <p:cNvPr id="134" name="Shape 132"/>
          <p:cNvSpPr/>
          <p:nvPr/>
        </p:nvSpPr>
        <p:spPr>
          <a:xfrm>
            <a:off x="6364224" y="3291840"/>
            <a:ext cx="2743200" cy="54864"/>
          </a:xfrm>
          <a:prstGeom prst="rect">
            <a:avLst/>
          </a:prstGeom>
          <a:solidFill>
            <a:srgbClr val="FFFFFF"/>
          </a:solidFill>
          <a:ln/>
        </p:spPr>
      </p:sp>
      <p:sp>
        <p:nvSpPr>
          <p:cNvPr id="135" name="Text 133"/>
          <p:cNvSpPr/>
          <p:nvPr/>
        </p:nvSpPr>
        <p:spPr>
          <a:xfrm>
            <a:off x="6382512" y="3328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Stable Diffusion</a:t>
            </a:r>
            <a:endParaRPr lang="en-US" sz="900" dirty="0"/>
          </a:p>
        </p:txBody>
      </p:sp>
      <p:sp>
        <p:nvSpPr>
          <p:cNvPr id="136" name="Shape 134"/>
          <p:cNvSpPr/>
          <p:nvPr/>
        </p:nvSpPr>
        <p:spPr>
          <a:xfrm>
            <a:off x="7644384" y="3346704"/>
            <a:ext cx="384048" cy="164592"/>
          </a:xfrm>
          <a:prstGeom prst="rect">
            <a:avLst/>
          </a:prstGeom>
          <a:solidFill>
            <a:srgbClr val="9B59B6"/>
          </a:solidFill>
          <a:ln w="12700">
            <a:solidFill>
              <a:srgbClr val="9B59B6"/>
            </a:solidFill>
            <a:prstDash val="solid"/>
          </a:ln>
        </p:spPr>
      </p:sp>
      <p:sp>
        <p:nvSpPr>
          <p:cNvPr id="137" name="Text 135"/>
          <p:cNvSpPr/>
          <p:nvPr/>
        </p:nvSpPr>
        <p:spPr>
          <a:xfrm>
            <a:off x="7644384" y="3346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38" name="Text 136"/>
          <p:cNvSpPr/>
          <p:nvPr/>
        </p:nvSpPr>
        <p:spPr>
          <a:xfrm>
            <a:off x="8083296" y="3328416"/>
            <a:ext cx="969264" cy="201168"/>
          </a:xfrm>
          <a:prstGeom prst="rect">
            <a:avLst/>
          </a:prstGeom>
          <a:noFill/>
          <a:ln/>
        </p:spPr>
        <p:txBody>
          <a:bodyPr wrap="square" lIns="0" tIns="0" rIns="0" bIns="0" rtlCol="0" anchor="ctr"/>
          <a:lstStyle/>
          <a:p>
            <a:pPr indent="0" marL="0">
              <a:buNone/>
            </a:pPr>
            <a:r>
              <a:rPr lang="en-US" sz="750" dirty="0">
                <a:solidFill>
                  <a:srgbClr val="7F8C8D"/>
                </a:solidFill>
              </a:rPr>
              <a:t>PDF cover image generation</a:t>
            </a:r>
            <a:endParaRPr lang="en-US" sz="750" dirty="0"/>
          </a:p>
        </p:txBody>
      </p:sp>
      <p:sp>
        <p:nvSpPr>
          <p:cNvPr id="139" name="Shape 137"/>
          <p:cNvSpPr/>
          <p:nvPr/>
        </p:nvSpPr>
        <p:spPr>
          <a:xfrm>
            <a:off x="6364224" y="3749040"/>
            <a:ext cx="2743200" cy="54864"/>
          </a:xfrm>
          <a:prstGeom prst="rect">
            <a:avLst/>
          </a:prstGeom>
          <a:solidFill>
            <a:srgbClr val="F7F9FC"/>
          </a:solidFill>
          <a:ln/>
        </p:spPr>
      </p:sp>
      <p:sp>
        <p:nvSpPr>
          <p:cNvPr id="140" name="Text 138"/>
          <p:cNvSpPr/>
          <p:nvPr/>
        </p:nvSpPr>
        <p:spPr>
          <a:xfrm>
            <a:off x="6382512" y="3785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DALL-E</a:t>
            </a:r>
            <a:endParaRPr lang="en-US" sz="900" dirty="0"/>
          </a:p>
        </p:txBody>
      </p:sp>
      <p:sp>
        <p:nvSpPr>
          <p:cNvPr id="141" name="Shape 139"/>
          <p:cNvSpPr/>
          <p:nvPr/>
        </p:nvSpPr>
        <p:spPr>
          <a:xfrm>
            <a:off x="7644384" y="3803904"/>
            <a:ext cx="384048" cy="164592"/>
          </a:xfrm>
          <a:prstGeom prst="rect">
            <a:avLst/>
          </a:prstGeom>
          <a:solidFill>
            <a:srgbClr val="9B59B6"/>
          </a:solidFill>
          <a:ln w="12700">
            <a:solidFill>
              <a:srgbClr val="9B59B6"/>
            </a:solidFill>
            <a:prstDash val="solid"/>
          </a:ln>
        </p:spPr>
      </p:sp>
      <p:sp>
        <p:nvSpPr>
          <p:cNvPr id="142" name="Text 140"/>
          <p:cNvSpPr/>
          <p:nvPr/>
        </p:nvSpPr>
        <p:spPr>
          <a:xfrm>
            <a:off x="7644384" y="3803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43" name="Text 141"/>
          <p:cNvSpPr/>
          <p:nvPr/>
        </p:nvSpPr>
        <p:spPr>
          <a:xfrm>
            <a:off x="8083296" y="3785616"/>
            <a:ext cx="969264" cy="201168"/>
          </a:xfrm>
          <a:prstGeom prst="rect">
            <a:avLst/>
          </a:prstGeom>
          <a:noFill/>
          <a:ln/>
        </p:spPr>
        <p:txBody>
          <a:bodyPr wrap="square" lIns="0" tIns="0" rIns="0" bIns="0" rtlCol="0" anchor="ctr"/>
          <a:lstStyle/>
          <a:p>
            <a:pPr indent="0" marL="0">
              <a:buNone/>
            </a:pPr>
            <a:r>
              <a:rPr lang="en-US" sz="750" dirty="0">
                <a:solidFill>
                  <a:srgbClr val="7F8C8D"/>
                </a:solidFill>
              </a:rPr>
              <a:t>Alternative AI cover image (OpenAI)</a:t>
            </a:r>
            <a:endParaRPr lang="en-US" sz="750" dirty="0"/>
          </a:p>
        </p:txBody>
      </p:sp>
      <p:sp>
        <p:nvSpPr>
          <p:cNvPr id="144" name="Shape 142"/>
          <p:cNvSpPr/>
          <p:nvPr/>
        </p:nvSpPr>
        <p:spPr>
          <a:xfrm>
            <a:off x="6364224" y="4206240"/>
            <a:ext cx="2743200" cy="54864"/>
          </a:xfrm>
          <a:prstGeom prst="rect">
            <a:avLst/>
          </a:prstGeom>
          <a:solidFill>
            <a:srgbClr val="FFFFFF"/>
          </a:solidFill>
          <a:ln/>
        </p:spPr>
      </p:sp>
      <p:sp>
        <p:nvSpPr>
          <p:cNvPr id="145" name="Text 143"/>
          <p:cNvSpPr/>
          <p:nvPr/>
        </p:nvSpPr>
        <p:spPr>
          <a:xfrm>
            <a:off x="6382512" y="4242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BeautifulSoup</a:t>
            </a:r>
            <a:endParaRPr lang="en-US" sz="900" dirty="0"/>
          </a:p>
        </p:txBody>
      </p:sp>
      <p:sp>
        <p:nvSpPr>
          <p:cNvPr id="146" name="Shape 144"/>
          <p:cNvSpPr/>
          <p:nvPr/>
        </p:nvSpPr>
        <p:spPr>
          <a:xfrm>
            <a:off x="7644384" y="4261104"/>
            <a:ext cx="384048" cy="164592"/>
          </a:xfrm>
          <a:prstGeom prst="rect">
            <a:avLst/>
          </a:prstGeom>
          <a:solidFill>
            <a:srgbClr val="9B59B6"/>
          </a:solidFill>
          <a:ln w="12700">
            <a:solidFill>
              <a:srgbClr val="9B59B6"/>
            </a:solidFill>
            <a:prstDash val="solid"/>
          </a:ln>
        </p:spPr>
      </p:sp>
      <p:sp>
        <p:nvSpPr>
          <p:cNvPr id="147" name="Text 145"/>
          <p:cNvSpPr/>
          <p:nvPr/>
        </p:nvSpPr>
        <p:spPr>
          <a:xfrm>
            <a:off x="7644384" y="4261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4.12+</a:t>
            </a:r>
            <a:endParaRPr lang="en-US" sz="700" dirty="0"/>
          </a:p>
        </p:txBody>
      </p:sp>
      <p:sp>
        <p:nvSpPr>
          <p:cNvPr id="148" name="Text 146"/>
          <p:cNvSpPr/>
          <p:nvPr/>
        </p:nvSpPr>
        <p:spPr>
          <a:xfrm>
            <a:off x="8083296" y="4242816"/>
            <a:ext cx="969264" cy="201168"/>
          </a:xfrm>
          <a:prstGeom prst="rect">
            <a:avLst/>
          </a:prstGeom>
          <a:noFill/>
          <a:ln/>
        </p:spPr>
        <p:txBody>
          <a:bodyPr wrap="square" lIns="0" tIns="0" rIns="0" bIns="0" rtlCol="0" anchor="ctr"/>
          <a:lstStyle/>
          <a:p>
            <a:pPr indent="0" marL="0">
              <a:buNone/>
            </a:pPr>
            <a:r>
              <a:rPr lang="en-US" sz="750" dirty="0">
                <a:solidFill>
                  <a:srgbClr val="7F8C8D"/>
                </a:solidFill>
              </a:rPr>
              <a:t>HTML parsing for source scraping</a:t>
            </a:r>
            <a:endParaRPr lang="en-US" sz="750" dirty="0"/>
          </a:p>
        </p:txBody>
      </p:sp>
      <p:sp>
        <p:nvSpPr>
          <p:cNvPr id="149" name="Shape 147"/>
          <p:cNvSpPr/>
          <p:nvPr/>
        </p:nvSpPr>
        <p:spPr>
          <a:xfrm>
            <a:off x="6364224" y="4663440"/>
            <a:ext cx="2743200" cy="54864"/>
          </a:xfrm>
          <a:prstGeom prst="rect">
            <a:avLst/>
          </a:prstGeom>
          <a:solidFill>
            <a:srgbClr val="F7F9FC"/>
          </a:solidFill>
          <a:ln/>
        </p:spPr>
      </p:sp>
      <p:sp>
        <p:nvSpPr>
          <p:cNvPr id="150" name="Text 148"/>
          <p:cNvSpPr/>
          <p:nvPr/>
        </p:nvSpPr>
        <p:spPr>
          <a:xfrm>
            <a:off x="6382512" y="4700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Playwright</a:t>
            </a:r>
            <a:endParaRPr lang="en-US" sz="900" dirty="0"/>
          </a:p>
        </p:txBody>
      </p:sp>
      <p:sp>
        <p:nvSpPr>
          <p:cNvPr id="151" name="Shape 149"/>
          <p:cNvSpPr/>
          <p:nvPr/>
        </p:nvSpPr>
        <p:spPr>
          <a:xfrm>
            <a:off x="7644384" y="4718304"/>
            <a:ext cx="384048" cy="164592"/>
          </a:xfrm>
          <a:prstGeom prst="rect">
            <a:avLst/>
          </a:prstGeom>
          <a:solidFill>
            <a:srgbClr val="9B59B6"/>
          </a:solidFill>
          <a:ln w="12700">
            <a:solidFill>
              <a:srgbClr val="9B59B6"/>
            </a:solidFill>
            <a:prstDash val="solid"/>
          </a:ln>
        </p:spPr>
      </p:sp>
      <p:sp>
        <p:nvSpPr>
          <p:cNvPr id="152" name="Text 150"/>
          <p:cNvSpPr/>
          <p:nvPr/>
        </p:nvSpPr>
        <p:spPr>
          <a:xfrm>
            <a:off x="7644384" y="4718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53" name="Text 151"/>
          <p:cNvSpPr/>
          <p:nvPr/>
        </p:nvSpPr>
        <p:spPr>
          <a:xfrm>
            <a:off x="8083296" y="4700016"/>
            <a:ext cx="969264" cy="201168"/>
          </a:xfrm>
          <a:prstGeom prst="rect">
            <a:avLst/>
          </a:prstGeom>
          <a:noFill/>
          <a:ln/>
        </p:spPr>
        <p:txBody>
          <a:bodyPr wrap="square" lIns="0" tIns="0" rIns="0" bIns="0" rtlCol="0" anchor="ctr"/>
          <a:lstStyle/>
          <a:p>
            <a:pPr indent="0" marL="0">
              <a:buNone/>
            </a:pPr>
            <a:r>
              <a:rPr lang="en-US" sz="750" dirty="0">
                <a:solidFill>
                  <a:srgbClr val="7F8C8D"/>
                </a:solidFill>
              </a:rPr>
              <a:t>JavaScript-heavy source scraping</a:t>
            </a:r>
            <a:endParaRPr lang="en-US" sz="750" dirty="0"/>
          </a:p>
        </p:txBody>
      </p:sp>
      <p:sp>
        <p:nvSpPr>
          <p:cNvPr id="154" name="Shape 152"/>
          <p:cNvSpPr/>
          <p:nvPr/>
        </p:nvSpPr>
        <p:spPr>
          <a:xfrm>
            <a:off x="6364224" y="5120640"/>
            <a:ext cx="2743200" cy="54864"/>
          </a:xfrm>
          <a:prstGeom prst="rect">
            <a:avLst/>
          </a:prstGeom>
          <a:solidFill>
            <a:srgbClr val="FFFFFF"/>
          </a:solidFill>
          <a:ln/>
        </p:spPr>
      </p:sp>
      <p:sp>
        <p:nvSpPr>
          <p:cNvPr id="155" name="Text 153"/>
          <p:cNvSpPr/>
          <p:nvPr/>
        </p:nvSpPr>
        <p:spPr>
          <a:xfrm>
            <a:off x="6382512" y="5157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aiohttp</a:t>
            </a:r>
            <a:endParaRPr lang="en-US" sz="900" dirty="0"/>
          </a:p>
        </p:txBody>
      </p:sp>
      <p:sp>
        <p:nvSpPr>
          <p:cNvPr id="156" name="Shape 154"/>
          <p:cNvSpPr/>
          <p:nvPr/>
        </p:nvSpPr>
        <p:spPr>
          <a:xfrm>
            <a:off x="7644384" y="5175504"/>
            <a:ext cx="384048" cy="164592"/>
          </a:xfrm>
          <a:prstGeom prst="rect">
            <a:avLst/>
          </a:prstGeom>
          <a:solidFill>
            <a:srgbClr val="9B59B6"/>
          </a:solidFill>
          <a:ln w="12700">
            <a:solidFill>
              <a:srgbClr val="9B59B6"/>
            </a:solidFill>
            <a:prstDash val="solid"/>
          </a:ln>
        </p:spPr>
      </p:sp>
      <p:sp>
        <p:nvSpPr>
          <p:cNvPr id="157" name="Text 155"/>
          <p:cNvSpPr/>
          <p:nvPr/>
        </p:nvSpPr>
        <p:spPr>
          <a:xfrm>
            <a:off x="7644384" y="5175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3.9+</a:t>
            </a:r>
            <a:endParaRPr lang="en-US" sz="700" dirty="0"/>
          </a:p>
        </p:txBody>
      </p:sp>
      <p:sp>
        <p:nvSpPr>
          <p:cNvPr id="158" name="Text 156"/>
          <p:cNvSpPr/>
          <p:nvPr/>
        </p:nvSpPr>
        <p:spPr>
          <a:xfrm>
            <a:off x="8083296" y="5157216"/>
            <a:ext cx="969264" cy="201168"/>
          </a:xfrm>
          <a:prstGeom prst="rect">
            <a:avLst/>
          </a:prstGeom>
          <a:noFill/>
          <a:ln/>
        </p:spPr>
        <p:txBody>
          <a:bodyPr wrap="square" lIns="0" tIns="0" rIns="0" bIns="0" rtlCol="0" anchor="ctr"/>
          <a:lstStyle/>
          <a:p>
            <a:pPr indent="0" marL="0">
              <a:buNone/>
            </a:pPr>
            <a:r>
              <a:rPr lang="en-US" sz="750" dirty="0">
                <a:solidFill>
                  <a:srgbClr val="7F8C8D"/>
                </a:solidFill>
              </a:rPr>
              <a:t>Async HTTP for parallel collection</a:t>
            </a:r>
            <a:endParaRPr lang="en-US" sz="750" dirty="0"/>
          </a:p>
        </p:txBody>
      </p:sp>
      <p:sp>
        <p:nvSpPr>
          <p:cNvPr id="159" name="Shape 157"/>
          <p:cNvSpPr/>
          <p:nvPr/>
        </p:nvSpPr>
        <p:spPr>
          <a:xfrm>
            <a:off x="6364224" y="5577840"/>
            <a:ext cx="2743200" cy="54864"/>
          </a:xfrm>
          <a:prstGeom prst="rect">
            <a:avLst/>
          </a:prstGeom>
          <a:solidFill>
            <a:srgbClr val="F7F9FC"/>
          </a:solidFill>
          <a:ln/>
        </p:spPr>
      </p:sp>
      <p:sp>
        <p:nvSpPr>
          <p:cNvPr id="160" name="Text 158"/>
          <p:cNvSpPr/>
          <p:nvPr/>
        </p:nvSpPr>
        <p:spPr>
          <a:xfrm>
            <a:off x="6382512" y="5614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psycopg2</a:t>
            </a:r>
            <a:endParaRPr lang="en-US" sz="900" dirty="0"/>
          </a:p>
        </p:txBody>
      </p:sp>
      <p:sp>
        <p:nvSpPr>
          <p:cNvPr id="161" name="Shape 159"/>
          <p:cNvSpPr/>
          <p:nvPr/>
        </p:nvSpPr>
        <p:spPr>
          <a:xfrm>
            <a:off x="7644384" y="5632704"/>
            <a:ext cx="384048" cy="164592"/>
          </a:xfrm>
          <a:prstGeom prst="rect">
            <a:avLst/>
          </a:prstGeom>
          <a:solidFill>
            <a:srgbClr val="9B59B6"/>
          </a:solidFill>
          <a:ln w="12700">
            <a:solidFill>
              <a:srgbClr val="9B59B6"/>
            </a:solidFill>
            <a:prstDash val="solid"/>
          </a:ln>
        </p:spPr>
      </p:sp>
      <p:sp>
        <p:nvSpPr>
          <p:cNvPr id="162" name="Text 160"/>
          <p:cNvSpPr/>
          <p:nvPr/>
        </p:nvSpPr>
        <p:spPr>
          <a:xfrm>
            <a:off x="7644384" y="5632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2.9+</a:t>
            </a:r>
            <a:endParaRPr lang="en-US" sz="700" dirty="0"/>
          </a:p>
        </p:txBody>
      </p:sp>
      <p:sp>
        <p:nvSpPr>
          <p:cNvPr id="163" name="Text 161"/>
          <p:cNvSpPr/>
          <p:nvPr/>
        </p:nvSpPr>
        <p:spPr>
          <a:xfrm>
            <a:off x="8083296" y="5614416"/>
            <a:ext cx="969264" cy="201168"/>
          </a:xfrm>
          <a:prstGeom prst="rect">
            <a:avLst/>
          </a:prstGeom>
          <a:noFill/>
          <a:ln/>
        </p:spPr>
        <p:txBody>
          <a:bodyPr wrap="square" lIns="0" tIns="0" rIns="0" bIns="0" rtlCol="0" anchor="ctr"/>
          <a:lstStyle/>
          <a:p>
            <a:pPr indent="0" marL="0">
              <a:buNone/>
            </a:pPr>
            <a:r>
              <a:rPr lang="en-US" sz="750" dirty="0">
                <a:solidFill>
                  <a:srgbClr val="7F8C8D"/>
                </a:solidFill>
              </a:rPr>
              <a:t>Python ↔ PostgreSQL connector</a:t>
            </a:r>
            <a:endParaRPr lang="en-US" sz="750" dirty="0"/>
          </a:p>
        </p:txBody>
      </p:sp>
      <p:sp>
        <p:nvSpPr>
          <p:cNvPr id="164" name="Shape 162"/>
          <p:cNvSpPr/>
          <p:nvPr/>
        </p:nvSpPr>
        <p:spPr>
          <a:xfrm>
            <a:off x="6364224" y="6035040"/>
            <a:ext cx="2743200" cy="54864"/>
          </a:xfrm>
          <a:prstGeom prst="rect">
            <a:avLst/>
          </a:prstGeom>
          <a:solidFill>
            <a:srgbClr val="FFFFFF"/>
          </a:solidFill>
          <a:ln/>
        </p:spPr>
      </p:sp>
      <p:sp>
        <p:nvSpPr>
          <p:cNvPr id="165" name="Text 163"/>
          <p:cNvSpPr/>
          <p:nvPr/>
        </p:nvSpPr>
        <p:spPr>
          <a:xfrm>
            <a:off x="6382512" y="6071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Redis-py</a:t>
            </a:r>
            <a:endParaRPr lang="en-US" sz="900" dirty="0"/>
          </a:p>
        </p:txBody>
      </p:sp>
      <p:sp>
        <p:nvSpPr>
          <p:cNvPr id="166" name="Shape 164"/>
          <p:cNvSpPr/>
          <p:nvPr/>
        </p:nvSpPr>
        <p:spPr>
          <a:xfrm>
            <a:off x="7644384" y="6089904"/>
            <a:ext cx="384048" cy="164592"/>
          </a:xfrm>
          <a:prstGeom prst="rect">
            <a:avLst/>
          </a:prstGeom>
          <a:solidFill>
            <a:srgbClr val="9B59B6"/>
          </a:solidFill>
          <a:ln w="12700">
            <a:solidFill>
              <a:srgbClr val="9B59B6"/>
            </a:solidFill>
            <a:prstDash val="solid"/>
          </a:ln>
        </p:spPr>
      </p:sp>
      <p:sp>
        <p:nvSpPr>
          <p:cNvPr id="167" name="Text 165"/>
          <p:cNvSpPr/>
          <p:nvPr/>
        </p:nvSpPr>
        <p:spPr>
          <a:xfrm>
            <a:off x="7644384" y="6089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5.0+</a:t>
            </a:r>
            <a:endParaRPr lang="en-US" sz="700" dirty="0"/>
          </a:p>
        </p:txBody>
      </p:sp>
      <p:sp>
        <p:nvSpPr>
          <p:cNvPr id="168" name="Text 166"/>
          <p:cNvSpPr/>
          <p:nvPr/>
        </p:nvSpPr>
        <p:spPr>
          <a:xfrm>
            <a:off x="8083296" y="6071616"/>
            <a:ext cx="969264" cy="201168"/>
          </a:xfrm>
          <a:prstGeom prst="rect">
            <a:avLst/>
          </a:prstGeom>
          <a:noFill/>
          <a:ln/>
        </p:spPr>
        <p:txBody>
          <a:bodyPr wrap="square" lIns="0" tIns="0" rIns="0" bIns="0" rtlCol="0" anchor="ctr"/>
          <a:lstStyle/>
          <a:p>
            <a:pPr indent="0" marL="0">
              <a:buNone/>
            </a:pPr>
            <a:r>
              <a:rPr lang="en-US" sz="750" dirty="0">
                <a:solidFill>
                  <a:srgbClr val="7F8C8D"/>
                </a:solidFill>
              </a:rPr>
              <a:t>Agent pipeline Redis integration</a:t>
            </a:r>
            <a:endParaRPr lang="en-US" sz="750" dirty="0"/>
          </a:p>
        </p:txBody>
      </p:sp>
      <p:sp>
        <p:nvSpPr>
          <p:cNvPr id="169" name="Shape 167"/>
          <p:cNvSpPr/>
          <p:nvPr/>
        </p:nvSpPr>
        <p:spPr>
          <a:xfrm>
            <a:off x="9198864" y="1463040"/>
            <a:ext cx="2816352" cy="329184"/>
          </a:xfrm>
          <a:prstGeom prst="rect">
            <a:avLst/>
          </a:prstGeom>
          <a:solidFill>
            <a:srgbClr val="F1C40F"/>
          </a:solidFill>
          <a:ln/>
        </p:spPr>
      </p:sp>
      <p:sp>
        <p:nvSpPr>
          <p:cNvPr id="170" name="Text 168"/>
          <p:cNvSpPr/>
          <p:nvPr/>
        </p:nvSpPr>
        <p:spPr>
          <a:xfrm>
            <a:off x="9198864" y="1463040"/>
            <a:ext cx="2816352" cy="329184"/>
          </a:xfrm>
          <a:prstGeom prst="rect">
            <a:avLst/>
          </a:prstGeom>
          <a:noFill/>
          <a:ln/>
        </p:spPr>
        <p:txBody>
          <a:bodyPr wrap="square" lIns="0" tIns="0" rIns="0" bIns="0" rtlCol="0" anchor="ctr"/>
          <a:lstStyle/>
          <a:p>
            <a:pPr algn="ctr" indent="0" marL="0">
              <a:buNone/>
            </a:pPr>
            <a:r>
              <a:rPr lang="en-US" sz="1000" b="1" spc="200" kern="0" dirty="0">
                <a:solidFill>
                  <a:srgbClr val="FFFFFF"/>
                </a:solidFill>
              </a:rPr>
              <a:t>INFRASTRUCTURE</a:t>
            </a:r>
            <a:endParaRPr lang="en-US" sz="1000" dirty="0"/>
          </a:p>
        </p:txBody>
      </p:sp>
      <p:sp>
        <p:nvSpPr>
          <p:cNvPr id="171" name="Shape 169"/>
          <p:cNvSpPr/>
          <p:nvPr/>
        </p:nvSpPr>
        <p:spPr>
          <a:xfrm>
            <a:off x="9198864" y="1847088"/>
            <a:ext cx="2816352" cy="4663440"/>
          </a:xfrm>
          <a:prstGeom prst="rect">
            <a:avLst/>
          </a:prstGeom>
          <a:solidFill>
            <a:srgbClr val="FFFFFF"/>
          </a:solidFill>
          <a:ln w="5080">
            <a:solidFill>
              <a:srgbClr val="DDE4EA"/>
            </a:solidFill>
            <a:prstDash val="solid"/>
          </a:ln>
          <a:effectLst>
            <a:outerShdw sx="100000" sy="100000" kx="0" ky="0" algn="bl" rotWithShape="0" blurRad="127000" dist="38100" dir="8100000">
              <a:srgbClr val="000000">
                <a:alpha val="10000"/>
              </a:srgbClr>
            </a:outerShdw>
          </a:effectLst>
        </p:spPr>
      </p:sp>
      <p:sp>
        <p:nvSpPr>
          <p:cNvPr id="172" name="Shape 170"/>
          <p:cNvSpPr/>
          <p:nvPr/>
        </p:nvSpPr>
        <p:spPr>
          <a:xfrm>
            <a:off x="9308592" y="1920240"/>
            <a:ext cx="2743200" cy="54864"/>
          </a:xfrm>
          <a:prstGeom prst="rect">
            <a:avLst/>
          </a:prstGeom>
          <a:solidFill>
            <a:srgbClr val="F7F9FC"/>
          </a:solidFill>
          <a:ln/>
        </p:spPr>
      </p:sp>
      <p:sp>
        <p:nvSpPr>
          <p:cNvPr id="173" name="Text 171"/>
          <p:cNvSpPr/>
          <p:nvPr/>
        </p:nvSpPr>
        <p:spPr>
          <a:xfrm>
            <a:off x="9326880" y="1956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Azure Container Apps</a:t>
            </a:r>
            <a:endParaRPr lang="en-US" sz="900" dirty="0"/>
          </a:p>
        </p:txBody>
      </p:sp>
      <p:sp>
        <p:nvSpPr>
          <p:cNvPr id="174" name="Shape 172"/>
          <p:cNvSpPr/>
          <p:nvPr/>
        </p:nvSpPr>
        <p:spPr>
          <a:xfrm>
            <a:off x="10588752" y="1975104"/>
            <a:ext cx="384048" cy="164592"/>
          </a:xfrm>
          <a:prstGeom prst="rect">
            <a:avLst/>
          </a:prstGeom>
          <a:solidFill>
            <a:srgbClr val="F1C40F"/>
          </a:solidFill>
          <a:ln w="12700">
            <a:solidFill>
              <a:srgbClr val="F1C40F"/>
            </a:solidFill>
            <a:prstDash val="solid"/>
          </a:ln>
        </p:spPr>
      </p:sp>
      <p:sp>
        <p:nvSpPr>
          <p:cNvPr id="175" name="Text 173"/>
          <p:cNvSpPr/>
          <p:nvPr/>
        </p:nvSpPr>
        <p:spPr>
          <a:xfrm>
            <a:off x="10588752" y="1975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76" name="Text 174"/>
          <p:cNvSpPr/>
          <p:nvPr/>
        </p:nvSpPr>
        <p:spPr>
          <a:xfrm>
            <a:off x="11027664" y="1956816"/>
            <a:ext cx="969264" cy="201168"/>
          </a:xfrm>
          <a:prstGeom prst="rect">
            <a:avLst/>
          </a:prstGeom>
          <a:noFill/>
          <a:ln/>
        </p:spPr>
        <p:txBody>
          <a:bodyPr wrap="square" lIns="0" tIns="0" rIns="0" bIns="0" rtlCol="0" anchor="ctr"/>
          <a:lstStyle/>
          <a:p>
            <a:pPr indent="0" marL="0">
              <a:buNone/>
            </a:pPr>
            <a:r>
              <a:rPr lang="en-US" sz="750" dirty="0">
                <a:solidFill>
                  <a:srgbClr val="7F8C8D"/>
                </a:solidFill>
              </a:rPr>
              <a:t>API container hosting (UAE North)</a:t>
            </a:r>
            <a:endParaRPr lang="en-US" sz="750" dirty="0"/>
          </a:p>
        </p:txBody>
      </p:sp>
      <p:sp>
        <p:nvSpPr>
          <p:cNvPr id="177" name="Shape 175"/>
          <p:cNvSpPr/>
          <p:nvPr/>
        </p:nvSpPr>
        <p:spPr>
          <a:xfrm>
            <a:off x="9308592" y="2377440"/>
            <a:ext cx="2743200" cy="54864"/>
          </a:xfrm>
          <a:prstGeom prst="rect">
            <a:avLst/>
          </a:prstGeom>
          <a:solidFill>
            <a:srgbClr val="FFFFFF"/>
          </a:solidFill>
          <a:ln/>
        </p:spPr>
      </p:sp>
      <p:sp>
        <p:nvSpPr>
          <p:cNvPr id="178" name="Text 176"/>
          <p:cNvSpPr/>
          <p:nvPr/>
        </p:nvSpPr>
        <p:spPr>
          <a:xfrm>
            <a:off x="9326880" y="2414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Docker</a:t>
            </a:r>
            <a:endParaRPr lang="en-US" sz="900" dirty="0"/>
          </a:p>
        </p:txBody>
      </p:sp>
      <p:sp>
        <p:nvSpPr>
          <p:cNvPr id="179" name="Shape 177"/>
          <p:cNvSpPr/>
          <p:nvPr/>
        </p:nvSpPr>
        <p:spPr>
          <a:xfrm>
            <a:off x="10588752" y="2432304"/>
            <a:ext cx="384048" cy="164592"/>
          </a:xfrm>
          <a:prstGeom prst="rect">
            <a:avLst/>
          </a:prstGeom>
          <a:solidFill>
            <a:srgbClr val="F1C40F"/>
          </a:solidFill>
          <a:ln w="12700">
            <a:solidFill>
              <a:srgbClr val="F1C40F"/>
            </a:solidFill>
            <a:prstDash val="solid"/>
          </a:ln>
        </p:spPr>
      </p:sp>
      <p:sp>
        <p:nvSpPr>
          <p:cNvPr id="180" name="Text 178"/>
          <p:cNvSpPr/>
          <p:nvPr/>
        </p:nvSpPr>
        <p:spPr>
          <a:xfrm>
            <a:off x="10588752" y="2432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81" name="Text 179"/>
          <p:cNvSpPr/>
          <p:nvPr/>
        </p:nvSpPr>
        <p:spPr>
          <a:xfrm>
            <a:off x="11027664" y="2414016"/>
            <a:ext cx="969264" cy="201168"/>
          </a:xfrm>
          <a:prstGeom prst="rect">
            <a:avLst/>
          </a:prstGeom>
          <a:noFill/>
          <a:ln/>
        </p:spPr>
        <p:txBody>
          <a:bodyPr wrap="square" lIns="0" tIns="0" rIns="0" bIns="0" rtlCol="0" anchor="ctr"/>
          <a:lstStyle/>
          <a:p>
            <a:pPr indent="0" marL="0">
              <a:buNone/>
            </a:pPr>
            <a:r>
              <a:rPr lang="en-US" sz="750" dirty="0">
                <a:solidFill>
                  <a:srgbClr val="7F8C8D"/>
                </a:solidFill>
              </a:rPr>
              <a:t>Container packaging for API + agents</a:t>
            </a:r>
            <a:endParaRPr lang="en-US" sz="750" dirty="0"/>
          </a:p>
        </p:txBody>
      </p:sp>
      <p:sp>
        <p:nvSpPr>
          <p:cNvPr id="182" name="Shape 180"/>
          <p:cNvSpPr/>
          <p:nvPr/>
        </p:nvSpPr>
        <p:spPr>
          <a:xfrm>
            <a:off x="9308592" y="2834640"/>
            <a:ext cx="2743200" cy="54864"/>
          </a:xfrm>
          <a:prstGeom prst="rect">
            <a:avLst/>
          </a:prstGeom>
          <a:solidFill>
            <a:srgbClr val="F7F9FC"/>
          </a:solidFill>
          <a:ln/>
        </p:spPr>
      </p:sp>
      <p:sp>
        <p:nvSpPr>
          <p:cNvPr id="183" name="Text 181"/>
          <p:cNvSpPr/>
          <p:nvPr/>
        </p:nvSpPr>
        <p:spPr>
          <a:xfrm>
            <a:off x="9326880" y="2871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GitHub Pages</a:t>
            </a:r>
            <a:endParaRPr lang="en-US" sz="900" dirty="0"/>
          </a:p>
        </p:txBody>
      </p:sp>
      <p:sp>
        <p:nvSpPr>
          <p:cNvPr id="184" name="Shape 182"/>
          <p:cNvSpPr/>
          <p:nvPr/>
        </p:nvSpPr>
        <p:spPr>
          <a:xfrm>
            <a:off x="10588752" y="2889504"/>
            <a:ext cx="384048" cy="164592"/>
          </a:xfrm>
          <a:prstGeom prst="rect">
            <a:avLst/>
          </a:prstGeom>
          <a:solidFill>
            <a:srgbClr val="F1C40F"/>
          </a:solidFill>
          <a:ln w="12700">
            <a:solidFill>
              <a:srgbClr val="F1C40F"/>
            </a:solidFill>
            <a:prstDash val="solid"/>
          </a:ln>
        </p:spPr>
      </p:sp>
      <p:sp>
        <p:nvSpPr>
          <p:cNvPr id="185" name="Text 183"/>
          <p:cNvSpPr/>
          <p:nvPr/>
        </p:nvSpPr>
        <p:spPr>
          <a:xfrm>
            <a:off x="10588752" y="2889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86" name="Text 184"/>
          <p:cNvSpPr/>
          <p:nvPr/>
        </p:nvSpPr>
        <p:spPr>
          <a:xfrm>
            <a:off x="11027664" y="2871216"/>
            <a:ext cx="969264" cy="201168"/>
          </a:xfrm>
          <a:prstGeom prst="rect">
            <a:avLst/>
          </a:prstGeom>
          <a:noFill/>
          <a:ln/>
        </p:spPr>
        <p:txBody>
          <a:bodyPr wrap="square" lIns="0" tIns="0" rIns="0" bIns="0" rtlCol="0" anchor="ctr"/>
          <a:lstStyle/>
          <a:p>
            <a:pPr indent="0" marL="0">
              <a:buNone/>
            </a:pPr>
            <a:r>
              <a:rPr lang="en-US" sz="750" dirty="0">
                <a:solidFill>
                  <a:srgbClr val="7F8C8D"/>
                </a:solidFill>
              </a:rPr>
              <a:t>Static frontend hosting (fdimonitor.org)</a:t>
            </a:r>
            <a:endParaRPr lang="en-US" sz="750" dirty="0"/>
          </a:p>
        </p:txBody>
      </p:sp>
      <p:sp>
        <p:nvSpPr>
          <p:cNvPr id="187" name="Shape 185"/>
          <p:cNvSpPr/>
          <p:nvPr/>
        </p:nvSpPr>
        <p:spPr>
          <a:xfrm>
            <a:off x="9308592" y="3291840"/>
            <a:ext cx="2743200" cy="54864"/>
          </a:xfrm>
          <a:prstGeom prst="rect">
            <a:avLst/>
          </a:prstGeom>
          <a:solidFill>
            <a:srgbClr val="FFFFFF"/>
          </a:solidFill>
          <a:ln/>
        </p:spPr>
      </p:sp>
      <p:sp>
        <p:nvSpPr>
          <p:cNvPr id="188" name="Text 186"/>
          <p:cNvSpPr/>
          <p:nvPr/>
        </p:nvSpPr>
        <p:spPr>
          <a:xfrm>
            <a:off x="9326880" y="3328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GitHub Actions</a:t>
            </a:r>
            <a:endParaRPr lang="en-US" sz="900" dirty="0"/>
          </a:p>
        </p:txBody>
      </p:sp>
      <p:sp>
        <p:nvSpPr>
          <p:cNvPr id="189" name="Shape 187"/>
          <p:cNvSpPr/>
          <p:nvPr/>
        </p:nvSpPr>
        <p:spPr>
          <a:xfrm>
            <a:off x="10588752" y="3346704"/>
            <a:ext cx="384048" cy="164592"/>
          </a:xfrm>
          <a:prstGeom prst="rect">
            <a:avLst/>
          </a:prstGeom>
          <a:solidFill>
            <a:srgbClr val="F1C40F"/>
          </a:solidFill>
          <a:ln w="12700">
            <a:solidFill>
              <a:srgbClr val="F1C40F"/>
            </a:solidFill>
            <a:prstDash val="solid"/>
          </a:ln>
        </p:spPr>
      </p:sp>
      <p:sp>
        <p:nvSpPr>
          <p:cNvPr id="190" name="Text 188"/>
          <p:cNvSpPr/>
          <p:nvPr/>
        </p:nvSpPr>
        <p:spPr>
          <a:xfrm>
            <a:off x="10588752" y="3346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191" name="Text 189"/>
          <p:cNvSpPr/>
          <p:nvPr/>
        </p:nvSpPr>
        <p:spPr>
          <a:xfrm>
            <a:off x="11027664" y="3328416"/>
            <a:ext cx="969264" cy="201168"/>
          </a:xfrm>
          <a:prstGeom prst="rect">
            <a:avLst/>
          </a:prstGeom>
          <a:noFill/>
          <a:ln/>
        </p:spPr>
        <p:txBody>
          <a:bodyPr wrap="square" lIns="0" tIns="0" rIns="0" bIns="0" rtlCol="0" anchor="ctr"/>
          <a:lstStyle/>
          <a:p>
            <a:pPr indent="0" marL="0">
              <a:buNone/>
            </a:pPr>
            <a:r>
              <a:rPr lang="en-US" sz="750" dirty="0">
                <a:solidFill>
                  <a:srgbClr val="7F8C8D"/>
                </a:solidFill>
              </a:rPr>
              <a:t>CI/CD deployment pipeline</a:t>
            </a:r>
            <a:endParaRPr lang="en-US" sz="750" dirty="0"/>
          </a:p>
        </p:txBody>
      </p:sp>
      <p:sp>
        <p:nvSpPr>
          <p:cNvPr id="192" name="Shape 190"/>
          <p:cNvSpPr/>
          <p:nvPr/>
        </p:nvSpPr>
        <p:spPr>
          <a:xfrm>
            <a:off x="9308592" y="3749040"/>
            <a:ext cx="2743200" cy="54864"/>
          </a:xfrm>
          <a:prstGeom prst="rect">
            <a:avLst/>
          </a:prstGeom>
          <a:solidFill>
            <a:srgbClr val="F7F9FC"/>
          </a:solidFill>
          <a:ln/>
        </p:spPr>
      </p:sp>
      <p:sp>
        <p:nvSpPr>
          <p:cNvPr id="193" name="Text 191"/>
          <p:cNvSpPr/>
          <p:nvPr/>
        </p:nvSpPr>
        <p:spPr>
          <a:xfrm>
            <a:off x="9326880" y="3785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Azure PostgreSQL</a:t>
            </a:r>
            <a:endParaRPr lang="en-US" sz="900" dirty="0"/>
          </a:p>
        </p:txBody>
      </p:sp>
      <p:sp>
        <p:nvSpPr>
          <p:cNvPr id="194" name="Shape 192"/>
          <p:cNvSpPr/>
          <p:nvPr/>
        </p:nvSpPr>
        <p:spPr>
          <a:xfrm>
            <a:off x="10588752" y="3803904"/>
            <a:ext cx="384048" cy="164592"/>
          </a:xfrm>
          <a:prstGeom prst="rect">
            <a:avLst/>
          </a:prstGeom>
          <a:solidFill>
            <a:srgbClr val="F1C40F"/>
          </a:solidFill>
          <a:ln w="12700">
            <a:solidFill>
              <a:srgbClr val="F1C40F"/>
            </a:solidFill>
            <a:prstDash val="solid"/>
          </a:ln>
        </p:spPr>
      </p:sp>
      <p:sp>
        <p:nvSpPr>
          <p:cNvPr id="195" name="Text 193"/>
          <p:cNvSpPr/>
          <p:nvPr/>
        </p:nvSpPr>
        <p:spPr>
          <a:xfrm>
            <a:off x="10588752" y="3803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16</a:t>
            </a:r>
            <a:endParaRPr lang="en-US" sz="700" dirty="0"/>
          </a:p>
        </p:txBody>
      </p:sp>
      <p:sp>
        <p:nvSpPr>
          <p:cNvPr id="196" name="Text 194"/>
          <p:cNvSpPr/>
          <p:nvPr/>
        </p:nvSpPr>
        <p:spPr>
          <a:xfrm>
            <a:off x="11027664" y="3785616"/>
            <a:ext cx="969264" cy="201168"/>
          </a:xfrm>
          <a:prstGeom prst="rect">
            <a:avLst/>
          </a:prstGeom>
          <a:noFill/>
          <a:ln/>
        </p:spPr>
        <p:txBody>
          <a:bodyPr wrap="square" lIns="0" tIns="0" rIns="0" bIns="0" rtlCol="0" anchor="ctr"/>
          <a:lstStyle/>
          <a:p>
            <a:pPr indent="0" marL="0">
              <a:buNone/>
            </a:pPr>
            <a:r>
              <a:rPr lang="en-US" sz="750" dirty="0">
                <a:solidFill>
                  <a:srgbClr val="7F8C8D"/>
                </a:solidFill>
              </a:rPr>
              <a:t>Production database (fdi-db-prod)</a:t>
            </a:r>
            <a:endParaRPr lang="en-US" sz="750" dirty="0"/>
          </a:p>
        </p:txBody>
      </p:sp>
      <p:sp>
        <p:nvSpPr>
          <p:cNvPr id="197" name="Shape 195"/>
          <p:cNvSpPr/>
          <p:nvPr/>
        </p:nvSpPr>
        <p:spPr>
          <a:xfrm>
            <a:off x="9308592" y="4206240"/>
            <a:ext cx="2743200" cy="54864"/>
          </a:xfrm>
          <a:prstGeom prst="rect">
            <a:avLst/>
          </a:prstGeom>
          <a:solidFill>
            <a:srgbClr val="FFFFFF"/>
          </a:solidFill>
          <a:ln/>
        </p:spPr>
      </p:sp>
      <p:sp>
        <p:nvSpPr>
          <p:cNvPr id="198" name="Text 196"/>
          <p:cNvSpPr/>
          <p:nvPr/>
        </p:nvSpPr>
        <p:spPr>
          <a:xfrm>
            <a:off x="9326880" y="42428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Azure Redis Cache</a:t>
            </a:r>
            <a:endParaRPr lang="en-US" sz="900" dirty="0"/>
          </a:p>
        </p:txBody>
      </p:sp>
      <p:sp>
        <p:nvSpPr>
          <p:cNvPr id="199" name="Shape 197"/>
          <p:cNvSpPr/>
          <p:nvPr/>
        </p:nvSpPr>
        <p:spPr>
          <a:xfrm>
            <a:off x="10588752" y="4261104"/>
            <a:ext cx="384048" cy="164592"/>
          </a:xfrm>
          <a:prstGeom prst="rect">
            <a:avLst/>
          </a:prstGeom>
          <a:solidFill>
            <a:srgbClr val="F1C40F"/>
          </a:solidFill>
          <a:ln w="12700">
            <a:solidFill>
              <a:srgbClr val="F1C40F"/>
            </a:solidFill>
            <a:prstDash val="solid"/>
          </a:ln>
        </p:spPr>
      </p:sp>
      <p:sp>
        <p:nvSpPr>
          <p:cNvPr id="200" name="Text 198"/>
          <p:cNvSpPr/>
          <p:nvPr/>
        </p:nvSpPr>
        <p:spPr>
          <a:xfrm>
            <a:off x="10588752" y="42611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201" name="Text 199"/>
          <p:cNvSpPr/>
          <p:nvPr/>
        </p:nvSpPr>
        <p:spPr>
          <a:xfrm>
            <a:off x="11027664" y="4242816"/>
            <a:ext cx="969264" cy="201168"/>
          </a:xfrm>
          <a:prstGeom prst="rect">
            <a:avLst/>
          </a:prstGeom>
          <a:noFill/>
          <a:ln/>
        </p:spPr>
        <p:txBody>
          <a:bodyPr wrap="square" lIns="0" tIns="0" rIns="0" bIns="0" rtlCol="0" anchor="ctr"/>
          <a:lstStyle/>
          <a:p>
            <a:pPr indent="0" marL="0">
              <a:buNone/>
            </a:pPr>
            <a:r>
              <a:rPr lang="en-US" sz="750" dirty="0">
                <a:solidFill>
                  <a:srgbClr val="7F8C8D"/>
                </a:solidFill>
              </a:rPr>
              <a:t>Production Redis (SSL port 6380)</a:t>
            </a:r>
            <a:endParaRPr lang="en-US" sz="750" dirty="0"/>
          </a:p>
        </p:txBody>
      </p:sp>
      <p:sp>
        <p:nvSpPr>
          <p:cNvPr id="202" name="Shape 200"/>
          <p:cNvSpPr/>
          <p:nvPr/>
        </p:nvSpPr>
        <p:spPr>
          <a:xfrm>
            <a:off x="9308592" y="4663440"/>
            <a:ext cx="2743200" cy="54864"/>
          </a:xfrm>
          <a:prstGeom prst="rect">
            <a:avLst/>
          </a:prstGeom>
          <a:solidFill>
            <a:srgbClr val="F7F9FC"/>
          </a:solidFill>
          <a:ln/>
        </p:spPr>
      </p:sp>
      <p:sp>
        <p:nvSpPr>
          <p:cNvPr id="203" name="Text 201"/>
          <p:cNvSpPr/>
          <p:nvPr/>
        </p:nvSpPr>
        <p:spPr>
          <a:xfrm>
            <a:off x="9326880" y="47000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Docker Hub</a:t>
            </a:r>
            <a:endParaRPr lang="en-US" sz="900" dirty="0"/>
          </a:p>
        </p:txBody>
      </p:sp>
      <p:sp>
        <p:nvSpPr>
          <p:cNvPr id="204" name="Shape 202"/>
          <p:cNvSpPr/>
          <p:nvPr/>
        </p:nvSpPr>
        <p:spPr>
          <a:xfrm>
            <a:off x="10588752" y="4718304"/>
            <a:ext cx="384048" cy="164592"/>
          </a:xfrm>
          <a:prstGeom prst="rect">
            <a:avLst/>
          </a:prstGeom>
          <a:solidFill>
            <a:srgbClr val="F1C40F"/>
          </a:solidFill>
          <a:ln w="12700">
            <a:solidFill>
              <a:srgbClr val="F1C40F"/>
            </a:solidFill>
            <a:prstDash val="solid"/>
          </a:ln>
        </p:spPr>
      </p:sp>
      <p:sp>
        <p:nvSpPr>
          <p:cNvPr id="205" name="Text 203"/>
          <p:cNvSpPr/>
          <p:nvPr/>
        </p:nvSpPr>
        <p:spPr>
          <a:xfrm>
            <a:off x="10588752" y="47183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206" name="Text 204"/>
          <p:cNvSpPr/>
          <p:nvPr/>
        </p:nvSpPr>
        <p:spPr>
          <a:xfrm>
            <a:off x="11027664" y="4700016"/>
            <a:ext cx="969264" cy="201168"/>
          </a:xfrm>
          <a:prstGeom prst="rect">
            <a:avLst/>
          </a:prstGeom>
          <a:noFill/>
          <a:ln/>
        </p:spPr>
        <p:txBody>
          <a:bodyPr wrap="square" lIns="0" tIns="0" rIns="0" bIns="0" rtlCol="0" anchor="ctr"/>
          <a:lstStyle/>
          <a:p>
            <a:pPr indent="0" marL="0">
              <a:buNone/>
            </a:pPr>
            <a:r>
              <a:rPr lang="en-US" sz="750" dirty="0">
                <a:solidFill>
                  <a:srgbClr val="7F8C8D"/>
                </a:solidFill>
              </a:rPr>
              <a:t>Container registry (melsaadany/gfm-api)</a:t>
            </a:r>
            <a:endParaRPr lang="en-US" sz="750" dirty="0"/>
          </a:p>
        </p:txBody>
      </p:sp>
      <p:sp>
        <p:nvSpPr>
          <p:cNvPr id="207" name="Shape 205"/>
          <p:cNvSpPr/>
          <p:nvPr/>
        </p:nvSpPr>
        <p:spPr>
          <a:xfrm>
            <a:off x="9308592" y="5120640"/>
            <a:ext cx="2743200" cy="54864"/>
          </a:xfrm>
          <a:prstGeom prst="rect">
            <a:avLst/>
          </a:prstGeom>
          <a:solidFill>
            <a:srgbClr val="FFFFFF"/>
          </a:solidFill>
          <a:ln/>
        </p:spPr>
      </p:sp>
      <p:sp>
        <p:nvSpPr>
          <p:cNvPr id="208" name="Text 206"/>
          <p:cNvSpPr/>
          <p:nvPr/>
        </p:nvSpPr>
        <p:spPr>
          <a:xfrm>
            <a:off x="9326880" y="51572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Cloudflare</a:t>
            </a:r>
            <a:endParaRPr lang="en-US" sz="900" dirty="0"/>
          </a:p>
        </p:txBody>
      </p:sp>
      <p:sp>
        <p:nvSpPr>
          <p:cNvPr id="209" name="Shape 207"/>
          <p:cNvSpPr/>
          <p:nvPr/>
        </p:nvSpPr>
        <p:spPr>
          <a:xfrm>
            <a:off x="10588752" y="5175504"/>
            <a:ext cx="384048" cy="164592"/>
          </a:xfrm>
          <a:prstGeom prst="rect">
            <a:avLst/>
          </a:prstGeom>
          <a:solidFill>
            <a:srgbClr val="F1C40F"/>
          </a:solidFill>
          <a:ln w="12700">
            <a:solidFill>
              <a:srgbClr val="F1C40F"/>
            </a:solidFill>
            <a:prstDash val="solid"/>
          </a:ln>
        </p:spPr>
      </p:sp>
      <p:sp>
        <p:nvSpPr>
          <p:cNvPr id="210" name="Text 208"/>
          <p:cNvSpPr/>
          <p:nvPr/>
        </p:nvSpPr>
        <p:spPr>
          <a:xfrm>
            <a:off x="10588752" y="51755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211" name="Text 209"/>
          <p:cNvSpPr/>
          <p:nvPr/>
        </p:nvSpPr>
        <p:spPr>
          <a:xfrm>
            <a:off x="11027664" y="5157216"/>
            <a:ext cx="969264" cy="201168"/>
          </a:xfrm>
          <a:prstGeom prst="rect">
            <a:avLst/>
          </a:prstGeom>
          <a:noFill/>
          <a:ln/>
        </p:spPr>
        <p:txBody>
          <a:bodyPr wrap="square" lIns="0" tIns="0" rIns="0" bIns="0" rtlCol="0" anchor="ctr"/>
          <a:lstStyle/>
          <a:p>
            <a:pPr indent="0" marL="0">
              <a:buNone/>
            </a:pPr>
            <a:r>
              <a:rPr lang="en-US" sz="750" dirty="0">
                <a:solidFill>
                  <a:srgbClr val="7F8C8D"/>
                </a:solidFill>
              </a:rPr>
              <a:t>DNS, CDN and DDoS protection</a:t>
            </a:r>
            <a:endParaRPr lang="en-US" sz="750" dirty="0"/>
          </a:p>
        </p:txBody>
      </p:sp>
      <p:sp>
        <p:nvSpPr>
          <p:cNvPr id="212" name="Shape 210"/>
          <p:cNvSpPr/>
          <p:nvPr/>
        </p:nvSpPr>
        <p:spPr>
          <a:xfrm>
            <a:off x="9308592" y="5577840"/>
            <a:ext cx="2743200" cy="54864"/>
          </a:xfrm>
          <a:prstGeom prst="rect">
            <a:avLst/>
          </a:prstGeom>
          <a:solidFill>
            <a:srgbClr val="F7F9FC"/>
          </a:solidFill>
          <a:ln/>
        </p:spPr>
      </p:sp>
      <p:sp>
        <p:nvSpPr>
          <p:cNvPr id="213" name="Text 211"/>
          <p:cNvSpPr/>
          <p:nvPr/>
        </p:nvSpPr>
        <p:spPr>
          <a:xfrm>
            <a:off x="9326880" y="56144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AWS S3</a:t>
            </a:r>
            <a:endParaRPr lang="en-US" sz="900" dirty="0"/>
          </a:p>
        </p:txBody>
      </p:sp>
      <p:sp>
        <p:nvSpPr>
          <p:cNvPr id="214" name="Shape 212"/>
          <p:cNvSpPr/>
          <p:nvPr/>
        </p:nvSpPr>
        <p:spPr>
          <a:xfrm>
            <a:off x="10588752" y="5632704"/>
            <a:ext cx="384048" cy="164592"/>
          </a:xfrm>
          <a:prstGeom prst="rect">
            <a:avLst/>
          </a:prstGeom>
          <a:solidFill>
            <a:srgbClr val="F1C40F"/>
          </a:solidFill>
          <a:ln w="12700">
            <a:solidFill>
              <a:srgbClr val="F1C40F"/>
            </a:solidFill>
            <a:prstDash val="solid"/>
          </a:ln>
        </p:spPr>
      </p:sp>
      <p:sp>
        <p:nvSpPr>
          <p:cNvPr id="215" name="Text 213"/>
          <p:cNvSpPr/>
          <p:nvPr/>
        </p:nvSpPr>
        <p:spPr>
          <a:xfrm>
            <a:off x="10588752" y="56327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216" name="Text 214"/>
          <p:cNvSpPr/>
          <p:nvPr/>
        </p:nvSpPr>
        <p:spPr>
          <a:xfrm>
            <a:off x="11027664" y="5614416"/>
            <a:ext cx="969264" cy="201168"/>
          </a:xfrm>
          <a:prstGeom prst="rect">
            <a:avLst/>
          </a:prstGeom>
          <a:noFill/>
          <a:ln/>
        </p:spPr>
        <p:txBody>
          <a:bodyPr wrap="square" lIns="0" tIns="0" rIns="0" bIns="0" rtlCol="0" anchor="ctr"/>
          <a:lstStyle/>
          <a:p>
            <a:pPr indent="0" marL="0">
              <a:buNone/>
            </a:pPr>
            <a:r>
              <a:rPr lang="en-US" sz="750" dirty="0">
                <a:solidFill>
                  <a:srgbClr val="7F8C8D"/>
                </a:solidFill>
              </a:rPr>
              <a:t>PDF and asset file storage</a:t>
            </a:r>
            <a:endParaRPr lang="en-US" sz="750" dirty="0"/>
          </a:p>
        </p:txBody>
      </p:sp>
      <p:sp>
        <p:nvSpPr>
          <p:cNvPr id="217" name="Shape 215"/>
          <p:cNvSpPr/>
          <p:nvPr/>
        </p:nvSpPr>
        <p:spPr>
          <a:xfrm>
            <a:off x="9308592" y="6035040"/>
            <a:ext cx="2743200" cy="54864"/>
          </a:xfrm>
          <a:prstGeom prst="rect">
            <a:avLst/>
          </a:prstGeom>
          <a:solidFill>
            <a:srgbClr val="FFFFFF"/>
          </a:solidFill>
          <a:ln/>
        </p:spPr>
      </p:sp>
      <p:sp>
        <p:nvSpPr>
          <p:cNvPr id="218" name="Text 216"/>
          <p:cNvSpPr/>
          <p:nvPr/>
        </p:nvSpPr>
        <p:spPr>
          <a:xfrm>
            <a:off x="9326880" y="6071616"/>
            <a:ext cx="1188720" cy="201168"/>
          </a:xfrm>
          <a:prstGeom prst="rect">
            <a:avLst/>
          </a:prstGeom>
          <a:noFill/>
          <a:ln/>
        </p:spPr>
        <p:txBody>
          <a:bodyPr wrap="square" lIns="0" tIns="0" rIns="0" bIns="0" rtlCol="0" anchor="ctr"/>
          <a:lstStyle/>
          <a:p>
            <a:pPr indent="0" marL="0">
              <a:buNone/>
            </a:pPr>
            <a:r>
              <a:rPr lang="en-US" sz="900" b="1" dirty="0">
                <a:solidFill>
                  <a:srgbClr val="1A2C3E"/>
                </a:solidFill>
              </a:rPr>
              <a:t>Let's Encrypt</a:t>
            </a:r>
            <a:endParaRPr lang="en-US" sz="900" dirty="0"/>
          </a:p>
        </p:txBody>
      </p:sp>
      <p:sp>
        <p:nvSpPr>
          <p:cNvPr id="219" name="Shape 217"/>
          <p:cNvSpPr/>
          <p:nvPr/>
        </p:nvSpPr>
        <p:spPr>
          <a:xfrm>
            <a:off x="10588752" y="6089904"/>
            <a:ext cx="384048" cy="164592"/>
          </a:xfrm>
          <a:prstGeom prst="rect">
            <a:avLst/>
          </a:prstGeom>
          <a:solidFill>
            <a:srgbClr val="F1C40F"/>
          </a:solidFill>
          <a:ln w="12700">
            <a:solidFill>
              <a:srgbClr val="F1C40F"/>
            </a:solidFill>
            <a:prstDash val="solid"/>
          </a:ln>
        </p:spPr>
      </p:sp>
      <p:sp>
        <p:nvSpPr>
          <p:cNvPr id="220" name="Text 218"/>
          <p:cNvSpPr/>
          <p:nvPr/>
        </p:nvSpPr>
        <p:spPr>
          <a:xfrm>
            <a:off x="10588752" y="6089904"/>
            <a:ext cx="384048" cy="164592"/>
          </a:xfrm>
          <a:prstGeom prst="rect">
            <a:avLst/>
          </a:prstGeom>
          <a:noFill/>
          <a:ln/>
        </p:spPr>
        <p:txBody>
          <a:bodyPr wrap="square" lIns="0" tIns="0" rIns="0" bIns="0" rtlCol="0" anchor="ctr"/>
          <a:lstStyle/>
          <a:p>
            <a:pPr algn="ctr" indent="0" marL="0">
              <a:buNone/>
            </a:pPr>
            <a:r>
              <a:rPr lang="en-US" sz="700" b="1" dirty="0">
                <a:solidFill>
                  <a:srgbClr val="FFFFFF"/>
                </a:solidFill>
              </a:rPr>
              <a:t>—</a:t>
            </a:r>
            <a:endParaRPr lang="en-US" sz="700" dirty="0"/>
          </a:p>
        </p:txBody>
      </p:sp>
      <p:sp>
        <p:nvSpPr>
          <p:cNvPr id="221" name="Text 219"/>
          <p:cNvSpPr/>
          <p:nvPr/>
        </p:nvSpPr>
        <p:spPr>
          <a:xfrm>
            <a:off x="11027664" y="6071616"/>
            <a:ext cx="969264" cy="201168"/>
          </a:xfrm>
          <a:prstGeom prst="rect">
            <a:avLst/>
          </a:prstGeom>
          <a:noFill/>
          <a:ln/>
        </p:spPr>
        <p:txBody>
          <a:bodyPr wrap="square" lIns="0" tIns="0" rIns="0" bIns="0" rtlCol="0" anchor="ctr"/>
          <a:lstStyle/>
          <a:p>
            <a:pPr indent="0" marL="0">
              <a:buNone/>
            </a:pPr>
            <a:r>
              <a:rPr lang="en-US" sz="750" dirty="0">
                <a:solidFill>
                  <a:srgbClr val="7F8C8D"/>
                </a:solidFill>
              </a:rPr>
              <a:t>SSL/TLS certificate management</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Implementation Priorities</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Implementation Priorities — P0 Critical to P3 Enhancement</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27 components across 4 priority tiers · All must be verified before platform public launch</a:t>
            </a:r>
            <a:endParaRPr lang="en-US" sz="1000" dirty="0"/>
          </a:p>
        </p:txBody>
      </p:sp>
      <p:sp>
        <p:nvSpPr>
          <p:cNvPr id="10" name="Shape 8"/>
          <p:cNvSpPr/>
          <p:nvPr/>
        </p:nvSpPr>
        <p:spPr>
          <a:xfrm>
            <a:off x="365760" y="1481328"/>
            <a:ext cx="11430000" cy="292608"/>
          </a:xfrm>
          <a:prstGeom prst="rect">
            <a:avLst/>
          </a:prstGeom>
          <a:solidFill>
            <a:srgbClr val="E74C3C"/>
          </a:solidFill>
          <a:ln/>
        </p:spPr>
      </p:sp>
      <p:sp>
        <p:nvSpPr>
          <p:cNvPr id="11" name="Shape 9"/>
          <p:cNvSpPr/>
          <p:nvPr/>
        </p:nvSpPr>
        <p:spPr>
          <a:xfrm>
            <a:off x="365760" y="1481328"/>
            <a:ext cx="640080" cy="292608"/>
          </a:xfrm>
          <a:prstGeom prst="rect">
            <a:avLst/>
          </a:prstGeom>
          <a:solidFill>
            <a:srgbClr val="1E3A5F"/>
          </a:solidFill>
          <a:ln/>
        </p:spPr>
      </p:sp>
      <p:sp>
        <p:nvSpPr>
          <p:cNvPr id="12" name="Text 10"/>
          <p:cNvSpPr/>
          <p:nvPr/>
        </p:nvSpPr>
        <p:spPr>
          <a:xfrm>
            <a:off x="365760" y="1481328"/>
            <a:ext cx="640080" cy="292608"/>
          </a:xfrm>
          <a:prstGeom prst="rect">
            <a:avLst/>
          </a:prstGeom>
          <a:noFill/>
          <a:ln/>
        </p:spPr>
        <p:txBody>
          <a:bodyPr wrap="square" lIns="0" tIns="0" rIns="0" bIns="0" rtlCol="0" anchor="ctr"/>
          <a:lstStyle/>
          <a:p>
            <a:pPr algn="ctr" indent="0" marL="0">
              <a:buNone/>
            </a:pPr>
            <a:r>
              <a:rPr lang="en-US" sz="1200" b="1" dirty="0">
                <a:solidFill>
                  <a:srgbClr val="FFFFFF"/>
                </a:solidFill>
              </a:rPr>
              <a:t>P0</a:t>
            </a:r>
            <a:endParaRPr lang="en-US" sz="1200" dirty="0"/>
          </a:p>
        </p:txBody>
      </p:sp>
      <p:sp>
        <p:nvSpPr>
          <p:cNvPr id="13" name="Text 11"/>
          <p:cNvSpPr/>
          <p:nvPr/>
        </p:nvSpPr>
        <p:spPr>
          <a:xfrm>
            <a:off x="1051560" y="1481328"/>
            <a:ext cx="7315200" cy="292608"/>
          </a:xfrm>
          <a:prstGeom prst="rect">
            <a:avLst/>
          </a:prstGeom>
          <a:noFill/>
          <a:ln/>
        </p:spPr>
        <p:txBody>
          <a:bodyPr wrap="square" lIns="0" tIns="0" rIns="0" bIns="0" rtlCol="0" anchor="ctr"/>
          <a:lstStyle/>
          <a:p>
            <a:pPr indent="0" marL="0">
              <a:buNone/>
            </a:pPr>
            <a:r>
              <a:rPr lang="en-US" sz="900" b="1" dirty="0">
                <a:solidFill>
                  <a:srgbClr val="FFFFFF"/>
                </a:solidFill>
              </a:rPr>
              <a:t>CRITICAL — DELIVER FIRST</a:t>
            </a:r>
            <a:endParaRPr lang="en-US" sz="900" dirty="0"/>
          </a:p>
        </p:txBody>
      </p:sp>
      <p:sp>
        <p:nvSpPr>
          <p:cNvPr id="14" name="Shape 12"/>
          <p:cNvSpPr/>
          <p:nvPr/>
        </p:nvSpPr>
        <p:spPr>
          <a:xfrm>
            <a:off x="365760" y="1773936"/>
            <a:ext cx="11430000" cy="274320"/>
          </a:xfrm>
          <a:prstGeom prst="rect">
            <a:avLst/>
          </a:prstGeom>
          <a:solidFill>
            <a:srgbClr val="FFFFFF"/>
          </a:solidFill>
          <a:ln w="3810">
            <a:solidFill>
              <a:srgbClr val="EAEEF2"/>
            </a:solidFill>
            <a:prstDash val="solid"/>
          </a:ln>
        </p:spPr>
      </p:sp>
      <p:sp>
        <p:nvSpPr>
          <p:cNvPr id="15" name="Text 13"/>
          <p:cNvSpPr/>
          <p:nvPr/>
        </p:nvSpPr>
        <p:spPr>
          <a:xfrm>
            <a:off x="548640" y="1792224"/>
            <a:ext cx="4389120" cy="237744"/>
          </a:xfrm>
          <a:prstGeom prst="rect">
            <a:avLst/>
          </a:prstGeom>
          <a:noFill/>
          <a:ln/>
        </p:spPr>
        <p:txBody>
          <a:bodyPr wrap="square" lIns="0" tIns="0" rIns="0" bIns="0" rtlCol="0" anchor="ctr"/>
          <a:lstStyle/>
          <a:p>
            <a:pPr indent="0" marL="0">
              <a:buNone/>
            </a:pPr>
            <a:r>
              <a:rPr lang="en-US" sz="850" dirty="0">
                <a:solidFill>
                  <a:srgbClr val="1A2C3E"/>
                </a:solidFill>
              </a:rPr>
              <a:t>3D Globe — click → updates all widgets</a:t>
            </a:r>
            <a:endParaRPr lang="en-US" sz="850" dirty="0"/>
          </a:p>
        </p:txBody>
      </p:sp>
      <p:sp>
        <p:nvSpPr>
          <p:cNvPr id="16" name="Text 14"/>
          <p:cNvSpPr/>
          <p:nvPr/>
        </p:nvSpPr>
        <p:spPr>
          <a:xfrm>
            <a:off x="5029200" y="1792224"/>
            <a:ext cx="4114800" cy="237744"/>
          </a:xfrm>
          <a:prstGeom prst="rect">
            <a:avLst/>
          </a:prstGeom>
          <a:noFill/>
          <a:ln/>
        </p:spPr>
        <p:txBody>
          <a:bodyPr wrap="square" lIns="0" tIns="0" rIns="0" bIns="0" rtlCol="0" anchor="ctr"/>
          <a:lstStyle/>
          <a:p>
            <a:pPr indent="0" marL="0">
              <a:buNone/>
            </a:pPr>
            <a:r>
              <a:rPr lang="en-US" sz="800" dirty="0">
                <a:solidFill>
                  <a:srgbClr val="7F8C8D"/>
                </a:solidFill>
              </a:rPr>
              <a:t>Three.js + React Three Fiber</a:t>
            </a:r>
            <a:endParaRPr lang="en-US" sz="800" dirty="0"/>
          </a:p>
        </p:txBody>
      </p:sp>
      <p:sp>
        <p:nvSpPr>
          <p:cNvPr id="17" name="Shape 15"/>
          <p:cNvSpPr/>
          <p:nvPr/>
        </p:nvSpPr>
        <p:spPr>
          <a:xfrm>
            <a:off x="9235440" y="1819656"/>
            <a:ext cx="2286000" cy="182880"/>
          </a:xfrm>
          <a:prstGeom prst="rect">
            <a:avLst/>
          </a:prstGeom>
          <a:solidFill>
            <a:srgbClr val="1E8449"/>
          </a:solidFill>
          <a:ln/>
        </p:spPr>
      </p:sp>
      <p:sp>
        <p:nvSpPr>
          <p:cNvPr id="18" name="Text 16"/>
          <p:cNvSpPr/>
          <p:nvPr/>
        </p:nvSpPr>
        <p:spPr>
          <a:xfrm>
            <a:off x="9235440" y="181965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19" name="Shape 17"/>
          <p:cNvSpPr/>
          <p:nvPr/>
        </p:nvSpPr>
        <p:spPr>
          <a:xfrm>
            <a:off x="365760" y="2048256"/>
            <a:ext cx="11430000" cy="274320"/>
          </a:xfrm>
          <a:prstGeom prst="rect">
            <a:avLst/>
          </a:prstGeom>
          <a:solidFill>
            <a:srgbClr val="F7F9FC"/>
          </a:solidFill>
          <a:ln w="3810">
            <a:solidFill>
              <a:srgbClr val="EAEEF2"/>
            </a:solidFill>
            <a:prstDash val="solid"/>
          </a:ln>
        </p:spPr>
      </p:sp>
      <p:sp>
        <p:nvSpPr>
          <p:cNvPr id="20" name="Text 18"/>
          <p:cNvSpPr/>
          <p:nvPr/>
        </p:nvSpPr>
        <p:spPr>
          <a:xfrm>
            <a:off x="548640" y="2066544"/>
            <a:ext cx="4389120" cy="237744"/>
          </a:xfrm>
          <a:prstGeom prst="rect">
            <a:avLst/>
          </a:prstGeom>
          <a:noFill/>
          <a:ln/>
        </p:spPr>
        <p:txBody>
          <a:bodyPr wrap="square" lIns="0" tIns="0" rIns="0" bIns="0" rtlCol="0" anchor="ctr"/>
          <a:lstStyle/>
          <a:p>
            <a:pPr indent="0" marL="0">
              <a:buNone/>
            </a:pPr>
            <a:r>
              <a:rPr lang="en-US" sz="850" dirty="0">
                <a:solidFill>
                  <a:srgbClr val="1A2C3E"/>
                </a:solidFill>
              </a:rPr>
              <a:t>Doing Business Panel — 10 D3 progress bars</a:t>
            </a:r>
            <a:endParaRPr lang="en-US" sz="850" dirty="0"/>
          </a:p>
        </p:txBody>
      </p:sp>
      <p:sp>
        <p:nvSpPr>
          <p:cNvPr id="21" name="Text 19"/>
          <p:cNvSpPr/>
          <p:nvPr/>
        </p:nvSpPr>
        <p:spPr>
          <a:xfrm>
            <a:off x="5029200" y="2066544"/>
            <a:ext cx="4114800" cy="237744"/>
          </a:xfrm>
          <a:prstGeom prst="rect">
            <a:avLst/>
          </a:prstGeom>
          <a:noFill/>
          <a:ln/>
        </p:spPr>
        <p:txBody>
          <a:bodyPr wrap="square" lIns="0" tIns="0" rIns="0" bIns="0" rtlCol="0" anchor="ctr"/>
          <a:lstStyle/>
          <a:p>
            <a:pPr indent="0" marL="0">
              <a:buNone/>
            </a:pPr>
            <a:r>
              <a:rPr lang="en-US" sz="800" dirty="0">
                <a:solidFill>
                  <a:srgbClr val="7F8C8D"/>
                </a:solidFill>
              </a:rPr>
              <a:t>D3.js + World Bank API cache</a:t>
            </a:r>
            <a:endParaRPr lang="en-US" sz="800" dirty="0"/>
          </a:p>
        </p:txBody>
      </p:sp>
      <p:sp>
        <p:nvSpPr>
          <p:cNvPr id="22" name="Shape 20"/>
          <p:cNvSpPr/>
          <p:nvPr/>
        </p:nvSpPr>
        <p:spPr>
          <a:xfrm>
            <a:off x="9235440" y="2093976"/>
            <a:ext cx="2286000" cy="182880"/>
          </a:xfrm>
          <a:prstGeom prst="rect">
            <a:avLst/>
          </a:prstGeom>
          <a:solidFill>
            <a:srgbClr val="1E8449"/>
          </a:solidFill>
          <a:ln/>
        </p:spPr>
      </p:sp>
      <p:sp>
        <p:nvSpPr>
          <p:cNvPr id="23" name="Text 21"/>
          <p:cNvSpPr/>
          <p:nvPr/>
        </p:nvSpPr>
        <p:spPr>
          <a:xfrm>
            <a:off x="9235440" y="209397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24" name="Shape 22"/>
          <p:cNvSpPr/>
          <p:nvPr/>
        </p:nvSpPr>
        <p:spPr>
          <a:xfrm>
            <a:off x="365760" y="2322576"/>
            <a:ext cx="11430000" cy="274320"/>
          </a:xfrm>
          <a:prstGeom prst="rect">
            <a:avLst/>
          </a:prstGeom>
          <a:solidFill>
            <a:srgbClr val="FFFFFF"/>
          </a:solidFill>
          <a:ln w="3810">
            <a:solidFill>
              <a:srgbClr val="EAEEF2"/>
            </a:solidFill>
            <a:prstDash val="solid"/>
          </a:ln>
        </p:spPr>
      </p:sp>
      <p:sp>
        <p:nvSpPr>
          <p:cNvPr id="25" name="Text 23"/>
          <p:cNvSpPr/>
          <p:nvPr/>
        </p:nvSpPr>
        <p:spPr>
          <a:xfrm>
            <a:off x="548640" y="2340864"/>
            <a:ext cx="4389120" cy="237744"/>
          </a:xfrm>
          <a:prstGeom prst="rect">
            <a:avLst/>
          </a:prstGeom>
          <a:noFill/>
          <a:ln/>
        </p:spPr>
        <p:txBody>
          <a:bodyPr wrap="square" lIns="0" tIns="0" rIns="0" bIns="0" rtlCol="0" anchor="ctr"/>
          <a:lstStyle/>
          <a:p>
            <a:pPr indent="0" marL="0">
              <a:buNone/>
            </a:pPr>
            <a:r>
              <a:rPr lang="en-US" sz="850" dirty="0">
                <a:solidFill>
                  <a:srgbClr val="1A2C3E"/>
                </a:solidFill>
              </a:rPr>
              <a:t>Investment Analysis — 4-tab page</a:t>
            </a:r>
            <a:endParaRPr lang="en-US" sz="850" dirty="0"/>
          </a:p>
        </p:txBody>
      </p:sp>
      <p:sp>
        <p:nvSpPr>
          <p:cNvPr id="26" name="Text 24"/>
          <p:cNvSpPr/>
          <p:nvPr/>
        </p:nvSpPr>
        <p:spPr>
          <a:xfrm>
            <a:off x="5029200" y="2340864"/>
            <a:ext cx="4114800" cy="237744"/>
          </a:xfrm>
          <a:prstGeom prst="rect">
            <a:avLst/>
          </a:prstGeom>
          <a:noFill/>
          <a:ln/>
        </p:spPr>
        <p:txBody>
          <a:bodyPr wrap="square" lIns="0" tIns="0" rIns="0" bIns="0" rtlCol="0" anchor="ctr"/>
          <a:lstStyle/>
          <a:p>
            <a:pPr indent="0" marL="0">
              <a:buNone/>
            </a:pPr>
            <a:r>
              <a:rPr lang="en-US" sz="800" dirty="0">
                <a:solidFill>
                  <a:srgbClr val="7F8C8D"/>
                </a:solidFill>
              </a:rPr>
              <a:t>React + ag-Grid + D3.js</a:t>
            </a:r>
            <a:endParaRPr lang="en-US" sz="800" dirty="0"/>
          </a:p>
        </p:txBody>
      </p:sp>
      <p:sp>
        <p:nvSpPr>
          <p:cNvPr id="27" name="Shape 25"/>
          <p:cNvSpPr/>
          <p:nvPr/>
        </p:nvSpPr>
        <p:spPr>
          <a:xfrm>
            <a:off x="9235440" y="2368296"/>
            <a:ext cx="2286000" cy="182880"/>
          </a:xfrm>
          <a:prstGeom prst="rect">
            <a:avLst/>
          </a:prstGeom>
          <a:solidFill>
            <a:srgbClr val="1E8449"/>
          </a:solidFill>
          <a:ln/>
        </p:spPr>
      </p:sp>
      <p:sp>
        <p:nvSpPr>
          <p:cNvPr id="28" name="Text 26"/>
          <p:cNvSpPr/>
          <p:nvPr/>
        </p:nvSpPr>
        <p:spPr>
          <a:xfrm>
            <a:off x="9235440" y="236829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29" name="Shape 27"/>
          <p:cNvSpPr/>
          <p:nvPr/>
        </p:nvSpPr>
        <p:spPr>
          <a:xfrm>
            <a:off x="365760" y="2596896"/>
            <a:ext cx="11430000" cy="274320"/>
          </a:xfrm>
          <a:prstGeom prst="rect">
            <a:avLst/>
          </a:prstGeom>
          <a:solidFill>
            <a:srgbClr val="F7F9FC"/>
          </a:solidFill>
          <a:ln w="3810">
            <a:solidFill>
              <a:srgbClr val="EAEEF2"/>
            </a:solidFill>
            <a:prstDash val="solid"/>
          </a:ln>
        </p:spPr>
      </p:sp>
      <p:sp>
        <p:nvSpPr>
          <p:cNvPr id="30" name="Text 28"/>
          <p:cNvSpPr/>
          <p:nvPr/>
        </p:nvSpPr>
        <p:spPr>
          <a:xfrm>
            <a:off x="548640" y="2615184"/>
            <a:ext cx="4389120" cy="237744"/>
          </a:xfrm>
          <a:prstGeom prst="rect">
            <a:avLst/>
          </a:prstGeom>
          <a:noFill/>
          <a:ln/>
        </p:spPr>
        <p:txBody>
          <a:bodyPr wrap="square" lIns="0" tIns="0" rIns="0" bIns="0" rtlCol="0" anchor="ctr"/>
          <a:lstStyle/>
          <a:p>
            <a:pPr indent="0" marL="0">
              <a:buNone/>
            </a:pPr>
            <a:r>
              <a:rPr lang="en-US" sz="850" dirty="0">
                <a:solidFill>
                  <a:srgbClr val="1A2C3E"/>
                </a:solidFill>
              </a:rPr>
              <a:t>Full Country Table — 195+ rows ag-Grid</a:t>
            </a:r>
            <a:endParaRPr lang="en-US" sz="850" dirty="0"/>
          </a:p>
        </p:txBody>
      </p:sp>
      <p:sp>
        <p:nvSpPr>
          <p:cNvPr id="31" name="Text 29"/>
          <p:cNvSpPr/>
          <p:nvPr/>
        </p:nvSpPr>
        <p:spPr>
          <a:xfrm>
            <a:off x="5029200" y="2615184"/>
            <a:ext cx="4114800" cy="237744"/>
          </a:xfrm>
          <a:prstGeom prst="rect">
            <a:avLst/>
          </a:prstGeom>
          <a:noFill/>
          <a:ln/>
        </p:spPr>
        <p:txBody>
          <a:bodyPr wrap="square" lIns="0" tIns="0" rIns="0" bIns="0" rtlCol="0" anchor="ctr"/>
          <a:lstStyle/>
          <a:p>
            <a:pPr indent="0" marL="0">
              <a:buNone/>
            </a:pPr>
            <a:r>
              <a:rPr lang="en-US" sz="800" dirty="0">
                <a:solidFill>
                  <a:srgbClr val="7F8C8D"/>
                </a:solidFill>
              </a:rPr>
              <a:t>ag-Grid 30.0+ sortable/filterable</a:t>
            </a:r>
            <a:endParaRPr lang="en-US" sz="800" dirty="0"/>
          </a:p>
        </p:txBody>
      </p:sp>
      <p:sp>
        <p:nvSpPr>
          <p:cNvPr id="32" name="Shape 30"/>
          <p:cNvSpPr/>
          <p:nvPr/>
        </p:nvSpPr>
        <p:spPr>
          <a:xfrm>
            <a:off x="9235440" y="2642616"/>
            <a:ext cx="2286000" cy="182880"/>
          </a:xfrm>
          <a:prstGeom prst="rect">
            <a:avLst/>
          </a:prstGeom>
          <a:solidFill>
            <a:srgbClr val="1E8449"/>
          </a:solidFill>
          <a:ln/>
        </p:spPr>
      </p:sp>
      <p:sp>
        <p:nvSpPr>
          <p:cNvPr id="33" name="Text 31"/>
          <p:cNvSpPr/>
          <p:nvPr/>
        </p:nvSpPr>
        <p:spPr>
          <a:xfrm>
            <a:off x="9235440" y="264261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34" name="Shape 32"/>
          <p:cNvSpPr/>
          <p:nvPr/>
        </p:nvSpPr>
        <p:spPr>
          <a:xfrm>
            <a:off x="365760" y="2871216"/>
            <a:ext cx="11430000" cy="274320"/>
          </a:xfrm>
          <a:prstGeom prst="rect">
            <a:avLst/>
          </a:prstGeom>
          <a:solidFill>
            <a:srgbClr val="FFFFFF"/>
          </a:solidFill>
          <a:ln w="3810">
            <a:solidFill>
              <a:srgbClr val="EAEEF2"/>
            </a:solidFill>
            <a:prstDash val="solid"/>
          </a:ln>
        </p:spPr>
      </p:sp>
      <p:sp>
        <p:nvSpPr>
          <p:cNvPr id="35" name="Text 33"/>
          <p:cNvSpPr/>
          <p:nvPr/>
        </p:nvSpPr>
        <p:spPr>
          <a:xfrm>
            <a:off x="548640" y="2889504"/>
            <a:ext cx="4389120" cy="237744"/>
          </a:xfrm>
          <a:prstGeom prst="rect">
            <a:avLst/>
          </a:prstGeom>
          <a:noFill/>
          <a:ln/>
        </p:spPr>
        <p:txBody>
          <a:bodyPr wrap="square" lIns="0" tIns="0" rIns="0" bIns="0" rtlCol="0" anchor="ctr"/>
          <a:lstStyle/>
          <a:p>
            <a:pPr indent="0" marL="0">
              <a:buNone/>
            </a:pPr>
            <a:r>
              <a:rPr lang="en-US" sz="850" dirty="0">
                <a:solidFill>
                  <a:srgbClr val="1A2C3E"/>
                </a:solidFill>
              </a:rPr>
              <a:t>Benchmark Tool — 2-5 country comparison</a:t>
            </a:r>
            <a:endParaRPr lang="en-US" sz="850" dirty="0"/>
          </a:p>
        </p:txBody>
      </p:sp>
      <p:sp>
        <p:nvSpPr>
          <p:cNvPr id="36" name="Text 34"/>
          <p:cNvSpPr/>
          <p:nvPr/>
        </p:nvSpPr>
        <p:spPr>
          <a:xfrm>
            <a:off x="5029200" y="2889504"/>
            <a:ext cx="4114800" cy="237744"/>
          </a:xfrm>
          <a:prstGeom prst="rect">
            <a:avLst/>
          </a:prstGeom>
          <a:noFill/>
          <a:ln/>
        </p:spPr>
        <p:txBody>
          <a:bodyPr wrap="square" lIns="0" tIns="0" rIns="0" bIns="0" rtlCol="0" anchor="ctr"/>
          <a:lstStyle/>
          <a:p>
            <a:pPr indent="0" marL="0">
              <a:buNone/>
            </a:pPr>
            <a:r>
              <a:rPr lang="en-US" sz="800" dirty="0">
                <a:solidFill>
                  <a:srgbClr val="7F8C8D"/>
                </a:solidFill>
              </a:rPr>
              <a:t>D3.js comparison + React state</a:t>
            </a:r>
            <a:endParaRPr lang="en-US" sz="800" dirty="0"/>
          </a:p>
        </p:txBody>
      </p:sp>
      <p:sp>
        <p:nvSpPr>
          <p:cNvPr id="37" name="Shape 35"/>
          <p:cNvSpPr/>
          <p:nvPr/>
        </p:nvSpPr>
        <p:spPr>
          <a:xfrm>
            <a:off x="9235440" y="2916936"/>
            <a:ext cx="2286000" cy="182880"/>
          </a:xfrm>
          <a:prstGeom prst="rect">
            <a:avLst/>
          </a:prstGeom>
          <a:solidFill>
            <a:srgbClr val="1E8449"/>
          </a:solidFill>
          <a:ln/>
        </p:spPr>
      </p:sp>
      <p:sp>
        <p:nvSpPr>
          <p:cNvPr id="38" name="Text 36"/>
          <p:cNvSpPr/>
          <p:nvPr/>
        </p:nvSpPr>
        <p:spPr>
          <a:xfrm>
            <a:off x="9235440" y="291693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39" name="Shape 37"/>
          <p:cNvSpPr/>
          <p:nvPr/>
        </p:nvSpPr>
        <p:spPr>
          <a:xfrm>
            <a:off x="365760" y="3145536"/>
            <a:ext cx="11430000" cy="274320"/>
          </a:xfrm>
          <a:prstGeom prst="rect">
            <a:avLst/>
          </a:prstGeom>
          <a:solidFill>
            <a:srgbClr val="F7F9FC"/>
          </a:solidFill>
          <a:ln w="3810">
            <a:solidFill>
              <a:srgbClr val="EAEEF2"/>
            </a:solidFill>
            <a:prstDash val="solid"/>
          </a:ln>
        </p:spPr>
      </p:sp>
      <p:sp>
        <p:nvSpPr>
          <p:cNvPr id="40" name="Text 38"/>
          <p:cNvSpPr/>
          <p:nvPr/>
        </p:nvSpPr>
        <p:spPr>
          <a:xfrm>
            <a:off x="548640" y="3163824"/>
            <a:ext cx="4389120" cy="237744"/>
          </a:xfrm>
          <a:prstGeom prst="rect">
            <a:avLst/>
          </a:prstGeom>
          <a:noFill/>
          <a:ln/>
        </p:spPr>
        <p:txBody>
          <a:bodyPr wrap="square" lIns="0" tIns="0" rIns="0" bIns="0" rtlCol="0" anchor="ctr"/>
          <a:lstStyle/>
          <a:p>
            <a:pPr indent="0" marL="0">
              <a:buNone/>
            </a:pPr>
            <a:r>
              <a:rPr lang="en-US" sz="850" dirty="0">
                <a:solidFill>
                  <a:srgbClr val="1A2C3E"/>
                </a:solidFill>
              </a:rPr>
              <a:t>Impact Analysis — scenario + projections</a:t>
            </a:r>
            <a:endParaRPr lang="en-US" sz="850" dirty="0"/>
          </a:p>
        </p:txBody>
      </p:sp>
      <p:sp>
        <p:nvSpPr>
          <p:cNvPr id="41" name="Text 39"/>
          <p:cNvSpPr/>
          <p:nvPr/>
        </p:nvSpPr>
        <p:spPr>
          <a:xfrm>
            <a:off x="5029200" y="3163824"/>
            <a:ext cx="4114800" cy="237744"/>
          </a:xfrm>
          <a:prstGeom prst="rect">
            <a:avLst/>
          </a:prstGeom>
          <a:noFill/>
          <a:ln/>
        </p:spPr>
        <p:txBody>
          <a:bodyPr wrap="square" lIns="0" tIns="0" rIns="0" bIns="0" rtlCol="0" anchor="ctr"/>
          <a:lstStyle/>
          <a:p>
            <a:pPr indent="0" marL="0">
              <a:buNone/>
            </a:pPr>
            <a:r>
              <a:rPr lang="en-US" sz="800" dirty="0">
                <a:solidFill>
                  <a:srgbClr val="7F8C8D"/>
                </a:solidFill>
              </a:rPr>
              <a:t>AI economic model + form</a:t>
            </a:r>
            <a:endParaRPr lang="en-US" sz="800" dirty="0"/>
          </a:p>
        </p:txBody>
      </p:sp>
      <p:sp>
        <p:nvSpPr>
          <p:cNvPr id="42" name="Shape 40"/>
          <p:cNvSpPr/>
          <p:nvPr/>
        </p:nvSpPr>
        <p:spPr>
          <a:xfrm>
            <a:off x="9235440" y="3191256"/>
            <a:ext cx="2286000" cy="182880"/>
          </a:xfrm>
          <a:prstGeom prst="rect">
            <a:avLst/>
          </a:prstGeom>
          <a:solidFill>
            <a:srgbClr val="1E8449"/>
          </a:solidFill>
          <a:ln/>
        </p:spPr>
      </p:sp>
      <p:sp>
        <p:nvSpPr>
          <p:cNvPr id="43" name="Text 41"/>
          <p:cNvSpPr/>
          <p:nvPr/>
        </p:nvSpPr>
        <p:spPr>
          <a:xfrm>
            <a:off x="9235440" y="319125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44" name="Shape 42"/>
          <p:cNvSpPr/>
          <p:nvPr/>
        </p:nvSpPr>
        <p:spPr>
          <a:xfrm>
            <a:off x="365760" y="3419856"/>
            <a:ext cx="11430000" cy="274320"/>
          </a:xfrm>
          <a:prstGeom prst="rect">
            <a:avLst/>
          </a:prstGeom>
          <a:solidFill>
            <a:srgbClr val="FFFFFF"/>
          </a:solidFill>
          <a:ln w="3810">
            <a:solidFill>
              <a:srgbClr val="EAEEF2"/>
            </a:solidFill>
            <a:prstDash val="solid"/>
          </a:ln>
        </p:spPr>
      </p:sp>
      <p:sp>
        <p:nvSpPr>
          <p:cNvPr id="45" name="Text 43"/>
          <p:cNvSpPr/>
          <p:nvPr/>
        </p:nvSpPr>
        <p:spPr>
          <a:xfrm>
            <a:off x="548640" y="3438144"/>
            <a:ext cx="4389120" cy="237744"/>
          </a:xfrm>
          <a:prstGeom prst="rect">
            <a:avLst/>
          </a:prstGeom>
          <a:noFill/>
          <a:ln/>
        </p:spPr>
        <p:txBody>
          <a:bodyPr wrap="square" lIns="0" tIns="0" rIns="0" bIns="0" rtlCol="0" anchor="ctr"/>
          <a:lstStyle/>
          <a:p>
            <a:pPr indent="0" marL="0">
              <a:buNone/>
            </a:pPr>
            <a:r>
              <a:rPr lang="en-US" sz="850" dirty="0">
                <a:solidFill>
                  <a:srgbClr val="1A2C3E"/>
                </a:solidFill>
              </a:rPr>
              <a:t>PDF Report — 4 pages + AI cover image</a:t>
            </a:r>
            <a:endParaRPr lang="en-US" sz="850" dirty="0"/>
          </a:p>
        </p:txBody>
      </p:sp>
      <p:sp>
        <p:nvSpPr>
          <p:cNvPr id="46" name="Text 44"/>
          <p:cNvSpPr/>
          <p:nvPr/>
        </p:nvSpPr>
        <p:spPr>
          <a:xfrm>
            <a:off x="5029200" y="3438144"/>
            <a:ext cx="4114800" cy="237744"/>
          </a:xfrm>
          <a:prstGeom prst="rect">
            <a:avLst/>
          </a:prstGeom>
          <a:noFill/>
          <a:ln/>
        </p:spPr>
        <p:txBody>
          <a:bodyPr wrap="square" lIns="0" tIns="0" rIns="0" bIns="0" rtlCol="0" anchor="ctr"/>
          <a:lstStyle/>
          <a:p>
            <a:pPr indent="0" marL="0">
              <a:buNone/>
            </a:pPr>
            <a:r>
              <a:rPr lang="en-US" sz="800" dirty="0">
                <a:solidFill>
                  <a:srgbClr val="7F8C8D"/>
                </a:solidFill>
              </a:rPr>
              <a:t>Puppeteer + DALL-E + AWS S3</a:t>
            </a:r>
            <a:endParaRPr lang="en-US" sz="800" dirty="0"/>
          </a:p>
        </p:txBody>
      </p:sp>
      <p:sp>
        <p:nvSpPr>
          <p:cNvPr id="47" name="Shape 45"/>
          <p:cNvSpPr/>
          <p:nvPr/>
        </p:nvSpPr>
        <p:spPr>
          <a:xfrm>
            <a:off x="9235440" y="3465576"/>
            <a:ext cx="2286000" cy="182880"/>
          </a:xfrm>
          <a:prstGeom prst="rect">
            <a:avLst/>
          </a:prstGeom>
          <a:solidFill>
            <a:srgbClr val="1E8449"/>
          </a:solidFill>
          <a:ln/>
        </p:spPr>
      </p:sp>
      <p:sp>
        <p:nvSpPr>
          <p:cNvPr id="48" name="Text 46"/>
          <p:cNvSpPr/>
          <p:nvPr/>
        </p:nvSpPr>
        <p:spPr>
          <a:xfrm>
            <a:off x="9235440" y="346557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49" name="Shape 47"/>
          <p:cNvSpPr/>
          <p:nvPr/>
        </p:nvSpPr>
        <p:spPr>
          <a:xfrm>
            <a:off x="365760" y="3694176"/>
            <a:ext cx="11430000" cy="274320"/>
          </a:xfrm>
          <a:prstGeom prst="rect">
            <a:avLst/>
          </a:prstGeom>
          <a:solidFill>
            <a:srgbClr val="F7F9FC"/>
          </a:solidFill>
          <a:ln w="3810">
            <a:solidFill>
              <a:srgbClr val="EAEEF2"/>
            </a:solidFill>
            <a:prstDash val="solid"/>
          </a:ln>
        </p:spPr>
      </p:sp>
      <p:sp>
        <p:nvSpPr>
          <p:cNvPr id="50" name="Text 48"/>
          <p:cNvSpPr/>
          <p:nvPr/>
        </p:nvSpPr>
        <p:spPr>
          <a:xfrm>
            <a:off x="548640" y="3712464"/>
            <a:ext cx="4389120" cy="237744"/>
          </a:xfrm>
          <a:prstGeom prst="rect">
            <a:avLst/>
          </a:prstGeom>
          <a:noFill/>
          <a:ln/>
        </p:spPr>
        <p:txBody>
          <a:bodyPr wrap="square" lIns="0" tIns="0" rIns="0" bIns="0" rtlCol="0" anchor="ctr"/>
          <a:lstStyle/>
          <a:p>
            <a:pPr indent="0" marL="0">
              <a:buNone/>
            </a:pPr>
            <a:r>
              <a:rPr lang="en-US" sz="850" dirty="0">
                <a:solidFill>
                  <a:srgbClr val="1A2C3E"/>
                </a:solidFill>
              </a:rPr>
              <a:t>Footer — remove "DIFC, Dubai, UAE"</a:t>
            </a:r>
            <a:endParaRPr lang="en-US" sz="850" dirty="0"/>
          </a:p>
        </p:txBody>
      </p:sp>
      <p:sp>
        <p:nvSpPr>
          <p:cNvPr id="51" name="Text 49"/>
          <p:cNvSpPr/>
          <p:nvPr/>
        </p:nvSpPr>
        <p:spPr>
          <a:xfrm>
            <a:off x="5029200" y="3712464"/>
            <a:ext cx="4114800" cy="237744"/>
          </a:xfrm>
          <a:prstGeom prst="rect">
            <a:avLst/>
          </a:prstGeom>
          <a:noFill/>
          <a:ln/>
        </p:spPr>
        <p:txBody>
          <a:bodyPr wrap="square" lIns="0" tIns="0" rIns="0" bIns="0" rtlCol="0" anchor="ctr"/>
          <a:lstStyle/>
          <a:p>
            <a:pPr indent="0" marL="0">
              <a:buNone/>
            </a:pPr>
            <a:r>
              <a:rPr lang="en-US" sz="800" dirty="0">
                <a:solidFill>
                  <a:srgbClr val="7F8C8D"/>
                </a:solidFill>
              </a:rPr>
              <a:t>Direct code edit</a:t>
            </a:r>
            <a:endParaRPr lang="en-US" sz="800" dirty="0"/>
          </a:p>
        </p:txBody>
      </p:sp>
      <p:sp>
        <p:nvSpPr>
          <p:cNvPr id="52" name="Shape 50"/>
          <p:cNvSpPr/>
          <p:nvPr/>
        </p:nvSpPr>
        <p:spPr>
          <a:xfrm>
            <a:off x="9235440" y="3739896"/>
            <a:ext cx="2286000" cy="182880"/>
          </a:xfrm>
          <a:prstGeom prst="rect">
            <a:avLst/>
          </a:prstGeom>
          <a:solidFill>
            <a:srgbClr val="E74C3C"/>
          </a:solidFill>
          <a:ln/>
        </p:spPr>
      </p:sp>
      <p:sp>
        <p:nvSpPr>
          <p:cNvPr id="53" name="Text 51"/>
          <p:cNvSpPr/>
          <p:nvPr/>
        </p:nvSpPr>
        <p:spPr>
          <a:xfrm>
            <a:off x="9235440" y="373989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IMMEDIATE</a:t>
            </a:r>
            <a:endParaRPr lang="en-US" sz="700" dirty="0"/>
          </a:p>
        </p:txBody>
      </p:sp>
      <p:sp>
        <p:nvSpPr>
          <p:cNvPr id="54" name="Shape 52"/>
          <p:cNvSpPr/>
          <p:nvPr/>
        </p:nvSpPr>
        <p:spPr>
          <a:xfrm>
            <a:off x="365760" y="3968496"/>
            <a:ext cx="11430000" cy="274320"/>
          </a:xfrm>
          <a:prstGeom prst="rect">
            <a:avLst/>
          </a:prstGeom>
          <a:solidFill>
            <a:srgbClr val="FFFFFF"/>
          </a:solidFill>
          <a:ln w="3810">
            <a:solidFill>
              <a:srgbClr val="EAEEF2"/>
            </a:solidFill>
            <a:prstDash val="solid"/>
          </a:ln>
        </p:spPr>
      </p:sp>
      <p:sp>
        <p:nvSpPr>
          <p:cNvPr id="55" name="Text 53"/>
          <p:cNvSpPr/>
          <p:nvPr/>
        </p:nvSpPr>
        <p:spPr>
          <a:xfrm>
            <a:off x="548640" y="3986784"/>
            <a:ext cx="4389120" cy="237744"/>
          </a:xfrm>
          <a:prstGeom prst="rect">
            <a:avLst/>
          </a:prstGeom>
          <a:noFill/>
          <a:ln/>
        </p:spPr>
        <p:txBody>
          <a:bodyPr wrap="square" lIns="0" tIns="0" rIns="0" bIns="0" rtlCol="0" anchor="ctr"/>
          <a:lstStyle/>
          <a:p>
            <a:pPr indent="0" marL="0">
              <a:buNone/>
            </a:pPr>
            <a:r>
              <a:rPr lang="en-US" sz="850" dirty="0">
                <a:solidFill>
                  <a:srgbClr val="1A2C3E"/>
                </a:solidFill>
              </a:rPr>
              <a:t>Brand Colors #1a2c3e #2ecc71 #f1c40f everywhere</a:t>
            </a:r>
            <a:endParaRPr lang="en-US" sz="850" dirty="0"/>
          </a:p>
        </p:txBody>
      </p:sp>
      <p:sp>
        <p:nvSpPr>
          <p:cNvPr id="56" name="Text 54"/>
          <p:cNvSpPr/>
          <p:nvPr/>
        </p:nvSpPr>
        <p:spPr>
          <a:xfrm>
            <a:off x="5029200" y="3986784"/>
            <a:ext cx="4114800" cy="237744"/>
          </a:xfrm>
          <a:prstGeom prst="rect">
            <a:avLst/>
          </a:prstGeom>
          <a:noFill/>
          <a:ln/>
        </p:spPr>
        <p:txBody>
          <a:bodyPr wrap="square" lIns="0" tIns="0" rIns="0" bIns="0" rtlCol="0" anchor="ctr"/>
          <a:lstStyle/>
          <a:p>
            <a:pPr indent="0" marL="0">
              <a:buNone/>
            </a:pPr>
            <a:r>
              <a:rPr lang="en-US" sz="800" dirty="0">
                <a:solidFill>
                  <a:srgbClr val="7F8C8D"/>
                </a:solidFill>
              </a:rPr>
              <a:t>CSS custom properties + Tailwind</a:t>
            </a:r>
            <a:endParaRPr lang="en-US" sz="800" dirty="0"/>
          </a:p>
        </p:txBody>
      </p:sp>
      <p:sp>
        <p:nvSpPr>
          <p:cNvPr id="57" name="Shape 55"/>
          <p:cNvSpPr/>
          <p:nvPr/>
        </p:nvSpPr>
        <p:spPr>
          <a:xfrm>
            <a:off x="9235440" y="4014216"/>
            <a:ext cx="2286000" cy="182880"/>
          </a:xfrm>
          <a:prstGeom prst="rect">
            <a:avLst/>
          </a:prstGeom>
          <a:solidFill>
            <a:srgbClr val="2ECC71"/>
          </a:solidFill>
          <a:ln/>
        </p:spPr>
      </p:sp>
      <p:sp>
        <p:nvSpPr>
          <p:cNvPr id="58" name="Text 56"/>
          <p:cNvSpPr/>
          <p:nvPr/>
        </p:nvSpPr>
        <p:spPr>
          <a:xfrm>
            <a:off x="9235440" y="4014216"/>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APPLIED</a:t>
            </a:r>
            <a:endParaRPr lang="en-US" sz="700" dirty="0"/>
          </a:p>
        </p:txBody>
      </p:sp>
      <p:sp>
        <p:nvSpPr>
          <p:cNvPr id="59" name="Shape 57"/>
          <p:cNvSpPr/>
          <p:nvPr/>
        </p:nvSpPr>
        <p:spPr>
          <a:xfrm>
            <a:off x="365760" y="4242816"/>
            <a:ext cx="11430000" cy="292608"/>
          </a:xfrm>
          <a:prstGeom prst="rect">
            <a:avLst/>
          </a:prstGeom>
          <a:solidFill>
            <a:srgbClr val="F1C40F"/>
          </a:solidFill>
          <a:ln/>
        </p:spPr>
      </p:sp>
      <p:sp>
        <p:nvSpPr>
          <p:cNvPr id="60" name="Shape 58"/>
          <p:cNvSpPr/>
          <p:nvPr/>
        </p:nvSpPr>
        <p:spPr>
          <a:xfrm>
            <a:off x="365760" y="4242816"/>
            <a:ext cx="640080" cy="292608"/>
          </a:xfrm>
          <a:prstGeom prst="rect">
            <a:avLst/>
          </a:prstGeom>
          <a:solidFill>
            <a:srgbClr val="1E3A5F"/>
          </a:solidFill>
          <a:ln/>
        </p:spPr>
      </p:sp>
      <p:sp>
        <p:nvSpPr>
          <p:cNvPr id="61" name="Text 59"/>
          <p:cNvSpPr/>
          <p:nvPr/>
        </p:nvSpPr>
        <p:spPr>
          <a:xfrm>
            <a:off x="365760" y="4242816"/>
            <a:ext cx="640080" cy="292608"/>
          </a:xfrm>
          <a:prstGeom prst="rect">
            <a:avLst/>
          </a:prstGeom>
          <a:noFill/>
          <a:ln/>
        </p:spPr>
        <p:txBody>
          <a:bodyPr wrap="square" lIns="0" tIns="0" rIns="0" bIns="0" rtlCol="0" anchor="ctr"/>
          <a:lstStyle/>
          <a:p>
            <a:pPr algn="ctr" indent="0" marL="0">
              <a:buNone/>
            </a:pPr>
            <a:r>
              <a:rPr lang="en-US" sz="1200" b="1" dirty="0">
                <a:solidFill>
                  <a:srgbClr val="FFFFFF"/>
                </a:solidFill>
              </a:rPr>
              <a:t>P1</a:t>
            </a:r>
            <a:endParaRPr lang="en-US" sz="1200" dirty="0"/>
          </a:p>
        </p:txBody>
      </p:sp>
      <p:sp>
        <p:nvSpPr>
          <p:cNvPr id="62" name="Text 60"/>
          <p:cNvSpPr/>
          <p:nvPr/>
        </p:nvSpPr>
        <p:spPr>
          <a:xfrm>
            <a:off x="1051560" y="4242816"/>
            <a:ext cx="7315200" cy="292608"/>
          </a:xfrm>
          <a:prstGeom prst="rect">
            <a:avLst/>
          </a:prstGeom>
          <a:noFill/>
          <a:ln/>
        </p:spPr>
        <p:txBody>
          <a:bodyPr wrap="square" lIns="0" tIns="0" rIns="0" bIns="0" rtlCol="0" anchor="ctr"/>
          <a:lstStyle/>
          <a:p>
            <a:pPr indent="0" marL="0">
              <a:buNone/>
            </a:pPr>
            <a:r>
              <a:rPr lang="en-US" sz="900" b="1" dirty="0">
                <a:solidFill>
                  <a:srgbClr val="FFFFFF"/>
                </a:solidFill>
              </a:rPr>
              <a:t>HIGH PRIORITY — CORE FEATURES</a:t>
            </a:r>
            <a:endParaRPr lang="en-US" sz="900" dirty="0"/>
          </a:p>
        </p:txBody>
      </p:sp>
      <p:sp>
        <p:nvSpPr>
          <p:cNvPr id="63" name="Shape 61"/>
          <p:cNvSpPr/>
          <p:nvPr/>
        </p:nvSpPr>
        <p:spPr>
          <a:xfrm>
            <a:off x="365760" y="4535424"/>
            <a:ext cx="11430000" cy="274320"/>
          </a:xfrm>
          <a:prstGeom prst="rect">
            <a:avLst/>
          </a:prstGeom>
          <a:solidFill>
            <a:srgbClr val="FFFFFF"/>
          </a:solidFill>
          <a:ln w="3810">
            <a:solidFill>
              <a:srgbClr val="EAEEF2"/>
            </a:solidFill>
            <a:prstDash val="solid"/>
          </a:ln>
        </p:spPr>
      </p:sp>
      <p:sp>
        <p:nvSpPr>
          <p:cNvPr id="64" name="Text 62"/>
          <p:cNvSpPr/>
          <p:nvPr/>
        </p:nvSpPr>
        <p:spPr>
          <a:xfrm>
            <a:off x="548640" y="4553712"/>
            <a:ext cx="4389120" cy="237744"/>
          </a:xfrm>
          <a:prstGeom prst="rect">
            <a:avLst/>
          </a:prstGeom>
          <a:noFill/>
          <a:ln/>
        </p:spPr>
        <p:txBody>
          <a:bodyPr wrap="square" lIns="0" tIns="0" rIns="0" bIns="0" rtlCol="0" anchor="ctr"/>
          <a:lstStyle/>
          <a:p>
            <a:pPr indent="0" marL="0">
              <a:buNone/>
            </a:pPr>
            <a:r>
              <a:rPr lang="en-US" sz="850" dirty="0">
                <a:solidFill>
                  <a:srgbClr val="1A2C3E"/>
                </a:solidFill>
              </a:rPr>
              <a:t>Sector Attractiveness Matrix — D3 scatter</a:t>
            </a:r>
            <a:endParaRPr lang="en-US" sz="850" dirty="0"/>
          </a:p>
        </p:txBody>
      </p:sp>
      <p:sp>
        <p:nvSpPr>
          <p:cNvPr id="65" name="Text 63"/>
          <p:cNvSpPr/>
          <p:nvPr/>
        </p:nvSpPr>
        <p:spPr>
          <a:xfrm>
            <a:off x="5029200" y="4553712"/>
            <a:ext cx="4114800" cy="237744"/>
          </a:xfrm>
          <a:prstGeom prst="rect">
            <a:avLst/>
          </a:prstGeom>
          <a:noFill/>
          <a:ln/>
        </p:spPr>
        <p:txBody>
          <a:bodyPr wrap="square" lIns="0" tIns="0" rIns="0" bIns="0" rtlCol="0" anchor="ctr"/>
          <a:lstStyle/>
          <a:p>
            <a:pPr indent="0" marL="0">
              <a:buNone/>
            </a:pPr>
            <a:r>
              <a:rPr lang="en-US" sz="800" dirty="0">
                <a:solidFill>
                  <a:srgbClr val="7F8C8D"/>
                </a:solidFill>
              </a:rPr>
              <a:t>D3.js scatter + zoom/pan</a:t>
            </a:r>
            <a:endParaRPr lang="en-US" sz="800" dirty="0"/>
          </a:p>
        </p:txBody>
      </p:sp>
      <p:sp>
        <p:nvSpPr>
          <p:cNvPr id="66" name="Shape 64"/>
          <p:cNvSpPr/>
          <p:nvPr/>
        </p:nvSpPr>
        <p:spPr>
          <a:xfrm>
            <a:off x="9235440" y="4581144"/>
            <a:ext cx="2286000" cy="182880"/>
          </a:xfrm>
          <a:prstGeom prst="rect">
            <a:avLst/>
          </a:prstGeom>
          <a:solidFill>
            <a:srgbClr val="1E8449"/>
          </a:solidFill>
          <a:ln/>
        </p:spPr>
      </p:sp>
      <p:sp>
        <p:nvSpPr>
          <p:cNvPr id="67" name="Text 65"/>
          <p:cNvSpPr/>
          <p:nvPr/>
        </p:nvSpPr>
        <p:spPr>
          <a:xfrm>
            <a:off x="9235440" y="4581144"/>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68" name="Shape 66"/>
          <p:cNvSpPr/>
          <p:nvPr/>
        </p:nvSpPr>
        <p:spPr>
          <a:xfrm>
            <a:off x="365760" y="4809744"/>
            <a:ext cx="11430000" cy="274320"/>
          </a:xfrm>
          <a:prstGeom prst="rect">
            <a:avLst/>
          </a:prstGeom>
          <a:solidFill>
            <a:srgbClr val="F7F9FC"/>
          </a:solidFill>
          <a:ln w="3810">
            <a:solidFill>
              <a:srgbClr val="EAEEF2"/>
            </a:solidFill>
            <a:prstDash val="solid"/>
          </a:ln>
        </p:spPr>
      </p:sp>
      <p:sp>
        <p:nvSpPr>
          <p:cNvPr id="69" name="Text 67"/>
          <p:cNvSpPr/>
          <p:nvPr/>
        </p:nvSpPr>
        <p:spPr>
          <a:xfrm>
            <a:off x="548640" y="4828032"/>
            <a:ext cx="4389120" cy="237744"/>
          </a:xfrm>
          <a:prstGeom prst="rect">
            <a:avLst/>
          </a:prstGeom>
          <a:noFill/>
          <a:ln/>
        </p:spPr>
        <p:txBody>
          <a:bodyPr wrap="square" lIns="0" tIns="0" rIns="0" bIns="0" rtlCol="0" anchor="ctr"/>
          <a:lstStyle/>
          <a:p>
            <a:pPr indent="0" marL="0">
              <a:buNone/>
            </a:pPr>
            <a:r>
              <a:rPr lang="en-US" sz="850" dirty="0">
                <a:solidFill>
                  <a:srgbClr val="1A2C3E"/>
                </a:solidFill>
              </a:rPr>
              <a:t>Investment Zones Map — 3D polygons</a:t>
            </a:r>
            <a:endParaRPr lang="en-US" sz="850" dirty="0"/>
          </a:p>
        </p:txBody>
      </p:sp>
      <p:sp>
        <p:nvSpPr>
          <p:cNvPr id="70" name="Text 68"/>
          <p:cNvSpPr/>
          <p:nvPr/>
        </p:nvSpPr>
        <p:spPr>
          <a:xfrm>
            <a:off x="5029200" y="4828032"/>
            <a:ext cx="4114800" cy="237744"/>
          </a:xfrm>
          <a:prstGeom prst="rect">
            <a:avLst/>
          </a:prstGeom>
          <a:noFill/>
          <a:ln/>
        </p:spPr>
        <p:txBody>
          <a:bodyPr wrap="square" lIns="0" tIns="0" rIns="0" bIns="0" rtlCol="0" anchor="ctr"/>
          <a:lstStyle/>
          <a:p>
            <a:pPr indent="0" marL="0">
              <a:buNone/>
            </a:pPr>
            <a:r>
              <a:rPr lang="en-US" sz="800" dirty="0">
                <a:solidFill>
                  <a:srgbClr val="7F8C8D"/>
                </a:solidFill>
              </a:rPr>
              <a:t>Three.js extruded polygons</a:t>
            </a:r>
            <a:endParaRPr lang="en-US" sz="800" dirty="0"/>
          </a:p>
        </p:txBody>
      </p:sp>
      <p:sp>
        <p:nvSpPr>
          <p:cNvPr id="71" name="Shape 69"/>
          <p:cNvSpPr/>
          <p:nvPr/>
        </p:nvSpPr>
        <p:spPr>
          <a:xfrm>
            <a:off x="9235440" y="4855464"/>
            <a:ext cx="2286000" cy="182880"/>
          </a:xfrm>
          <a:prstGeom prst="rect">
            <a:avLst/>
          </a:prstGeom>
          <a:solidFill>
            <a:srgbClr val="1E8449"/>
          </a:solidFill>
          <a:ln/>
        </p:spPr>
      </p:sp>
      <p:sp>
        <p:nvSpPr>
          <p:cNvPr id="72" name="Text 70"/>
          <p:cNvSpPr/>
          <p:nvPr/>
        </p:nvSpPr>
        <p:spPr>
          <a:xfrm>
            <a:off x="9235440" y="4855464"/>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73" name="Shape 71"/>
          <p:cNvSpPr/>
          <p:nvPr/>
        </p:nvSpPr>
        <p:spPr>
          <a:xfrm>
            <a:off x="365760" y="5084064"/>
            <a:ext cx="11430000" cy="274320"/>
          </a:xfrm>
          <a:prstGeom prst="rect">
            <a:avLst/>
          </a:prstGeom>
          <a:solidFill>
            <a:srgbClr val="FFFFFF"/>
          </a:solidFill>
          <a:ln w="3810">
            <a:solidFill>
              <a:srgbClr val="EAEEF2"/>
            </a:solidFill>
            <a:prstDash val="solid"/>
          </a:ln>
        </p:spPr>
      </p:sp>
      <p:sp>
        <p:nvSpPr>
          <p:cNvPr id="74" name="Text 72"/>
          <p:cNvSpPr/>
          <p:nvPr/>
        </p:nvSpPr>
        <p:spPr>
          <a:xfrm>
            <a:off x="548640" y="5102352"/>
            <a:ext cx="4389120" cy="237744"/>
          </a:xfrm>
          <a:prstGeom prst="rect">
            <a:avLst/>
          </a:prstGeom>
          <a:noFill/>
          <a:ln/>
        </p:spPr>
        <p:txBody>
          <a:bodyPr wrap="square" lIns="0" tIns="0" rIns="0" bIns="0" rtlCol="0" anchor="ctr"/>
          <a:lstStyle/>
          <a:p>
            <a:pPr indent="0" marL="0">
              <a:buNone/>
            </a:pPr>
            <a:r>
              <a:rPr lang="en-US" sz="850" dirty="0">
                <a:solidFill>
                  <a:srgbClr val="1A2C3E"/>
                </a:solidFill>
              </a:rPr>
              <a:t>Policy &amp; Incentives Widget — cards</a:t>
            </a:r>
            <a:endParaRPr lang="en-US" sz="850" dirty="0"/>
          </a:p>
        </p:txBody>
      </p:sp>
      <p:sp>
        <p:nvSpPr>
          <p:cNvPr id="75" name="Text 73"/>
          <p:cNvSpPr/>
          <p:nvPr/>
        </p:nvSpPr>
        <p:spPr>
          <a:xfrm>
            <a:off x="5029200" y="5102352"/>
            <a:ext cx="4114800" cy="237744"/>
          </a:xfrm>
          <a:prstGeom prst="rect">
            <a:avLst/>
          </a:prstGeom>
          <a:noFill/>
          <a:ln/>
        </p:spPr>
        <p:txBody>
          <a:bodyPr wrap="square" lIns="0" tIns="0" rIns="0" bIns="0" rtlCol="0" anchor="ctr"/>
          <a:lstStyle/>
          <a:p>
            <a:pPr indent="0" marL="0">
              <a:buNone/>
            </a:pPr>
            <a:r>
              <a:rPr lang="en-US" sz="800" dirty="0">
                <a:solidFill>
                  <a:srgbClr val="7F8C8D"/>
                </a:solidFill>
              </a:rPr>
              <a:t>React-Window virtualized</a:t>
            </a:r>
            <a:endParaRPr lang="en-US" sz="800" dirty="0"/>
          </a:p>
        </p:txBody>
      </p:sp>
      <p:sp>
        <p:nvSpPr>
          <p:cNvPr id="76" name="Shape 74"/>
          <p:cNvSpPr/>
          <p:nvPr/>
        </p:nvSpPr>
        <p:spPr>
          <a:xfrm>
            <a:off x="9235440" y="5129784"/>
            <a:ext cx="2286000" cy="182880"/>
          </a:xfrm>
          <a:prstGeom prst="rect">
            <a:avLst/>
          </a:prstGeom>
          <a:solidFill>
            <a:srgbClr val="1E8449"/>
          </a:solidFill>
          <a:ln/>
        </p:spPr>
      </p:sp>
      <p:sp>
        <p:nvSpPr>
          <p:cNvPr id="77" name="Text 75"/>
          <p:cNvSpPr/>
          <p:nvPr/>
        </p:nvSpPr>
        <p:spPr>
          <a:xfrm>
            <a:off x="9235440" y="5129784"/>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78" name="Shape 76"/>
          <p:cNvSpPr/>
          <p:nvPr/>
        </p:nvSpPr>
        <p:spPr>
          <a:xfrm>
            <a:off x="365760" y="5358384"/>
            <a:ext cx="11430000" cy="274320"/>
          </a:xfrm>
          <a:prstGeom prst="rect">
            <a:avLst/>
          </a:prstGeom>
          <a:solidFill>
            <a:srgbClr val="F7F9FC"/>
          </a:solidFill>
          <a:ln w="3810">
            <a:solidFill>
              <a:srgbClr val="EAEEF2"/>
            </a:solidFill>
            <a:prstDash val="solid"/>
          </a:ln>
        </p:spPr>
      </p:sp>
      <p:sp>
        <p:nvSpPr>
          <p:cNvPr id="79" name="Text 77"/>
          <p:cNvSpPr/>
          <p:nvPr/>
        </p:nvSpPr>
        <p:spPr>
          <a:xfrm>
            <a:off x="548640" y="5376672"/>
            <a:ext cx="4389120" cy="237744"/>
          </a:xfrm>
          <a:prstGeom prst="rect">
            <a:avLst/>
          </a:prstGeom>
          <a:noFill/>
          <a:ln/>
        </p:spPr>
        <p:txBody>
          <a:bodyPr wrap="square" lIns="0" tIns="0" rIns="0" bIns="0" rtlCol="0" anchor="ctr"/>
          <a:lstStyle/>
          <a:p>
            <a:pPr indent="0" marL="0">
              <a:buNone/>
            </a:pPr>
            <a:r>
              <a:rPr lang="en-US" sz="850" dirty="0">
                <a:solidFill>
                  <a:srgbClr val="1A2C3E"/>
                </a:solidFill>
              </a:rPr>
              <a:t>Signals Feed — WebSocket real-time</a:t>
            </a:r>
            <a:endParaRPr lang="en-US" sz="850" dirty="0"/>
          </a:p>
        </p:txBody>
      </p:sp>
      <p:sp>
        <p:nvSpPr>
          <p:cNvPr id="80" name="Text 78"/>
          <p:cNvSpPr/>
          <p:nvPr/>
        </p:nvSpPr>
        <p:spPr>
          <a:xfrm>
            <a:off x="5029200" y="5376672"/>
            <a:ext cx="4114800" cy="237744"/>
          </a:xfrm>
          <a:prstGeom prst="rect">
            <a:avLst/>
          </a:prstGeom>
          <a:noFill/>
          <a:ln/>
        </p:spPr>
        <p:txBody>
          <a:bodyPr wrap="square" lIns="0" tIns="0" rIns="0" bIns="0" rtlCol="0" anchor="ctr"/>
          <a:lstStyle/>
          <a:p>
            <a:pPr indent="0" marL="0">
              <a:buNone/>
            </a:pPr>
            <a:r>
              <a:rPr lang="en-US" sz="800" dirty="0">
                <a:solidFill>
                  <a:srgbClr val="7F8C8D"/>
                </a:solidFill>
              </a:rPr>
              <a:t>Socket.io-client + backend WS</a:t>
            </a:r>
            <a:endParaRPr lang="en-US" sz="800" dirty="0"/>
          </a:p>
        </p:txBody>
      </p:sp>
      <p:sp>
        <p:nvSpPr>
          <p:cNvPr id="81" name="Shape 79"/>
          <p:cNvSpPr/>
          <p:nvPr/>
        </p:nvSpPr>
        <p:spPr>
          <a:xfrm>
            <a:off x="9235440" y="5404104"/>
            <a:ext cx="2286000" cy="182880"/>
          </a:xfrm>
          <a:prstGeom prst="rect">
            <a:avLst/>
          </a:prstGeom>
          <a:solidFill>
            <a:srgbClr val="1E8449"/>
          </a:solidFill>
          <a:ln/>
        </p:spPr>
      </p:sp>
      <p:sp>
        <p:nvSpPr>
          <p:cNvPr id="82" name="Text 80"/>
          <p:cNvSpPr/>
          <p:nvPr/>
        </p:nvSpPr>
        <p:spPr>
          <a:xfrm>
            <a:off x="9235440" y="5404104"/>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83" name="Shape 81"/>
          <p:cNvSpPr/>
          <p:nvPr/>
        </p:nvSpPr>
        <p:spPr>
          <a:xfrm>
            <a:off x="365760" y="5632704"/>
            <a:ext cx="11430000" cy="274320"/>
          </a:xfrm>
          <a:prstGeom prst="rect">
            <a:avLst/>
          </a:prstGeom>
          <a:solidFill>
            <a:srgbClr val="FFFFFF"/>
          </a:solidFill>
          <a:ln w="3810">
            <a:solidFill>
              <a:srgbClr val="EAEEF2"/>
            </a:solidFill>
            <a:prstDash val="solid"/>
          </a:ln>
        </p:spPr>
      </p:sp>
      <p:sp>
        <p:nvSpPr>
          <p:cNvPr id="84" name="Text 82"/>
          <p:cNvSpPr/>
          <p:nvPr/>
        </p:nvSpPr>
        <p:spPr>
          <a:xfrm>
            <a:off x="548640" y="5650992"/>
            <a:ext cx="4389120" cy="237744"/>
          </a:xfrm>
          <a:prstGeom prst="rect">
            <a:avLst/>
          </a:prstGeom>
          <a:noFill/>
          <a:ln/>
        </p:spPr>
        <p:txBody>
          <a:bodyPr wrap="square" lIns="0" tIns="0" rIns="0" bIns="0" rtlCol="0" anchor="ctr"/>
          <a:lstStyle/>
          <a:p>
            <a:pPr indent="0" marL="0">
              <a:buNone/>
            </a:pPr>
            <a:r>
              <a:rPr lang="en-US" sz="850" dirty="0">
                <a:solidFill>
                  <a:srgbClr val="1A2C3E"/>
                </a:solidFill>
              </a:rPr>
              <a:t>Filters: Region, Sector, Size, Search</a:t>
            </a:r>
            <a:endParaRPr lang="en-US" sz="850" dirty="0"/>
          </a:p>
        </p:txBody>
      </p:sp>
      <p:sp>
        <p:nvSpPr>
          <p:cNvPr id="85" name="Text 83"/>
          <p:cNvSpPr/>
          <p:nvPr/>
        </p:nvSpPr>
        <p:spPr>
          <a:xfrm>
            <a:off x="5029200" y="5650992"/>
            <a:ext cx="4114800" cy="237744"/>
          </a:xfrm>
          <a:prstGeom prst="rect">
            <a:avLst/>
          </a:prstGeom>
          <a:noFill/>
          <a:ln/>
        </p:spPr>
        <p:txBody>
          <a:bodyPr wrap="square" lIns="0" tIns="0" rIns="0" bIns="0" rtlCol="0" anchor="ctr"/>
          <a:lstStyle/>
          <a:p>
            <a:pPr indent="0" marL="0">
              <a:buNone/>
            </a:pPr>
            <a:r>
              <a:rPr lang="en-US" sz="800" dirty="0">
                <a:solidFill>
                  <a:srgbClr val="7F8C8D"/>
                </a:solidFill>
              </a:rPr>
              <a:t>React state + API query params</a:t>
            </a:r>
            <a:endParaRPr lang="en-US" sz="800" dirty="0"/>
          </a:p>
        </p:txBody>
      </p:sp>
      <p:sp>
        <p:nvSpPr>
          <p:cNvPr id="86" name="Shape 84"/>
          <p:cNvSpPr/>
          <p:nvPr/>
        </p:nvSpPr>
        <p:spPr>
          <a:xfrm>
            <a:off x="9235440" y="5678424"/>
            <a:ext cx="2286000" cy="182880"/>
          </a:xfrm>
          <a:prstGeom prst="rect">
            <a:avLst/>
          </a:prstGeom>
          <a:solidFill>
            <a:srgbClr val="1E8449"/>
          </a:solidFill>
          <a:ln/>
        </p:spPr>
      </p:sp>
      <p:sp>
        <p:nvSpPr>
          <p:cNvPr id="87" name="Text 85"/>
          <p:cNvSpPr/>
          <p:nvPr/>
        </p:nvSpPr>
        <p:spPr>
          <a:xfrm>
            <a:off x="9235440" y="5678424"/>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FULLY FUNCTIONAL</a:t>
            </a:r>
            <a:endParaRPr lang="en-US" sz="700" dirty="0"/>
          </a:p>
        </p:txBody>
      </p:sp>
      <p:sp>
        <p:nvSpPr>
          <p:cNvPr id="88" name="Shape 86"/>
          <p:cNvSpPr/>
          <p:nvPr/>
        </p:nvSpPr>
        <p:spPr>
          <a:xfrm>
            <a:off x="365760" y="5907024"/>
            <a:ext cx="11430000" cy="292608"/>
          </a:xfrm>
          <a:prstGeom prst="rect">
            <a:avLst/>
          </a:prstGeom>
          <a:solidFill>
            <a:srgbClr val="3498DB"/>
          </a:solidFill>
          <a:ln/>
        </p:spPr>
      </p:sp>
      <p:sp>
        <p:nvSpPr>
          <p:cNvPr id="89" name="Shape 87"/>
          <p:cNvSpPr/>
          <p:nvPr/>
        </p:nvSpPr>
        <p:spPr>
          <a:xfrm>
            <a:off x="365760" y="5907024"/>
            <a:ext cx="640080" cy="292608"/>
          </a:xfrm>
          <a:prstGeom prst="rect">
            <a:avLst/>
          </a:prstGeom>
          <a:solidFill>
            <a:srgbClr val="1E3A5F"/>
          </a:solidFill>
          <a:ln/>
        </p:spPr>
      </p:sp>
      <p:sp>
        <p:nvSpPr>
          <p:cNvPr id="90" name="Text 88"/>
          <p:cNvSpPr/>
          <p:nvPr/>
        </p:nvSpPr>
        <p:spPr>
          <a:xfrm>
            <a:off x="365760" y="5907024"/>
            <a:ext cx="640080" cy="292608"/>
          </a:xfrm>
          <a:prstGeom prst="rect">
            <a:avLst/>
          </a:prstGeom>
          <a:noFill/>
          <a:ln/>
        </p:spPr>
        <p:txBody>
          <a:bodyPr wrap="square" lIns="0" tIns="0" rIns="0" bIns="0" rtlCol="0" anchor="ctr"/>
          <a:lstStyle/>
          <a:p>
            <a:pPr algn="ctr" indent="0" marL="0">
              <a:buNone/>
            </a:pPr>
            <a:r>
              <a:rPr lang="en-US" sz="1200" b="1" dirty="0">
                <a:solidFill>
                  <a:srgbClr val="FFFFFF"/>
                </a:solidFill>
              </a:rPr>
              <a:t>P2</a:t>
            </a:r>
            <a:endParaRPr lang="en-US" sz="1200" dirty="0"/>
          </a:p>
        </p:txBody>
      </p:sp>
      <p:sp>
        <p:nvSpPr>
          <p:cNvPr id="91" name="Text 89"/>
          <p:cNvSpPr/>
          <p:nvPr/>
        </p:nvSpPr>
        <p:spPr>
          <a:xfrm>
            <a:off x="1051560" y="5907024"/>
            <a:ext cx="7315200" cy="292608"/>
          </a:xfrm>
          <a:prstGeom prst="rect">
            <a:avLst/>
          </a:prstGeom>
          <a:noFill/>
          <a:ln/>
        </p:spPr>
        <p:txBody>
          <a:bodyPr wrap="square" lIns="0" tIns="0" rIns="0" bIns="0" rtlCol="0" anchor="ctr"/>
          <a:lstStyle/>
          <a:p>
            <a:pPr indent="0" marL="0">
              <a:buNone/>
            </a:pPr>
            <a:r>
              <a:rPr lang="en-US" sz="900" b="1" dirty="0">
                <a:solidFill>
                  <a:srgbClr val="FFFFFF"/>
                </a:solidFill>
              </a:rPr>
              <a:t>IMPORTANT — COMPLETE PLATFORM</a:t>
            </a:r>
            <a:endParaRPr lang="en-US" sz="900" dirty="0"/>
          </a:p>
        </p:txBody>
      </p:sp>
      <p:sp>
        <p:nvSpPr>
          <p:cNvPr id="92" name="Shape 90"/>
          <p:cNvSpPr/>
          <p:nvPr/>
        </p:nvSpPr>
        <p:spPr>
          <a:xfrm>
            <a:off x="365760" y="6199632"/>
            <a:ext cx="11430000" cy="274320"/>
          </a:xfrm>
          <a:prstGeom prst="rect">
            <a:avLst/>
          </a:prstGeom>
          <a:solidFill>
            <a:srgbClr val="FFFFFF"/>
          </a:solidFill>
          <a:ln w="3810">
            <a:solidFill>
              <a:srgbClr val="EAEEF2"/>
            </a:solidFill>
            <a:prstDash val="solid"/>
          </a:ln>
        </p:spPr>
      </p:sp>
      <p:sp>
        <p:nvSpPr>
          <p:cNvPr id="93" name="Text 91"/>
          <p:cNvSpPr/>
          <p:nvPr/>
        </p:nvSpPr>
        <p:spPr>
          <a:xfrm>
            <a:off x="548640" y="6217920"/>
            <a:ext cx="4389120" cy="237744"/>
          </a:xfrm>
          <a:prstGeom prst="rect">
            <a:avLst/>
          </a:prstGeom>
          <a:noFill/>
          <a:ln/>
        </p:spPr>
        <p:txBody>
          <a:bodyPr wrap="square" lIns="0" tIns="0" rIns="0" bIns="0" rtlCol="0" anchor="ctr"/>
          <a:lstStyle/>
          <a:p>
            <a:pPr indent="0" marL="0">
              <a:buNone/>
            </a:pPr>
            <a:r>
              <a:rPr lang="en-US" sz="850" dirty="0">
                <a:solidFill>
                  <a:srgbClr val="1A2C3E"/>
                </a:solidFill>
              </a:rPr>
              <a:t>Newsletter Automated System</a:t>
            </a:r>
            <a:endParaRPr lang="en-US" sz="850" dirty="0"/>
          </a:p>
        </p:txBody>
      </p:sp>
      <p:sp>
        <p:nvSpPr>
          <p:cNvPr id="94" name="Text 92"/>
          <p:cNvSpPr/>
          <p:nvPr/>
        </p:nvSpPr>
        <p:spPr>
          <a:xfrm>
            <a:off x="5029200" y="6217920"/>
            <a:ext cx="4114800" cy="237744"/>
          </a:xfrm>
          <a:prstGeom prst="rect">
            <a:avLst/>
          </a:prstGeom>
          <a:noFill/>
          <a:ln/>
        </p:spPr>
        <p:txBody>
          <a:bodyPr wrap="square" lIns="0" tIns="0" rIns="0" bIns="0" rtlCol="0" anchor="ctr"/>
          <a:lstStyle/>
          <a:p>
            <a:pPr indent="0" marL="0">
              <a:buNone/>
            </a:pPr>
            <a:r>
              <a:rPr lang="en-US" sz="800" dirty="0">
                <a:solidFill>
                  <a:srgbClr val="7F8C8D"/>
                </a:solidFill>
              </a:rPr>
              <a:t>GPT-4 + Puppeteer + cron job</a:t>
            </a:r>
            <a:endParaRPr lang="en-US" sz="800" dirty="0"/>
          </a:p>
        </p:txBody>
      </p:sp>
      <p:sp>
        <p:nvSpPr>
          <p:cNvPr id="95" name="Shape 93"/>
          <p:cNvSpPr/>
          <p:nvPr/>
        </p:nvSpPr>
        <p:spPr>
          <a:xfrm>
            <a:off x="9235440" y="6245352"/>
            <a:ext cx="2286000" cy="182880"/>
          </a:xfrm>
          <a:prstGeom prst="rect">
            <a:avLst/>
          </a:prstGeom>
          <a:solidFill>
            <a:srgbClr val="F1C40F"/>
          </a:solidFill>
          <a:ln/>
        </p:spPr>
      </p:sp>
      <p:sp>
        <p:nvSpPr>
          <p:cNvPr id="96" name="Text 94"/>
          <p:cNvSpPr/>
          <p:nvPr/>
        </p:nvSpPr>
        <p:spPr>
          <a:xfrm>
            <a:off x="9235440" y="6245352"/>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97" name="Shape 95"/>
          <p:cNvSpPr/>
          <p:nvPr/>
        </p:nvSpPr>
        <p:spPr>
          <a:xfrm>
            <a:off x="365760" y="6473952"/>
            <a:ext cx="11430000" cy="274320"/>
          </a:xfrm>
          <a:prstGeom prst="rect">
            <a:avLst/>
          </a:prstGeom>
          <a:solidFill>
            <a:srgbClr val="F7F9FC"/>
          </a:solidFill>
          <a:ln w="3810">
            <a:solidFill>
              <a:srgbClr val="EAEEF2"/>
            </a:solidFill>
            <a:prstDash val="solid"/>
          </a:ln>
        </p:spPr>
      </p:sp>
      <p:sp>
        <p:nvSpPr>
          <p:cNvPr id="98" name="Text 96"/>
          <p:cNvSpPr/>
          <p:nvPr/>
        </p:nvSpPr>
        <p:spPr>
          <a:xfrm>
            <a:off x="548640" y="6492240"/>
            <a:ext cx="4389120" cy="237744"/>
          </a:xfrm>
          <a:prstGeom prst="rect">
            <a:avLst/>
          </a:prstGeom>
          <a:noFill/>
          <a:ln/>
        </p:spPr>
        <p:txBody>
          <a:bodyPr wrap="square" lIns="0" tIns="0" rIns="0" bIns="0" rtlCol="0" anchor="ctr"/>
          <a:lstStyle/>
          <a:p>
            <a:pPr indent="0" marL="0">
              <a:buNone/>
            </a:pPr>
            <a:r>
              <a:rPr lang="en-US" sz="850" dirty="0">
                <a:solidFill>
                  <a:srgbClr val="1A2C3E"/>
                </a:solidFill>
              </a:rPr>
              <a:t>Admin Dashboard — review workflow</a:t>
            </a:r>
            <a:endParaRPr lang="en-US" sz="850" dirty="0"/>
          </a:p>
        </p:txBody>
      </p:sp>
      <p:sp>
        <p:nvSpPr>
          <p:cNvPr id="99" name="Text 97"/>
          <p:cNvSpPr/>
          <p:nvPr/>
        </p:nvSpPr>
        <p:spPr>
          <a:xfrm>
            <a:off x="5029200" y="6492240"/>
            <a:ext cx="4114800" cy="237744"/>
          </a:xfrm>
          <a:prstGeom prst="rect">
            <a:avLst/>
          </a:prstGeom>
          <a:noFill/>
          <a:ln/>
        </p:spPr>
        <p:txBody>
          <a:bodyPr wrap="square" lIns="0" tIns="0" rIns="0" bIns="0" rtlCol="0" anchor="ctr"/>
          <a:lstStyle/>
          <a:p>
            <a:pPr indent="0" marL="0">
              <a:buNone/>
            </a:pPr>
            <a:r>
              <a:rPr lang="en-US" sz="800" dirty="0">
                <a:solidFill>
                  <a:srgbClr val="7F8C8D"/>
                </a:solidFill>
              </a:rPr>
              <a:t>RBAC + JWT + React dashboard</a:t>
            </a:r>
            <a:endParaRPr lang="en-US" sz="800" dirty="0"/>
          </a:p>
        </p:txBody>
      </p:sp>
      <p:sp>
        <p:nvSpPr>
          <p:cNvPr id="100" name="Shape 98"/>
          <p:cNvSpPr/>
          <p:nvPr/>
        </p:nvSpPr>
        <p:spPr>
          <a:xfrm>
            <a:off x="9235440" y="6519672"/>
            <a:ext cx="2286000" cy="182880"/>
          </a:xfrm>
          <a:prstGeom prst="rect">
            <a:avLst/>
          </a:prstGeom>
          <a:solidFill>
            <a:srgbClr val="F1C40F"/>
          </a:solidFill>
          <a:ln/>
        </p:spPr>
      </p:sp>
      <p:sp>
        <p:nvSpPr>
          <p:cNvPr id="101" name="Text 99"/>
          <p:cNvSpPr/>
          <p:nvPr/>
        </p:nvSpPr>
        <p:spPr>
          <a:xfrm>
            <a:off x="9235440" y="6519672"/>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02" name="Shape 100"/>
          <p:cNvSpPr/>
          <p:nvPr/>
        </p:nvSpPr>
        <p:spPr>
          <a:xfrm>
            <a:off x="365760" y="6748272"/>
            <a:ext cx="11430000" cy="274320"/>
          </a:xfrm>
          <a:prstGeom prst="rect">
            <a:avLst/>
          </a:prstGeom>
          <a:solidFill>
            <a:srgbClr val="FFFFFF"/>
          </a:solidFill>
          <a:ln w="3810">
            <a:solidFill>
              <a:srgbClr val="EAEEF2"/>
            </a:solidFill>
            <a:prstDash val="solid"/>
          </a:ln>
        </p:spPr>
      </p:sp>
      <p:sp>
        <p:nvSpPr>
          <p:cNvPr id="103" name="Text 101"/>
          <p:cNvSpPr/>
          <p:nvPr/>
        </p:nvSpPr>
        <p:spPr>
          <a:xfrm>
            <a:off x="548640" y="6766560"/>
            <a:ext cx="4389120" cy="237744"/>
          </a:xfrm>
          <a:prstGeom prst="rect">
            <a:avLst/>
          </a:prstGeom>
          <a:noFill/>
          <a:ln/>
        </p:spPr>
        <p:txBody>
          <a:bodyPr wrap="square" lIns="0" tIns="0" rIns="0" bIns="0" rtlCol="0" anchor="ctr"/>
          <a:lstStyle/>
          <a:p>
            <a:pPr indent="0" marL="0">
              <a:buNone/>
            </a:pPr>
            <a:r>
              <a:rPr lang="en-US" sz="850" dirty="0">
                <a:solidFill>
                  <a:srgbClr val="1A2C3E"/>
                </a:solidFill>
              </a:rPr>
              <a:t>LinkedIn Auto-Post Integration</a:t>
            </a:r>
            <a:endParaRPr lang="en-US" sz="850" dirty="0"/>
          </a:p>
        </p:txBody>
      </p:sp>
      <p:sp>
        <p:nvSpPr>
          <p:cNvPr id="104" name="Text 102"/>
          <p:cNvSpPr/>
          <p:nvPr/>
        </p:nvSpPr>
        <p:spPr>
          <a:xfrm>
            <a:off x="5029200" y="6766560"/>
            <a:ext cx="4114800" cy="237744"/>
          </a:xfrm>
          <a:prstGeom prst="rect">
            <a:avLst/>
          </a:prstGeom>
          <a:noFill/>
          <a:ln/>
        </p:spPr>
        <p:txBody>
          <a:bodyPr wrap="square" lIns="0" tIns="0" rIns="0" bIns="0" rtlCol="0" anchor="ctr"/>
          <a:lstStyle/>
          <a:p>
            <a:pPr indent="0" marL="0">
              <a:buNone/>
            </a:pPr>
            <a:r>
              <a:rPr lang="en-US" sz="800" dirty="0">
                <a:solidFill>
                  <a:srgbClr val="7F8C8D"/>
                </a:solidFill>
              </a:rPr>
              <a:t>LinkedIn API v2</a:t>
            </a:r>
            <a:endParaRPr lang="en-US" sz="800" dirty="0"/>
          </a:p>
        </p:txBody>
      </p:sp>
      <p:sp>
        <p:nvSpPr>
          <p:cNvPr id="105" name="Shape 103"/>
          <p:cNvSpPr/>
          <p:nvPr/>
        </p:nvSpPr>
        <p:spPr>
          <a:xfrm>
            <a:off x="9235440" y="6793992"/>
            <a:ext cx="2286000" cy="182880"/>
          </a:xfrm>
          <a:prstGeom prst="rect">
            <a:avLst/>
          </a:prstGeom>
          <a:solidFill>
            <a:srgbClr val="E74C3C"/>
          </a:solidFill>
          <a:ln/>
        </p:spPr>
      </p:sp>
      <p:sp>
        <p:nvSpPr>
          <p:cNvPr id="106" name="Text 104"/>
          <p:cNvSpPr/>
          <p:nvPr/>
        </p:nvSpPr>
        <p:spPr>
          <a:xfrm>
            <a:off x="9235440" y="6793992"/>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PENDING</a:t>
            </a:r>
            <a:endParaRPr lang="en-US" sz="700" dirty="0"/>
          </a:p>
        </p:txBody>
      </p:sp>
      <p:sp>
        <p:nvSpPr>
          <p:cNvPr id="107" name="Shape 105"/>
          <p:cNvSpPr/>
          <p:nvPr/>
        </p:nvSpPr>
        <p:spPr>
          <a:xfrm>
            <a:off x="365760" y="7022592"/>
            <a:ext cx="11430000" cy="274320"/>
          </a:xfrm>
          <a:prstGeom prst="rect">
            <a:avLst/>
          </a:prstGeom>
          <a:solidFill>
            <a:srgbClr val="F7F9FC"/>
          </a:solidFill>
          <a:ln w="3810">
            <a:solidFill>
              <a:srgbClr val="EAEEF2"/>
            </a:solidFill>
            <a:prstDash val="solid"/>
          </a:ln>
        </p:spPr>
      </p:sp>
      <p:sp>
        <p:nvSpPr>
          <p:cNvPr id="108" name="Text 106"/>
          <p:cNvSpPr/>
          <p:nvPr/>
        </p:nvSpPr>
        <p:spPr>
          <a:xfrm>
            <a:off x="548640" y="7040880"/>
            <a:ext cx="4389120" cy="237744"/>
          </a:xfrm>
          <a:prstGeom prst="rect">
            <a:avLst/>
          </a:prstGeom>
          <a:noFill/>
          <a:ln/>
        </p:spPr>
        <p:txBody>
          <a:bodyPr wrap="square" lIns="0" tIns="0" rIns="0" bIns="0" rtlCol="0" anchor="ctr"/>
          <a:lstStyle/>
          <a:p>
            <a:pPr indent="0" marL="0">
              <a:buNone/>
            </a:pPr>
            <a:r>
              <a:rPr lang="en-US" sz="850" dirty="0">
                <a:solidFill>
                  <a:srgbClr val="1A2C3E"/>
                </a:solidFill>
              </a:rPr>
              <a:t>Publications Page — archive + PDF download</a:t>
            </a:r>
            <a:endParaRPr lang="en-US" sz="850" dirty="0"/>
          </a:p>
        </p:txBody>
      </p:sp>
      <p:sp>
        <p:nvSpPr>
          <p:cNvPr id="109" name="Text 107"/>
          <p:cNvSpPr/>
          <p:nvPr/>
        </p:nvSpPr>
        <p:spPr>
          <a:xfrm>
            <a:off x="5029200" y="7040880"/>
            <a:ext cx="4114800" cy="237744"/>
          </a:xfrm>
          <a:prstGeom prst="rect">
            <a:avLst/>
          </a:prstGeom>
          <a:noFill/>
          <a:ln/>
        </p:spPr>
        <p:txBody>
          <a:bodyPr wrap="square" lIns="0" tIns="0" rIns="0" bIns="0" rtlCol="0" anchor="ctr"/>
          <a:lstStyle/>
          <a:p>
            <a:pPr indent="0" marL="0">
              <a:buNone/>
            </a:pPr>
            <a:r>
              <a:rPr lang="en-US" sz="800" dirty="0">
                <a:solidFill>
                  <a:srgbClr val="7F8C8D"/>
                </a:solidFill>
              </a:rPr>
              <a:t>React + AWS S3 URLs</a:t>
            </a:r>
            <a:endParaRPr lang="en-US" sz="800" dirty="0"/>
          </a:p>
        </p:txBody>
      </p:sp>
      <p:sp>
        <p:nvSpPr>
          <p:cNvPr id="110" name="Shape 108"/>
          <p:cNvSpPr/>
          <p:nvPr/>
        </p:nvSpPr>
        <p:spPr>
          <a:xfrm>
            <a:off x="9235440" y="7068312"/>
            <a:ext cx="2286000" cy="182880"/>
          </a:xfrm>
          <a:prstGeom prst="rect">
            <a:avLst/>
          </a:prstGeom>
          <a:solidFill>
            <a:srgbClr val="2ECC71"/>
          </a:solidFill>
          <a:ln/>
        </p:spPr>
      </p:sp>
      <p:sp>
        <p:nvSpPr>
          <p:cNvPr id="111" name="Text 109"/>
          <p:cNvSpPr/>
          <p:nvPr/>
        </p:nvSpPr>
        <p:spPr>
          <a:xfrm>
            <a:off x="9235440" y="7068312"/>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FUNCTIONAL</a:t>
            </a:r>
            <a:endParaRPr lang="en-US" sz="700" dirty="0"/>
          </a:p>
        </p:txBody>
      </p:sp>
      <p:sp>
        <p:nvSpPr>
          <p:cNvPr id="112" name="Shape 110"/>
          <p:cNvSpPr/>
          <p:nvPr/>
        </p:nvSpPr>
        <p:spPr>
          <a:xfrm>
            <a:off x="365760" y="7296912"/>
            <a:ext cx="11430000" cy="292608"/>
          </a:xfrm>
          <a:prstGeom prst="rect">
            <a:avLst/>
          </a:prstGeom>
          <a:solidFill>
            <a:srgbClr val="2ECC71"/>
          </a:solidFill>
          <a:ln/>
        </p:spPr>
      </p:sp>
      <p:sp>
        <p:nvSpPr>
          <p:cNvPr id="113" name="Shape 111"/>
          <p:cNvSpPr/>
          <p:nvPr/>
        </p:nvSpPr>
        <p:spPr>
          <a:xfrm>
            <a:off x="365760" y="7296912"/>
            <a:ext cx="640080" cy="292608"/>
          </a:xfrm>
          <a:prstGeom prst="rect">
            <a:avLst/>
          </a:prstGeom>
          <a:solidFill>
            <a:srgbClr val="1E3A5F"/>
          </a:solidFill>
          <a:ln/>
        </p:spPr>
      </p:sp>
      <p:sp>
        <p:nvSpPr>
          <p:cNvPr id="114" name="Text 112"/>
          <p:cNvSpPr/>
          <p:nvPr/>
        </p:nvSpPr>
        <p:spPr>
          <a:xfrm>
            <a:off x="365760" y="7296912"/>
            <a:ext cx="640080" cy="292608"/>
          </a:xfrm>
          <a:prstGeom prst="rect">
            <a:avLst/>
          </a:prstGeom>
          <a:noFill/>
          <a:ln/>
        </p:spPr>
        <p:txBody>
          <a:bodyPr wrap="square" lIns="0" tIns="0" rIns="0" bIns="0" rtlCol="0" anchor="ctr"/>
          <a:lstStyle/>
          <a:p>
            <a:pPr algn="ctr" indent="0" marL="0">
              <a:buNone/>
            </a:pPr>
            <a:r>
              <a:rPr lang="en-US" sz="1200" b="1" dirty="0">
                <a:solidFill>
                  <a:srgbClr val="FFFFFF"/>
                </a:solidFill>
              </a:rPr>
              <a:t>P3</a:t>
            </a:r>
            <a:endParaRPr lang="en-US" sz="1200" dirty="0"/>
          </a:p>
        </p:txBody>
      </p:sp>
      <p:sp>
        <p:nvSpPr>
          <p:cNvPr id="115" name="Text 113"/>
          <p:cNvSpPr/>
          <p:nvPr/>
        </p:nvSpPr>
        <p:spPr>
          <a:xfrm>
            <a:off x="1051560" y="7296912"/>
            <a:ext cx="7315200" cy="292608"/>
          </a:xfrm>
          <a:prstGeom prst="rect">
            <a:avLst/>
          </a:prstGeom>
          <a:noFill/>
          <a:ln/>
        </p:spPr>
        <p:txBody>
          <a:bodyPr wrap="square" lIns="0" tIns="0" rIns="0" bIns="0" rtlCol="0" anchor="ctr"/>
          <a:lstStyle/>
          <a:p>
            <a:pPr indent="0" marL="0">
              <a:buNone/>
            </a:pPr>
            <a:r>
              <a:rPr lang="en-US" sz="900" b="1" dirty="0">
                <a:solidFill>
                  <a:srgbClr val="FFFFFF"/>
                </a:solidFill>
              </a:rPr>
              <a:t>ENHANCEMENT — POLISH &amp; SCALE</a:t>
            </a:r>
            <a:endParaRPr lang="en-US" sz="900" dirty="0"/>
          </a:p>
        </p:txBody>
      </p:sp>
      <p:sp>
        <p:nvSpPr>
          <p:cNvPr id="116" name="Shape 114"/>
          <p:cNvSpPr/>
          <p:nvPr/>
        </p:nvSpPr>
        <p:spPr>
          <a:xfrm>
            <a:off x="365760" y="7589520"/>
            <a:ext cx="11430000" cy="274320"/>
          </a:xfrm>
          <a:prstGeom prst="rect">
            <a:avLst/>
          </a:prstGeom>
          <a:solidFill>
            <a:srgbClr val="FFFFFF"/>
          </a:solidFill>
          <a:ln w="3810">
            <a:solidFill>
              <a:srgbClr val="EAEEF2"/>
            </a:solidFill>
            <a:prstDash val="solid"/>
          </a:ln>
        </p:spPr>
      </p:sp>
      <p:sp>
        <p:nvSpPr>
          <p:cNvPr id="117" name="Text 115"/>
          <p:cNvSpPr/>
          <p:nvPr/>
        </p:nvSpPr>
        <p:spPr>
          <a:xfrm>
            <a:off x="548640" y="7607808"/>
            <a:ext cx="4389120" cy="237744"/>
          </a:xfrm>
          <a:prstGeom prst="rect">
            <a:avLst/>
          </a:prstGeom>
          <a:noFill/>
          <a:ln/>
        </p:spPr>
        <p:txBody>
          <a:bodyPr wrap="square" lIns="0" tIns="0" rIns="0" bIns="0" rtlCol="0" anchor="ctr"/>
          <a:lstStyle/>
          <a:p>
            <a:pPr indent="0" marL="0">
              <a:buNone/>
            </a:pPr>
            <a:r>
              <a:rPr lang="en-US" sz="850" dirty="0">
                <a:solidFill>
                  <a:srgbClr val="1A2C3E"/>
                </a:solidFill>
              </a:rPr>
              <a:t>Authentication — Sign In, Free Trial</a:t>
            </a:r>
            <a:endParaRPr lang="en-US" sz="850" dirty="0"/>
          </a:p>
        </p:txBody>
      </p:sp>
      <p:sp>
        <p:nvSpPr>
          <p:cNvPr id="118" name="Text 116"/>
          <p:cNvSpPr/>
          <p:nvPr/>
        </p:nvSpPr>
        <p:spPr>
          <a:xfrm>
            <a:off x="5029200" y="7607808"/>
            <a:ext cx="4114800" cy="237744"/>
          </a:xfrm>
          <a:prstGeom prst="rect">
            <a:avLst/>
          </a:prstGeom>
          <a:noFill/>
          <a:ln/>
        </p:spPr>
        <p:txBody>
          <a:bodyPr wrap="square" lIns="0" tIns="0" rIns="0" bIns="0" rtlCol="0" anchor="ctr"/>
          <a:lstStyle/>
          <a:p>
            <a:pPr indent="0" marL="0">
              <a:buNone/>
            </a:pPr>
            <a:r>
              <a:rPr lang="en-US" sz="800" dirty="0">
                <a:solidFill>
                  <a:srgbClr val="7F8C8D"/>
                </a:solidFill>
              </a:rPr>
              <a:t>JWT + OAuth Google/LinkedIn</a:t>
            </a:r>
            <a:endParaRPr lang="en-US" sz="800" dirty="0"/>
          </a:p>
        </p:txBody>
      </p:sp>
      <p:sp>
        <p:nvSpPr>
          <p:cNvPr id="119" name="Shape 117"/>
          <p:cNvSpPr/>
          <p:nvPr/>
        </p:nvSpPr>
        <p:spPr>
          <a:xfrm>
            <a:off x="9235440" y="7635240"/>
            <a:ext cx="2286000" cy="182880"/>
          </a:xfrm>
          <a:prstGeom prst="rect">
            <a:avLst/>
          </a:prstGeom>
          <a:solidFill>
            <a:srgbClr val="F1C40F"/>
          </a:solidFill>
          <a:ln/>
        </p:spPr>
      </p:sp>
      <p:sp>
        <p:nvSpPr>
          <p:cNvPr id="120" name="Text 118"/>
          <p:cNvSpPr/>
          <p:nvPr/>
        </p:nvSpPr>
        <p:spPr>
          <a:xfrm>
            <a:off x="9235440" y="7635240"/>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21" name="Shape 119"/>
          <p:cNvSpPr/>
          <p:nvPr/>
        </p:nvSpPr>
        <p:spPr>
          <a:xfrm>
            <a:off x="365760" y="7863840"/>
            <a:ext cx="11430000" cy="274320"/>
          </a:xfrm>
          <a:prstGeom prst="rect">
            <a:avLst/>
          </a:prstGeom>
          <a:solidFill>
            <a:srgbClr val="F7F9FC"/>
          </a:solidFill>
          <a:ln w="3810">
            <a:solidFill>
              <a:srgbClr val="EAEEF2"/>
            </a:solidFill>
            <a:prstDash val="solid"/>
          </a:ln>
        </p:spPr>
      </p:sp>
      <p:sp>
        <p:nvSpPr>
          <p:cNvPr id="122" name="Text 120"/>
          <p:cNvSpPr/>
          <p:nvPr/>
        </p:nvSpPr>
        <p:spPr>
          <a:xfrm>
            <a:off x="548640" y="7882128"/>
            <a:ext cx="4389120" cy="237744"/>
          </a:xfrm>
          <a:prstGeom prst="rect">
            <a:avLst/>
          </a:prstGeom>
          <a:noFill/>
          <a:ln/>
        </p:spPr>
        <p:txBody>
          <a:bodyPr wrap="square" lIns="0" tIns="0" rIns="0" bIns="0" rtlCol="0" anchor="ctr"/>
          <a:lstStyle/>
          <a:p>
            <a:pPr indent="0" marL="0">
              <a:buNone/>
            </a:pPr>
            <a:r>
              <a:rPr lang="en-US" sz="850" dirty="0">
                <a:solidFill>
                  <a:srgbClr val="1A2C3E"/>
                </a:solidFill>
              </a:rPr>
              <a:t>Trial Logic — 7 days / 2 reports / 3 searches</a:t>
            </a:r>
            <a:endParaRPr lang="en-US" sz="850" dirty="0"/>
          </a:p>
        </p:txBody>
      </p:sp>
      <p:sp>
        <p:nvSpPr>
          <p:cNvPr id="123" name="Text 121"/>
          <p:cNvSpPr/>
          <p:nvPr/>
        </p:nvSpPr>
        <p:spPr>
          <a:xfrm>
            <a:off x="5029200" y="7882128"/>
            <a:ext cx="4114800" cy="237744"/>
          </a:xfrm>
          <a:prstGeom prst="rect">
            <a:avLst/>
          </a:prstGeom>
          <a:noFill/>
          <a:ln/>
        </p:spPr>
        <p:txBody>
          <a:bodyPr wrap="square" lIns="0" tIns="0" rIns="0" bIns="0" rtlCol="0" anchor="ctr"/>
          <a:lstStyle/>
          <a:p>
            <a:pPr indent="0" marL="0">
              <a:buNone/>
            </a:pPr>
            <a:r>
              <a:rPr lang="en-US" sz="800" dirty="0">
                <a:solidFill>
                  <a:srgbClr val="7F8C8D"/>
                </a:solidFill>
              </a:rPr>
              <a:t>Frontend middleware + DB tracking</a:t>
            </a:r>
            <a:endParaRPr lang="en-US" sz="800" dirty="0"/>
          </a:p>
        </p:txBody>
      </p:sp>
      <p:sp>
        <p:nvSpPr>
          <p:cNvPr id="124" name="Shape 122"/>
          <p:cNvSpPr/>
          <p:nvPr/>
        </p:nvSpPr>
        <p:spPr>
          <a:xfrm>
            <a:off x="9235440" y="7909560"/>
            <a:ext cx="2286000" cy="182880"/>
          </a:xfrm>
          <a:prstGeom prst="rect">
            <a:avLst/>
          </a:prstGeom>
          <a:solidFill>
            <a:srgbClr val="F1C40F"/>
          </a:solidFill>
          <a:ln/>
        </p:spPr>
      </p:sp>
      <p:sp>
        <p:nvSpPr>
          <p:cNvPr id="125" name="Text 123"/>
          <p:cNvSpPr/>
          <p:nvPr/>
        </p:nvSpPr>
        <p:spPr>
          <a:xfrm>
            <a:off x="9235440" y="7909560"/>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26" name="Shape 124"/>
          <p:cNvSpPr/>
          <p:nvPr/>
        </p:nvSpPr>
        <p:spPr>
          <a:xfrm>
            <a:off x="365760" y="8138160"/>
            <a:ext cx="11430000" cy="274320"/>
          </a:xfrm>
          <a:prstGeom prst="rect">
            <a:avLst/>
          </a:prstGeom>
          <a:solidFill>
            <a:srgbClr val="FFFFFF"/>
          </a:solidFill>
          <a:ln w="3810">
            <a:solidFill>
              <a:srgbClr val="EAEEF2"/>
            </a:solidFill>
            <a:prstDash val="solid"/>
          </a:ln>
        </p:spPr>
      </p:sp>
      <p:sp>
        <p:nvSpPr>
          <p:cNvPr id="127" name="Text 125"/>
          <p:cNvSpPr/>
          <p:nvPr/>
        </p:nvSpPr>
        <p:spPr>
          <a:xfrm>
            <a:off x="548640" y="8156448"/>
            <a:ext cx="4389120" cy="237744"/>
          </a:xfrm>
          <a:prstGeom prst="rect">
            <a:avLst/>
          </a:prstGeom>
          <a:noFill/>
          <a:ln/>
        </p:spPr>
        <p:txBody>
          <a:bodyPr wrap="square" lIns="0" tIns="0" rIns="0" bIns="0" rtlCol="0" anchor="ctr"/>
          <a:lstStyle/>
          <a:p>
            <a:pPr indent="0" marL="0">
              <a:buNone/>
            </a:pPr>
            <a:r>
              <a:rPr lang="en-US" sz="850" dirty="0">
                <a:solidFill>
                  <a:srgbClr val="1A2C3E"/>
                </a:solidFill>
              </a:rPr>
              <a:t>GFR Ranking — 6-dimension composite</a:t>
            </a:r>
            <a:endParaRPr lang="en-US" sz="850" dirty="0"/>
          </a:p>
        </p:txBody>
      </p:sp>
      <p:sp>
        <p:nvSpPr>
          <p:cNvPr id="128" name="Text 126"/>
          <p:cNvSpPr/>
          <p:nvPr/>
        </p:nvSpPr>
        <p:spPr>
          <a:xfrm>
            <a:off x="5029200" y="8156448"/>
            <a:ext cx="4114800" cy="237744"/>
          </a:xfrm>
          <a:prstGeom prst="rect">
            <a:avLst/>
          </a:prstGeom>
          <a:noFill/>
          <a:ln/>
        </p:spPr>
        <p:txBody>
          <a:bodyPr wrap="square" lIns="0" tIns="0" rIns="0" bIns="0" rtlCol="0" anchor="ctr"/>
          <a:lstStyle/>
          <a:p>
            <a:pPr indent="0" marL="0">
              <a:buNone/>
            </a:pPr>
            <a:r>
              <a:rPr lang="en-US" sz="800" dirty="0">
                <a:solidFill>
                  <a:srgbClr val="7F8C8D"/>
                </a:solidFill>
              </a:rPr>
              <a:t>AGT-05 + React table</a:t>
            </a:r>
            <a:endParaRPr lang="en-US" sz="800" dirty="0"/>
          </a:p>
        </p:txBody>
      </p:sp>
      <p:sp>
        <p:nvSpPr>
          <p:cNvPr id="129" name="Shape 127"/>
          <p:cNvSpPr/>
          <p:nvPr/>
        </p:nvSpPr>
        <p:spPr>
          <a:xfrm>
            <a:off x="9235440" y="8183880"/>
            <a:ext cx="2286000" cy="182880"/>
          </a:xfrm>
          <a:prstGeom prst="rect">
            <a:avLst/>
          </a:prstGeom>
          <a:solidFill>
            <a:srgbClr val="2ECC71"/>
          </a:solidFill>
          <a:ln/>
        </p:spPr>
      </p:sp>
      <p:sp>
        <p:nvSpPr>
          <p:cNvPr id="130" name="Text 128"/>
          <p:cNvSpPr/>
          <p:nvPr/>
        </p:nvSpPr>
        <p:spPr>
          <a:xfrm>
            <a:off x="9235440" y="8183880"/>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FUNCTIONAL</a:t>
            </a:r>
            <a:endParaRPr lang="en-US" sz="700" dirty="0"/>
          </a:p>
        </p:txBody>
      </p:sp>
      <p:sp>
        <p:nvSpPr>
          <p:cNvPr id="131" name="Shape 129"/>
          <p:cNvSpPr/>
          <p:nvPr/>
        </p:nvSpPr>
        <p:spPr>
          <a:xfrm>
            <a:off x="365760" y="8412480"/>
            <a:ext cx="11430000" cy="274320"/>
          </a:xfrm>
          <a:prstGeom prst="rect">
            <a:avLst/>
          </a:prstGeom>
          <a:solidFill>
            <a:srgbClr val="F7F9FC"/>
          </a:solidFill>
          <a:ln w="3810">
            <a:solidFill>
              <a:srgbClr val="EAEEF2"/>
            </a:solidFill>
            <a:prstDash val="solid"/>
          </a:ln>
        </p:spPr>
      </p:sp>
      <p:sp>
        <p:nvSpPr>
          <p:cNvPr id="132" name="Text 130"/>
          <p:cNvSpPr/>
          <p:nvPr/>
        </p:nvSpPr>
        <p:spPr>
          <a:xfrm>
            <a:off x="548640" y="8430768"/>
            <a:ext cx="4389120" cy="237744"/>
          </a:xfrm>
          <a:prstGeom prst="rect">
            <a:avLst/>
          </a:prstGeom>
          <a:noFill/>
          <a:ln/>
        </p:spPr>
        <p:txBody>
          <a:bodyPr wrap="square" lIns="0" tIns="0" rIns="0" bIns="0" rtlCol="0" anchor="ctr"/>
          <a:lstStyle/>
          <a:p>
            <a:pPr indent="0" marL="0">
              <a:buNone/>
            </a:pPr>
            <a:r>
              <a:rPr lang="en-US" sz="850" dirty="0">
                <a:solidFill>
                  <a:srgbClr val="1A2C3E"/>
                </a:solidFill>
              </a:rPr>
              <a:t>Publications page — full archive</a:t>
            </a:r>
            <a:endParaRPr lang="en-US" sz="850" dirty="0"/>
          </a:p>
        </p:txBody>
      </p:sp>
      <p:sp>
        <p:nvSpPr>
          <p:cNvPr id="133" name="Text 131"/>
          <p:cNvSpPr/>
          <p:nvPr/>
        </p:nvSpPr>
        <p:spPr>
          <a:xfrm>
            <a:off x="5029200" y="8430768"/>
            <a:ext cx="4114800" cy="237744"/>
          </a:xfrm>
          <a:prstGeom prst="rect">
            <a:avLst/>
          </a:prstGeom>
          <a:noFill/>
          <a:ln/>
        </p:spPr>
        <p:txBody>
          <a:bodyPr wrap="square" lIns="0" tIns="0" rIns="0" bIns="0" rtlCol="0" anchor="ctr"/>
          <a:lstStyle/>
          <a:p>
            <a:pPr indent="0" marL="0">
              <a:buNone/>
            </a:pPr>
            <a:r>
              <a:rPr lang="en-US" sz="800" dirty="0">
                <a:solidFill>
                  <a:srgbClr val="7F8C8D"/>
                </a:solidFill>
              </a:rPr>
              <a:t>S3 + PostgreSQL publications table</a:t>
            </a:r>
            <a:endParaRPr lang="en-US" sz="800" dirty="0"/>
          </a:p>
        </p:txBody>
      </p:sp>
      <p:sp>
        <p:nvSpPr>
          <p:cNvPr id="134" name="Shape 132"/>
          <p:cNvSpPr/>
          <p:nvPr/>
        </p:nvSpPr>
        <p:spPr>
          <a:xfrm>
            <a:off x="9235440" y="8458200"/>
            <a:ext cx="2286000" cy="182880"/>
          </a:xfrm>
          <a:prstGeom prst="rect">
            <a:avLst/>
          </a:prstGeom>
          <a:solidFill>
            <a:srgbClr val="2ECC71"/>
          </a:solidFill>
          <a:ln/>
        </p:spPr>
      </p:sp>
      <p:sp>
        <p:nvSpPr>
          <p:cNvPr id="135" name="Text 133"/>
          <p:cNvSpPr/>
          <p:nvPr/>
        </p:nvSpPr>
        <p:spPr>
          <a:xfrm>
            <a:off x="9235440" y="8458200"/>
            <a:ext cx="2286000" cy="182880"/>
          </a:xfrm>
          <a:prstGeom prst="rect">
            <a:avLst/>
          </a:prstGeom>
          <a:noFill/>
          <a:ln/>
        </p:spPr>
        <p:txBody>
          <a:bodyPr wrap="square" lIns="0" tIns="0" rIns="0" bIns="0" rtlCol="0" anchor="ctr"/>
          <a:lstStyle/>
          <a:p>
            <a:pPr algn="ctr" indent="0" marL="0">
              <a:buNone/>
            </a:pPr>
            <a:r>
              <a:rPr lang="en-US" sz="700" b="1" dirty="0">
                <a:solidFill>
                  <a:srgbClr val="FFFFFF"/>
                </a:solidFill>
              </a:rPr>
              <a:t>FUNCTIONAL</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0A1520"/>
          </a:solidFill>
          <a:ln/>
        </p:spPr>
      </p:sp>
      <p:sp>
        <p:nvSpPr>
          <p:cNvPr id="3" name="Shape 1"/>
          <p:cNvSpPr/>
          <p:nvPr/>
        </p:nvSpPr>
        <p:spPr>
          <a:xfrm>
            <a:off x="0" y="0"/>
            <a:ext cx="73152" cy="566928"/>
          </a:xfrm>
          <a:prstGeom prst="rect">
            <a:avLst/>
          </a:prstGeom>
          <a:solidFill>
            <a:srgbClr val="2ECC71"/>
          </a:solidFill>
          <a:ln/>
        </p:spPr>
      </p:sp>
      <p:sp>
        <p:nvSpPr>
          <p:cNvPr id="4" name="Text 2"/>
          <p:cNvSpPr/>
          <p:nvPr/>
        </p:nvSpPr>
        <p:spPr>
          <a:xfrm>
            <a:off x="201168" y="128016"/>
            <a:ext cx="3200400" cy="310896"/>
          </a:xfrm>
          <a:prstGeom prst="rect">
            <a:avLst/>
          </a:prstGeom>
          <a:noFill/>
          <a:ln/>
        </p:spPr>
        <p:txBody>
          <a:bodyPr wrap="square" lIns="0" tIns="0" rIns="0" bIns="0" rtlCol="0" anchor="ctr"/>
          <a:lstStyle/>
          <a:p>
            <a:pPr indent="0" marL="0">
              <a:buNone/>
            </a:pPr>
            <a:r>
              <a:rPr lang="en-US" sz="1100" b="1" spc="200" kern="0" dirty="0">
                <a:solidFill>
                  <a:srgbClr val="FFFFFF"/>
                </a:solidFill>
              </a:rPr>
              <a:t>GLOBAL </a:t>
            </a:r>
            <a:pPr indent="0" marL="0">
              <a:buNone/>
            </a:pPr>
            <a:r>
              <a:rPr lang="en-US" sz="1100" b="1" spc="200" kern="0" dirty="0">
                <a:solidFill>
                  <a:srgbClr val="2ECC71"/>
                </a:solidFill>
              </a:rPr>
              <a:t>FDI</a:t>
            </a:r>
            <a:pPr indent="0" marL="0">
              <a:buNone/>
            </a:pPr>
            <a:r>
              <a:rPr lang="en-US" sz="1100" b="1" spc="200" kern="0" dirty="0">
                <a:solidFill>
                  <a:srgbClr val="FFFFFF"/>
                </a:solidFill>
              </a:rPr>
              <a:t> MONITOR</a:t>
            </a:r>
            <a:endParaRPr lang="en-US" sz="1100" dirty="0"/>
          </a:p>
        </p:txBody>
      </p:sp>
      <p:sp>
        <p:nvSpPr>
          <p:cNvPr id="5" name="Text 3"/>
          <p:cNvSpPr/>
          <p:nvPr/>
        </p:nvSpPr>
        <p:spPr>
          <a:xfrm>
            <a:off x="8961120" y="128016"/>
            <a:ext cx="3108960" cy="310896"/>
          </a:xfrm>
          <a:prstGeom prst="rect">
            <a:avLst/>
          </a:prstGeom>
          <a:noFill/>
          <a:ln/>
        </p:spPr>
        <p:txBody>
          <a:bodyPr wrap="square" lIns="0" tIns="0" rIns="0" bIns="0" rtlCol="0" anchor="ctr"/>
          <a:lstStyle/>
          <a:p>
            <a:pPr algn="r" indent="0" marL="0">
              <a:buNone/>
            </a:pPr>
            <a:r>
              <a:rPr lang="en-US" sz="900" b="1" dirty="0">
                <a:solidFill>
                  <a:srgbClr val="BDC3C7"/>
                </a:solidFill>
              </a:rPr>
              <a:t>Project Pipeline</a:t>
            </a:r>
            <a:endParaRPr lang="en-US" sz="900" dirty="0"/>
          </a:p>
        </p:txBody>
      </p:sp>
      <p:sp>
        <p:nvSpPr>
          <p:cNvPr id="6" name="Shape 4"/>
          <p:cNvSpPr/>
          <p:nvPr/>
        </p:nvSpPr>
        <p:spPr>
          <a:xfrm>
            <a:off x="0" y="6656832"/>
            <a:ext cx="12161520" cy="201168"/>
          </a:xfrm>
          <a:prstGeom prst="rect">
            <a:avLst/>
          </a:prstGeom>
          <a:solidFill>
            <a:srgbClr val="0A1520"/>
          </a:solidFill>
          <a:ln/>
        </p:spPr>
      </p:sp>
      <p:sp>
        <p:nvSpPr>
          <p:cNvPr id="7" name="Text 5"/>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
        <p:nvSpPr>
          <p:cNvPr id="8" name="Text 6"/>
          <p:cNvSpPr/>
          <p:nvPr/>
        </p:nvSpPr>
        <p:spPr>
          <a:xfrm>
            <a:off x="457200" y="749808"/>
            <a:ext cx="11247120" cy="420624"/>
          </a:xfrm>
          <a:prstGeom prst="rect">
            <a:avLst/>
          </a:prstGeom>
          <a:noFill/>
          <a:ln/>
        </p:spPr>
        <p:txBody>
          <a:bodyPr wrap="square" lIns="0" tIns="0" rIns="0" bIns="0" rtlCol="0" anchor="ctr"/>
          <a:lstStyle/>
          <a:p>
            <a:pPr indent="0" marL="0">
              <a:buNone/>
            </a:pPr>
            <a:r>
              <a:rPr lang="en-US" sz="2400" b="1" dirty="0">
                <a:solidFill>
                  <a:srgbClr val="1A2C3E"/>
                </a:solidFill>
              </a:rPr>
              <a:t>Project Pipeline — Delivery Tracker</a:t>
            </a:r>
            <a:endParaRPr lang="en-US" sz="2400" dirty="0"/>
          </a:p>
        </p:txBody>
      </p:sp>
      <p:sp>
        <p:nvSpPr>
          <p:cNvPr id="9" name="Text 7"/>
          <p:cNvSpPr/>
          <p:nvPr/>
        </p:nvSpPr>
        <p:spPr>
          <a:xfrm>
            <a:off x="457200" y="1188720"/>
            <a:ext cx="11247120" cy="219456"/>
          </a:xfrm>
          <a:prstGeom prst="rect">
            <a:avLst/>
          </a:prstGeom>
          <a:noFill/>
          <a:ln/>
        </p:spPr>
        <p:txBody>
          <a:bodyPr wrap="square" lIns="0" tIns="0" rIns="0" bIns="0" rtlCol="0" anchor="ctr"/>
          <a:lstStyle/>
          <a:p>
            <a:pPr indent="0" marL="0">
              <a:buNone/>
            </a:pPr>
            <a:r>
              <a:rPr lang="en-US" sz="1000" dirty="0">
                <a:solidFill>
                  <a:srgbClr val="7F8C8D"/>
                </a:solidFill>
              </a:rPr>
              <a:t>Completed items include hyperlinked source references · Delivery deadline: April 18, 2026</a:t>
            </a:r>
            <a:endParaRPr lang="en-US" sz="1000" dirty="0"/>
          </a:p>
        </p:txBody>
      </p:sp>
      <p:sp>
        <p:nvSpPr>
          <p:cNvPr id="10" name="Shape 8"/>
          <p:cNvSpPr/>
          <p:nvPr/>
        </p:nvSpPr>
        <p:spPr>
          <a:xfrm>
            <a:off x="365760" y="1481328"/>
            <a:ext cx="11430000" cy="329184"/>
          </a:xfrm>
          <a:prstGeom prst="rect">
            <a:avLst/>
          </a:prstGeom>
          <a:solidFill>
            <a:srgbClr val="1A2C3E"/>
          </a:solidFill>
          <a:ln/>
        </p:spPr>
      </p:sp>
      <p:sp>
        <p:nvSpPr>
          <p:cNvPr id="11" name="Text 9"/>
          <p:cNvSpPr/>
          <p:nvPr/>
        </p:nvSpPr>
        <p:spPr>
          <a:xfrm>
            <a:off x="420624" y="1499616"/>
            <a:ext cx="2578608" cy="274320"/>
          </a:xfrm>
          <a:prstGeom prst="rect">
            <a:avLst/>
          </a:prstGeom>
          <a:noFill/>
          <a:ln/>
        </p:spPr>
        <p:txBody>
          <a:bodyPr wrap="square" lIns="0" tIns="0" rIns="0" bIns="0" rtlCol="0" anchor="ctr"/>
          <a:lstStyle/>
          <a:p>
            <a:pPr indent="0" marL="0">
              <a:buNone/>
            </a:pPr>
            <a:r>
              <a:rPr lang="en-US" sz="850" b="1" spc="100" kern="0" dirty="0">
                <a:solidFill>
                  <a:srgbClr val="2ECC71"/>
                </a:solidFill>
              </a:rPr>
              <a:t>Component / Feature</a:t>
            </a:r>
            <a:endParaRPr lang="en-US" sz="850" dirty="0"/>
          </a:p>
        </p:txBody>
      </p:sp>
      <p:sp>
        <p:nvSpPr>
          <p:cNvPr id="12" name="Text 10"/>
          <p:cNvSpPr/>
          <p:nvPr/>
        </p:nvSpPr>
        <p:spPr>
          <a:xfrm>
            <a:off x="3118104" y="1499616"/>
            <a:ext cx="2212848" cy="274320"/>
          </a:xfrm>
          <a:prstGeom prst="rect">
            <a:avLst/>
          </a:prstGeom>
          <a:noFill/>
          <a:ln/>
        </p:spPr>
        <p:txBody>
          <a:bodyPr wrap="square" lIns="0" tIns="0" rIns="0" bIns="0" rtlCol="0" anchor="ctr"/>
          <a:lstStyle/>
          <a:p>
            <a:pPr indent="0" marL="0">
              <a:buNone/>
            </a:pPr>
            <a:r>
              <a:rPr lang="en-US" sz="850" b="1" spc="100" kern="0" dirty="0">
                <a:solidFill>
                  <a:srgbClr val="2ECC71"/>
                </a:solidFill>
              </a:rPr>
              <a:t>Technology Stack</a:t>
            </a:r>
            <a:endParaRPr lang="en-US" sz="850" dirty="0"/>
          </a:p>
        </p:txBody>
      </p:sp>
      <p:sp>
        <p:nvSpPr>
          <p:cNvPr id="13" name="Text 11"/>
          <p:cNvSpPr/>
          <p:nvPr/>
        </p:nvSpPr>
        <p:spPr>
          <a:xfrm>
            <a:off x="5449824" y="1499616"/>
            <a:ext cx="1344168" cy="274320"/>
          </a:xfrm>
          <a:prstGeom prst="rect">
            <a:avLst/>
          </a:prstGeom>
          <a:noFill/>
          <a:ln/>
        </p:spPr>
        <p:txBody>
          <a:bodyPr wrap="square" lIns="0" tIns="0" rIns="0" bIns="0" rtlCol="0" anchor="ctr"/>
          <a:lstStyle/>
          <a:p>
            <a:pPr indent="0" marL="0">
              <a:buNone/>
            </a:pPr>
            <a:r>
              <a:rPr lang="en-US" sz="850" b="1" spc="100" kern="0" dirty="0">
                <a:solidFill>
                  <a:srgbClr val="2ECC71"/>
                </a:solidFill>
              </a:rPr>
              <a:t>Start Date</a:t>
            </a:r>
            <a:endParaRPr lang="en-US" sz="850" dirty="0"/>
          </a:p>
        </p:txBody>
      </p:sp>
      <p:sp>
        <p:nvSpPr>
          <p:cNvPr id="14" name="Text 12"/>
          <p:cNvSpPr/>
          <p:nvPr/>
        </p:nvSpPr>
        <p:spPr>
          <a:xfrm>
            <a:off x="6912864" y="1499616"/>
            <a:ext cx="1344168" cy="274320"/>
          </a:xfrm>
          <a:prstGeom prst="rect">
            <a:avLst/>
          </a:prstGeom>
          <a:noFill/>
          <a:ln/>
        </p:spPr>
        <p:txBody>
          <a:bodyPr wrap="square" lIns="0" tIns="0" rIns="0" bIns="0" rtlCol="0" anchor="ctr"/>
          <a:lstStyle/>
          <a:p>
            <a:pPr indent="0" marL="0">
              <a:buNone/>
            </a:pPr>
            <a:r>
              <a:rPr lang="en-US" sz="850" b="1" spc="100" kern="0" dirty="0">
                <a:solidFill>
                  <a:srgbClr val="2ECC71"/>
                </a:solidFill>
              </a:rPr>
              <a:t>Est. Completion</a:t>
            </a:r>
            <a:endParaRPr lang="en-US" sz="850" dirty="0"/>
          </a:p>
        </p:txBody>
      </p:sp>
      <p:sp>
        <p:nvSpPr>
          <p:cNvPr id="15" name="Text 13"/>
          <p:cNvSpPr/>
          <p:nvPr/>
        </p:nvSpPr>
        <p:spPr>
          <a:xfrm>
            <a:off x="8375904" y="1499616"/>
            <a:ext cx="1435608" cy="274320"/>
          </a:xfrm>
          <a:prstGeom prst="rect">
            <a:avLst/>
          </a:prstGeom>
          <a:noFill/>
          <a:ln/>
        </p:spPr>
        <p:txBody>
          <a:bodyPr wrap="square" lIns="0" tIns="0" rIns="0" bIns="0" rtlCol="0" anchor="ctr"/>
          <a:lstStyle/>
          <a:p>
            <a:pPr indent="0" marL="0">
              <a:buNone/>
            </a:pPr>
            <a:r>
              <a:rPr lang="en-US" sz="850" b="1" spc="100" kern="0" dirty="0">
                <a:solidFill>
                  <a:srgbClr val="2ECC71"/>
                </a:solidFill>
              </a:rPr>
              <a:t>Status</a:t>
            </a:r>
            <a:endParaRPr lang="en-US" sz="850" dirty="0"/>
          </a:p>
        </p:txBody>
      </p:sp>
      <p:sp>
        <p:nvSpPr>
          <p:cNvPr id="16" name="Text 14"/>
          <p:cNvSpPr/>
          <p:nvPr/>
        </p:nvSpPr>
        <p:spPr>
          <a:xfrm>
            <a:off x="9930384" y="1499616"/>
            <a:ext cx="1664208" cy="274320"/>
          </a:xfrm>
          <a:prstGeom prst="rect">
            <a:avLst/>
          </a:prstGeom>
          <a:noFill/>
          <a:ln/>
        </p:spPr>
        <p:txBody>
          <a:bodyPr wrap="square" lIns="0" tIns="0" rIns="0" bIns="0" rtlCol="0" anchor="ctr"/>
          <a:lstStyle/>
          <a:p>
            <a:pPr indent="0" marL="0">
              <a:buNone/>
            </a:pPr>
            <a:r>
              <a:rPr lang="en-US" sz="850" b="1" spc="100" kern="0" dirty="0">
                <a:solidFill>
                  <a:srgbClr val="2ECC71"/>
                </a:solidFill>
              </a:rPr>
              <a:t>Reference</a:t>
            </a:r>
            <a:endParaRPr lang="en-US" sz="850" dirty="0"/>
          </a:p>
        </p:txBody>
      </p:sp>
      <p:sp>
        <p:nvSpPr>
          <p:cNvPr id="17" name="Shape 15"/>
          <p:cNvSpPr/>
          <p:nvPr/>
        </p:nvSpPr>
        <p:spPr>
          <a:xfrm>
            <a:off x="365760" y="1865376"/>
            <a:ext cx="11430000" cy="228600"/>
          </a:xfrm>
          <a:prstGeom prst="rect">
            <a:avLst/>
          </a:prstGeom>
          <a:solidFill>
            <a:srgbClr val="FFFFFF"/>
          </a:solidFill>
          <a:ln w="3810">
            <a:solidFill>
              <a:srgbClr val="EAEEF2"/>
            </a:solidFill>
            <a:prstDash val="solid"/>
          </a:ln>
        </p:spPr>
      </p:sp>
      <p:sp>
        <p:nvSpPr>
          <p:cNvPr id="18" name="Text 16"/>
          <p:cNvSpPr/>
          <p:nvPr/>
        </p:nvSpPr>
        <p:spPr>
          <a:xfrm>
            <a:off x="420624" y="1883664"/>
            <a:ext cx="2578608" cy="192024"/>
          </a:xfrm>
          <a:prstGeom prst="rect">
            <a:avLst/>
          </a:prstGeom>
          <a:noFill/>
          <a:ln/>
        </p:spPr>
        <p:txBody>
          <a:bodyPr wrap="square" lIns="0" tIns="0" rIns="0" bIns="0" rtlCol="0" anchor="ctr"/>
          <a:lstStyle/>
          <a:p>
            <a:pPr indent="0" marL="0">
              <a:buNone/>
            </a:pPr>
            <a:r>
              <a:rPr lang="en-US" sz="800" dirty="0">
                <a:solidFill>
                  <a:srgbClr val="1A2C3E"/>
                </a:solidFill>
              </a:rPr>
              <a:t>Next.js Static Platform (49 pages)</a:t>
            </a:r>
            <a:endParaRPr lang="en-US" sz="800" dirty="0"/>
          </a:p>
        </p:txBody>
      </p:sp>
      <p:sp>
        <p:nvSpPr>
          <p:cNvPr id="19" name="Text 17"/>
          <p:cNvSpPr/>
          <p:nvPr/>
        </p:nvSpPr>
        <p:spPr>
          <a:xfrm>
            <a:off x="3118104" y="1883664"/>
            <a:ext cx="2212848" cy="192024"/>
          </a:xfrm>
          <a:prstGeom prst="rect">
            <a:avLst/>
          </a:prstGeom>
          <a:noFill/>
          <a:ln/>
        </p:spPr>
        <p:txBody>
          <a:bodyPr wrap="square" lIns="0" tIns="0" rIns="0" bIns="0" rtlCol="0" anchor="ctr"/>
          <a:lstStyle/>
          <a:p>
            <a:pPr indent="0" marL="0">
              <a:buNone/>
            </a:pPr>
            <a:r>
              <a:rPr lang="en-US" sz="750" dirty="0">
                <a:solidFill>
                  <a:srgbClr val="7F8C8D"/>
                </a:solidFill>
              </a:rPr>
              <a:t>Next.js 14 + TypeScript</a:t>
            </a:r>
            <a:endParaRPr lang="en-US" sz="750" dirty="0"/>
          </a:p>
        </p:txBody>
      </p:sp>
      <p:sp>
        <p:nvSpPr>
          <p:cNvPr id="20" name="Text 18"/>
          <p:cNvSpPr/>
          <p:nvPr/>
        </p:nvSpPr>
        <p:spPr>
          <a:xfrm>
            <a:off x="5449824" y="188366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Jan 15 2026</a:t>
            </a:r>
            <a:endParaRPr lang="en-US" sz="750" dirty="0"/>
          </a:p>
        </p:txBody>
      </p:sp>
      <p:sp>
        <p:nvSpPr>
          <p:cNvPr id="21" name="Text 19"/>
          <p:cNvSpPr/>
          <p:nvPr/>
        </p:nvSpPr>
        <p:spPr>
          <a:xfrm>
            <a:off x="6912864" y="188366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10 2026</a:t>
            </a:r>
            <a:endParaRPr lang="en-US" sz="750" dirty="0"/>
          </a:p>
        </p:txBody>
      </p:sp>
      <p:sp>
        <p:nvSpPr>
          <p:cNvPr id="22" name="Shape 20"/>
          <p:cNvSpPr/>
          <p:nvPr/>
        </p:nvSpPr>
        <p:spPr>
          <a:xfrm>
            <a:off x="8412480" y="1901952"/>
            <a:ext cx="1325880" cy="155448"/>
          </a:xfrm>
          <a:prstGeom prst="rect">
            <a:avLst/>
          </a:prstGeom>
          <a:solidFill>
            <a:srgbClr val="2ECC71"/>
          </a:solidFill>
          <a:ln/>
        </p:spPr>
      </p:sp>
      <p:sp>
        <p:nvSpPr>
          <p:cNvPr id="23" name="Text 21"/>
          <p:cNvSpPr/>
          <p:nvPr/>
        </p:nvSpPr>
        <p:spPr>
          <a:xfrm>
            <a:off x="8412480" y="1901952"/>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24" name="Text 22">
            <a:hlinkClick r:id="rId1" tooltip=""/>
          </p:cNvPr>
          <p:cNvSpPr/>
          <p:nvPr/>
        </p:nvSpPr>
        <p:spPr>
          <a:xfrm>
            <a:off x="9930384" y="1883664"/>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 invalidUrl="" action="" tgtFrame="" tooltip="" history="1" highlightClick="0" endSnd="0">
                  <a:extLst>
                    <a:ext uri="{A12FA001-AC4F-418D-AE19-62706E023703}">
                      <ahyp:hlinkClr xmlns:ahyp="http://schemas.microsoft.com/office/drawing/2018/hyperlinkcolor" val="tx"/>
                    </a:ext>
                  </a:extLst>
                </a:hlinkClick>
              </a:rPr>
              <a:t>nextjs.org/docs</a:t>
            </a:r>
            <a:endParaRPr lang="en-US" sz="700" dirty="0"/>
          </a:p>
        </p:txBody>
      </p:sp>
      <p:sp>
        <p:nvSpPr>
          <p:cNvPr id="25" name="Shape 23"/>
          <p:cNvSpPr/>
          <p:nvPr/>
        </p:nvSpPr>
        <p:spPr>
          <a:xfrm>
            <a:off x="365760" y="2103120"/>
            <a:ext cx="11430000" cy="228600"/>
          </a:xfrm>
          <a:prstGeom prst="rect">
            <a:avLst/>
          </a:prstGeom>
          <a:solidFill>
            <a:srgbClr val="F7F9FC"/>
          </a:solidFill>
          <a:ln w="3810">
            <a:solidFill>
              <a:srgbClr val="EAEEF2"/>
            </a:solidFill>
            <a:prstDash val="solid"/>
          </a:ln>
        </p:spPr>
      </p:sp>
      <p:sp>
        <p:nvSpPr>
          <p:cNvPr id="26" name="Text 24"/>
          <p:cNvSpPr/>
          <p:nvPr/>
        </p:nvSpPr>
        <p:spPr>
          <a:xfrm>
            <a:off x="420624" y="2121408"/>
            <a:ext cx="2578608" cy="192024"/>
          </a:xfrm>
          <a:prstGeom prst="rect">
            <a:avLst/>
          </a:prstGeom>
          <a:noFill/>
          <a:ln/>
        </p:spPr>
        <p:txBody>
          <a:bodyPr wrap="square" lIns="0" tIns="0" rIns="0" bIns="0" rtlCol="0" anchor="ctr"/>
          <a:lstStyle/>
          <a:p>
            <a:pPr indent="0" marL="0">
              <a:buNone/>
            </a:pPr>
            <a:r>
              <a:rPr lang="en-US" sz="800" dirty="0">
                <a:solidFill>
                  <a:srgbClr val="1A2C3E"/>
                </a:solidFill>
              </a:rPr>
              <a:t>Azure Container API (server.js)</a:t>
            </a:r>
            <a:endParaRPr lang="en-US" sz="800" dirty="0"/>
          </a:p>
        </p:txBody>
      </p:sp>
      <p:sp>
        <p:nvSpPr>
          <p:cNvPr id="27" name="Text 25"/>
          <p:cNvSpPr/>
          <p:nvPr/>
        </p:nvSpPr>
        <p:spPr>
          <a:xfrm>
            <a:off x="3118104" y="2121408"/>
            <a:ext cx="2212848" cy="192024"/>
          </a:xfrm>
          <a:prstGeom prst="rect">
            <a:avLst/>
          </a:prstGeom>
          <a:noFill/>
          <a:ln/>
        </p:spPr>
        <p:txBody>
          <a:bodyPr wrap="square" lIns="0" tIns="0" rIns="0" bIns="0" rtlCol="0" anchor="ctr"/>
          <a:lstStyle/>
          <a:p>
            <a:pPr indent="0" marL="0">
              <a:buNone/>
            </a:pPr>
            <a:r>
              <a:rPr lang="en-US" sz="750" dirty="0">
                <a:solidFill>
                  <a:srgbClr val="7F8C8D"/>
                </a:solidFill>
              </a:rPr>
              <a:t>Node.js 18 + Express + WebSocket</a:t>
            </a:r>
            <a:endParaRPr lang="en-US" sz="750" dirty="0"/>
          </a:p>
        </p:txBody>
      </p:sp>
      <p:sp>
        <p:nvSpPr>
          <p:cNvPr id="28" name="Text 26"/>
          <p:cNvSpPr/>
          <p:nvPr/>
        </p:nvSpPr>
        <p:spPr>
          <a:xfrm>
            <a:off x="5449824" y="212140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Jan 20 2026</a:t>
            </a:r>
            <a:endParaRPr lang="en-US" sz="750" dirty="0"/>
          </a:p>
        </p:txBody>
      </p:sp>
      <p:sp>
        <p:nvSpPr>
          <p:cNvPr id="29" name="Text 27"/>
          <p:cNvSpPr/>
          <p:nvPr/>
        </p:nvSpPr>
        <p:spPr>
          <a:xfrm>
            <a:off x="6912864" y="212140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21 2026</a:t>
            </a:r>
            <a:endParaRPr lang="en-US" sz="750" dirty="0"/>
          </a:p>
        </p:txBody>
      </p:sp>
      <p:sp>
        <p:nvSpPr>
          <p:cNvPr id="30" name="Shape 28"/>
          <p:cNvSpPr/>
          <p:nvPr/>
        </p:nvSpPr>
        <p:spPr>
          <a:xfrm>
            <a:off x="8412480" y="2139696"/>
            <a:ext cx="1325880" cy="155448"/>
          </a:xfrm>
          <a:prstGeom prst="rect">
            <a:avLst/>
          </a:prstGeom>
          <a:solidFill>
            <a:srgbClr val="2ECC71"/>
          </a:solidFill>
          <a:ln/>
        </p:spPr>
      </p:sp>
      <p:sp>
        <p:nvSpPr>
          <p:cNvPr id="31" name="Text 29"/>
          <p:cNvSpPr/>
          <p:nvPr/>
        </p:nvSpPr>
        <p:spPr>
          <a:xfrm>
            <a:off x="8412480" y="2139696"/>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32" name="Text 30">
            <a:hlinkClick r:id="rId2" tooltip=""/>
          </p:cNvPr>
          <p:cNvSpPr/>
          <p:nvPr/>
        </p:nvSpPr>
        <p:spPr>
          <a:xfrm>
            <a:off x="9930384" y="2121408"/>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2" invalidUrl="" action="" tgtFrame="" tooltip="" history="1" highlightClick="0" endSnd="0">
                  <a:extLst>
                    <a:ext uri="{A12FA001-AC4F-418D-AE19-62706E023703}">
                      <ahyp:hlinkClr xmlns:ahyp="http://schemas.microsoft.com/office/drawing/2018/hyperlinkcolor" val="tx"/>
                    </a:ext>
                  </a:extLst>
                </a:hlinkClick>
              </a:rPr>
              <a:t>azure.com/container-apps</a:t>
            </a:r>
            <a:endParaRPr lang="en-US" sz="700" dirty="0"/>
          </a:p>
        </p:txBody>
      </p:sp>
      <p:sp>
        <p:nvSpPr>
          <p:cNvPr id="33" name="Shape 31"/>
          <p:cNvSpPr/>
          <p:nvPr/>
        </p:nvSpPr>
        <p:spPr>
          <a:xfrm>
            <a:off x="365760" y="2340864"/>
            <a:ext cx="11430000" cy="228600"/>
          </a:xfrm>
          <a:prstGeom prst="rect">
            <a:avLst/>
          </a:prstGeom>
          <a:solidFill>
            <a:srgbClr val="FFFFFF"/>
          </a:solidFill>
          <a:ln w="3810">
            <a:solidFill>
              <a:srgbClr val="EAEEF2"/>
            </a:solidFill>
            <a:prstDash val="solid"/>
          </a:ln>
        </p:spPr>
      </p:sp>
      <p:sp>
        <p:nvSpPr>
          <p:cNvPr id="34" name="Text 32"/>
          <p:cNvSpPr/>
          <p:nvPr/>
        </p:nvSpPr>
        <p:spPr>
          <a:xfrm>
            <a:off x="420624" y="2359152"/>
            <a:ext cx="2578608" cy="192024"/>
          </a:xfrm>
          <a:prstGeom prst="rect">
            <a:avLst/>
          </a:prstGeom>
          <a:noFill/>
          <a:ln/>
        </p:spPr>
        <p:txBody>
          <a:bodyPr wrap="square" lIns="0" tIns="0" rIns="0" bIns="0" rtlCol="0" anchor="ctr"/>
          <a:lstStyle/>
          <a:p>
            <a:pPr indent="0" marL="0">
              <a:buNone/>
            </a:pPr>
            <a:r>
              <a:rPr lang="en-US" sz="800" dirty="0">
                <a:solidFill>
                  <a:srgbClr val="1A2C3E"/>
                </a:solidFill>
              </a:rPr>
              <a:t>3D Globe — Global Opportunity Map</a:t>
            </a:r>
            <a:endParaRPr lang="en-US" sz="800" dirty="0"/>
          </a:p>
        </p:txBody>
      </p:sp>
      <p:sp>
        <p:nvSpPr>
          <p:cNvPr id="35" name="Text 33"/>
          <p:cNvSpPr/>
          <p:nvPr/>
        </p:nvSpPr>
        <p:spPr>
          <a:xfrm>
            <a:off x="3118104" y="2359152"/>
            <a:ext cx="2212848" cy="192024"/>
          </a:xfrm>
          <a:prstGeom prst="rect">
            <a:avLst/>
          </a:prstGeom>
          <a:noFill/>
          <a:ln/>
        </p:spPr>
        <p:txBody>
          <a:bodyPr wrap="square" lIns="0" tIns="0" rIns="0" bIns="0" rtlCol="0" anchor="ctr"/>
          <a:lstStyle/>
          <a:p>
            <a:pPr indent="0" marL="0">
              <a:buNone/>
            </a:pPr>
            <a:r>
              <a:rPr lang="en-US" sz="750" dirty="0">
                <a:solidFill>
                  <a:srgbClr val="7F8C8D"/>
                </a:solidFill>
              </a:rPr>
              <a:t>Three.js 0.128+</a:t>
            </a:r>
            <a:endParaRPr lang="en-US" sz="750" dirty="0"/>
          </a:p>
        </p:txBody>
      </p:sp>
      <p:sp>
        <p:nvSpPr>
          <p:cNvPr id="36" name="Text 34"/>
          <p:cNvSpPr/>
          <p:nvPr/>
        </p:nvSpPr>
        <p:spPr>
          <a:xfrm>
            <a:off x="5449824" y="235915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1 2026</a:t>
            </a:r>
            <a:endParaRPr lang="en-US" sz="750" dirty="0"/>
          </a:p>
        </p:txBody>
      </p:sp>
      <p:sp>
        <p:nvSpPr>
          <p:cNvPr id="37" name="Text 35"/>
          <p:cNvSpPr/>
          <p:nvPr/>
        </p:nvSpPr>
        <p:spPr>
          <a:xfrm>
            <a:off x="6912864" y="235915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21 2026</a:t>
            </a:r>
            <a:endParaRPr lang="en-US" sz="750" dirty="0"/>
          </a:p>
        </p:txBody>
      </p:sp>
      <p:sp>
        <p:nvSpPr>
          <p:cNvPr id="38" name="Shape 36"/>
          <p:cNvSpPr/>
          <p:nvPr/>
        </p:nvSpPr>
        <p:spPr>
          <a:xfrm>
            <a:off x="8412480" y="2377440"/>
            <a:ext cx="1325880" cy="155448"/>
          </a:xfrm>
          <a:prstGeom prst="rect">
            <a:avLst/>
          </a:prstGeom>
          <a:solidFill>
            <a:srgbClr val="2ECC71"/>
          </a:solidFill>
          <a:ln/>
        </p:spPr>
      </p:sp>
      <p:sp>
        <p:nvSpPr>
          <p:cNvPr id="39" name="Text 37"/>
          <p:cNvSpPr/>
          <p:nvPr/>
        </p:nvSpPr>
        <p:spPr>
          <a:xfrm>
            <a:off x="8412480" y="2377440"/>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40" name="Text 38">
            <a:hlinkClick r:id="rId3" tooltip=""/>
          </p:cNvPr>
          <p:cNvSpPr/>
          <p:nvPr/>
        </p:nvSpPr>
        <p:spPr>
          <a:xfrm>
            <a:off x="9930384" y="2359152"/>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3" invalidUrl="" action="" tgtFrame="" tooltip="" history="1" highlightClick="0" endSnd="0">
                  <a:extLst>
                    <a:ext uri="{A12FA001-AC4F-418D-AE19-62706E023703}">
                      <ahyp:hlinkClr xmlns:ahyp="http://schemas.microsoft.com/office/drawing/2018/hyperlinkcolor" val="tx"/>
                    </a:ext>
                  </a:extLst>
                </a:hlinkClick>
              </a:rPr>
              <a:t>threejs.org/docs</a:t>
            </a:r>
            <a:endParaRPr lang="en-US" sz="700" dirty="0"/>
          </a:p>
        </p:txBody>
      </p:sp>
      <p:sp>
        <p:nvSpPr>
          <p:cNvPr id="41" name="Shape 39"/>
          <p:cNvSpPr/>
          <p:nvPr/>
        </p:nvSpPr>
        <p:spPr>
          <a:xfrm>
            <a:off x="365760" y="2578608"/>
            <a:ext cx="11430000" cy="228600"/>
          </a:xfrm>
          <a:prstGeom prst="rect">
            <a:avLst/>
          </a:prstGeom>
          <a:solidFill>
            <a:srgbClr val="F7F9FC"/>
          </a:solidFill>
          <a:ln w="3810">
            <a:solidFill>
              <a:srgbClr val="EAEEF2"/>
            </a:solidFill>
            <a:prstDash val="solid"/>
          </a:ln>
        </p:spPr>
      </p:sp>
      <p:sp>
        <p:nvSpPr>
          <p:cNvPr id="42" name="Text 40"/>
          <p:cNvSpPr/>
          <p:nvPr/>
        </p:nvSpPr>
        <p:spPr>
          <a:xfrm>
            <a:off x="420624" y="2596896"/>
            <a:ext cx="2578608" cy="192024"/>
          </a:xfrm>
          <a:prstGeom prst="rect">
            <a:avLst/>
          </a:prstGeom>
          <a:noFill/>
          <a:ln/>
        </p:spPr>
        <p:txBody>
          <a:bodyPr wrap="square" lIns="0" tIns="0" rIns="0" bIns="0" rtlCol="0" anchor="ctr"/>
          <a:lstStyle/>
          <a:p>
            <a:pPr indent="0" marL="0">
              <a:buNone/>
            </a:pPr>
            <a:r>
              <a:rPr lang="en-US" sz="800" dirty="0">
                <a:solidFill>
                  <a:srgbClr val="1A2C3E"/>
                </a:solidFill>
              </a:rPr>
              <a:t>D3.js Doing Business Panel</a:t>
            </a:r>
            <a:endParaRPr lang="en-US" sz="800" dirty="0"/>
          </a:p>
        </p:txBody>
      </p:sp>
      <p:sp>
        <p:nvSpPr>
          <p:cNvPr id="43" name="Text 41"/>
          <p:cNvSpPr/>
          <p:nvPr/>
        </p:nvSpPr>
        <p:spPr>
          <a:xfrm>
            <a:off x="3118104" y="2596896"/>
            <a:ext cx="2212848" cy="192024"/>
          </a:xfrm>
          <a:prstGeom prst="rect">
            <a:avLst/>
          </a:prstGeom>
          <a:noFill/>
          <a:ln/>
        </p:spPr>
        <p:txBody>
          <a:bodyPr wrap="square" lIns="0" tIns="0" rIns="0" bIns="0" rtlCol="0" anchor="ctr"/>
          <a:lstStyle/>
          <a:p>
            <a:pPr indent="0" marL="0">
              <a:buNone/>
            </a:pPr>
            <a:r>
              <a:rPr lang="en-US" sz="750" dirty="0">
                <a:solidFill>
                  <a:srgbClr val="7F8C8D"/>
                </a:solidFill>
              </a:rPr>
              <a:t>D3.js 7.8+ Progress Bars</a:t>
            </a:r>
            <a:endParaRPr lang="en-US" sz="750" dirty="0"/>
          </a:p>
        </p:txBody>
      </p:sp>
      <p:sp>
        <p:nvSpPr>
          <p:cNvPr id="44" name="Text 42"/>
          <p:cNvSpPr/>
          <p:nvPr/>
        </p:nvSpPr>
        <p:spPr>
          <a:xfrm>
            <a:off x="5449824" y="259689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5 2026</a:t>
            </a:r>
            <a:endParaRPr lang="en-US" sz="750" dirty="0"/>
          </a:p>
        </p:txBody>
      </p:sp>
      <p:sp>
        <p:nvSpPr>
          <p:cNvPr id="45" name="Text 43"/>
          <p:cNvSpPr/>
          <p:nvPr/>
        </p:nvSpPr>
        <p:spPr>
          <a:xfrm>
            <a:off x="6912864" y="259689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21 2026</a:t>
            </a:r>
            <a:endParaRPr lang="en-US" sz="750" dirty="0"/>
          </a:p>
        </p:txBody>
      </p:sp>
      <p:sp>
        <p:nvSpPr>
          <p:cNvPr id="46" name="Shape 44"/>
          <p:cNvSpPr/>
          <p:nvPr/>
        </p:nvSpPr>
        <p:spPr>
          <a:xfrm>
            <a:off x="8412480" y="2615184"/>
            <a:ext cx="1325880" cy="155448"/>
          </a:xfrm>
          <a:prstGeom prst="rect">
            <a:avLst/>
          </a:prstGeom>
          <a:solidFill>
            <a:srgbClr val="2ECC71"/>
          </a:solidFill>
          <a:ln/>
        </p:spPr>
      </p:sp>
      <p:sp>
        <p:nvSpPr>
          <p:cNvPr id="47" name="Text 45"/>
          <p:cNvSpPr/>
          <p:nvPr/>
        </p:nvSpPr>
        <p:spPr>
          <a:xfrm>
            <a:off x="8412480" y="2615184"/>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48" name="Text 46">
            <a:hlinkClick r:id="rId4" tooltip=""/>
          </p:cNvPr>
          <p:cNvSpPr/>
          <p:nvPr/>
        </p:nvSpPr>
        <p:spPr>
          <a:xfrm>
            <a:off x="9930384" y="2596896"/>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4" invalidUrl="" action="" tgtFrame="" tooltip="" history="1" highlightClick="0" endSnd="0">
                  <a:extLst>
                    <a:ext uri="{A12FA001-AC4F-418D-AE19-62706E023703}">
                      <ahyp:hlinkClr xmlns:ahyp="http://schemas.microsoft.com/office/drawing/2018/hyperlinkcolor" val="tx"/>
                    </a:ext>
                  </a:extLst>
                </a:hlinkClick>
              </a:rPr>
              <a:t>d3js.org</a:t>
            </a:r>
            <a:endParaRPr lang="en-US" sz="700" dirty="0"/>
          </a:p>
        </p:txBody>
      </p:sp>
      <p:sp>
        <p:nvSpPr>
          <p:cNvPr id="49" name="Shape 47"/>
          <p:cNvSpPr/>
          <p:nvPr/>
        </p:nvSpPr>
        <p:spPr>
          <a:xfrm>
            <a:off x="365760" y="2816352"/>
            <a:ext cx="11430000" cy="228600"/>
          </a:xfrm>
          <a:prstGeom prst="rect">
            <a:avLst/>
          </a:prstGeom>
          <a:solidFill>
            <a:srgbClr val="FFFFFF"/>
          </a:solidFill>
          <a:ln w="3810">
            <a:solidFill>
              <a:srgbClr val="EAEEF2"/>
            </a:solidFill>
            <a:prstDash val="solid"/>
          </a:ln>
        </p:spPr>
      </p:sp>
      <p:sp>
        <p:nvSpPr>
          <p:cNvPr id="50" name="Text 48"/>
          <p:cNvSpPr/>
          <p:nvPr/>
        </p:nvSpPr>
        <p:spPr>
          <a:xfrm>
            <a:off x="420624" y="2834640"/>
            <a:ext cx="2578608" cy="192024"/>
          </a:xfrm>
          <a:prstGeom prst="rect">
            <a:avLst/>
          </a:prstGeom>
          <a:noFill/>
          <a:ln/>
        </p:spPr>
        <p:txBody>
          <a:bodyPr wrap="square" lIns="0" tIns="0" rIns="0" bIns="0" rtlCol="0" anchor="ctr"/>
          <a:lstStyle/>
          <a:p>
            <a:pPr indent="0" marL="0">
              <a:buNone/>
            </a:pPr>
            <a:r>
              <a:rPr lang="en-US" sz="800" dirty="0">
                <a:solidFill>
                  <a:srgbClr val="1A2C3E"/>
                </a:solidFill>
              </a:rPr>
              <a:t>ag-Grid Country Analysis Table</a:t>
            </a:r>
            <a:endParaRPr lang="en-US" sz="800" dirty="0"/>
          </a:p>
        </p:txBody>
      </p:sp>
      <p:sp>
        <p:nvSpPr>
          <p:cNvPr id="51" name="Text 49"/>
          <p:cNvSpPr/>
          <p:nvPr/>
        </p:nvSpPr>
        <p:spPr>
          <a:xfrm>
            <a:off x="3118104" y="2834640"/>
            <a:ext cx="2212848" cy="192024"/>
          </a:xfrm>
          <a:prstGeom prst="rect">
            <a:avLst/>
          </a:prstGeom>
          <a:noFill/>
          <a:ln/>
        </p:spPr>
        <p:txBody>
          <a:bodyPr wrap="square" lIns="0" tIns="0" rIns="0" bIns="0" rtlCol="0" anchor="ctr"/>
          <a:lstStyle/>
          <a:p>
            <a:pPr indent="0" marL="0">
              <a:buNone/>
            </a:pPr>
            <a:r>
              <a:rPr lang="en-US" sz="750" dirty="0">
                <a:solidFill>
                  <a:srgbClr val="7F8C8D"/>
                </a:solidFill>
              </a:rPr>
              <a:t>ag-Grid React 30.0+</a:t>
            </a:r>
            <a:endParaRPr lang="en-US" sz="750" dirty="0"/>
          </a:p>
        </p:txBody>
      </p:sp>
      <p:sp>
        <p:nvSpPr>
          <p:cNvPr id="52" name="Text 50"/>
          <p:cNvSpPr/>
          <p:nvPr/>
        </p:nvSpPr>
        <p:spPr>
          <a:xfrm>
            <a:off x="5449824" y="283464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8 2026</a:t>
            </a:r>
            <a:endParaRPr lang="en-US" sz="750" dirty="0"/>
          </a:p>
        </p:txBody>
      </p:sp>
      <p:sp>
        <p:nvSpPr>
          <p:cNvPr id="53" name="Text 51"/>
          <p:cNvSpPr/>
          <p:nvPr/>
        </p:nvSpPr>
        <p:spPr>
          <a:xfrm>
            <a:off x="6912864" y="283464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22 2026</a:t>
            </a:r>
            <a:endParaRPr lang="en-US" sz="750" dirty="0"/>
          </a:p>
        </p:txBody>
      </p:sp>
      <p:sp>
        <p:nvSpPr>
          <p:cNvPr id="54" name="Shape 52"/>
          <p:cNvSpPr/>
          <p:nvPr/>
        </p:nvSpPr>
        <p:spPr>
          <a:xfrm>
            <a:off x="8412480" y="2852928"/>
            <a:ext cx="1325880" cy="155448"/>
          </a:xfrm>
          <a:prstGeom prst="rect">
            <a:avLst/>
          </a:prstGeom>
          <a:solidFill>
            <a:srgbClr val="2ECC71"/>
          </a:solidFill>
          <a:ln/>
        </p:spPr>
      </p:sp>
      <p:sp>
        <p:nvSpPr>
          <p:cNvPr id="55" name="Text 53"/>
          <p:cNvSpPr/>
          <p:nvPr/>
        </p:nvSpPr>
        <p:spPr>
          <a:xfrm>
            <a:off x="8412480" y="2852928"/>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56" name="Text 54">
            <a:hlinkClick r:id="rId5" tooltip=""/>
          </p:cNvPr>
          <p:cNvSpPr/>
          <p:nvPr/>
        </p:nvSpPr>
        <p:spPr>
          <a:xfrm>
            <a:off x="9930384" y="2834640"/>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5" invalidUrl="" action="" tgtFrame="" tooltip="" history="1" highlightClick="0" endSnd="0">
                  <a:extLst>
                    <a:ext uri="{A12FA001-AC4F-418D-AE19-62706E023703}">
                      <ahyp:hlinkClr xmlns:ahyp="http://schemas.microsoft.com/office/drawing/2018/hyperlinkcolor" val="tx"/>
                    </a:ext>
                  </a:extLst>
                </a:hlinkClick>
              </a:rPr>
              <a:t>ag-grid.com/react</a:t>
            </a:r>
            <a:endParaRPr lang="en-US" sz="700" dirty="0"/>
          </a:p>
        </p:txBody>
      </p:sp>
      <p:sp>
        <p:nvSpPr>
          <p:cNvPr id="57" name="Shape 55"/>
          <p:cNvSpPr/>
          <p:nvPr/>
        </p:nvSpPr>
        <p:spPr>
          <a:xfrm>
            <a:off x="365760" y="3054096"/>
            <a:ext cx="11430000" cy="228600"/>
          </a:xfrm>
          <a:prstGeom prst="rect">
            <a:avLst/>
          </a:prstGeom>
          <a:solidFill>
            <a:srgbClr val="F7F9FC"/>
          </a:solidFill>
          <a:ln w="3810">
            <a:solidFill>
              <a:srgbClr val="EAEEF2"/>
            </a:solidFill>
            <a:prstDash val="solid"/>
          </a:ln>
        </p:spPr>
      </p:sp>
      <p:sp>
        <p:nvSpPr>
          <p:cNvPr id="58" name="Text 56"/>
          <p:cNvSpPr/>
          <p:nvPr/>
        </p:nvSpPr>
        <p:spPr>
          <a:xfrm>
            <a:off x="420624" y="3072384"/>
            <a:ext cx="2578608" cy="192024"/>
          </a:xfrm>
          <a:prstGeom prst="rect">
            <a:avLst/>
          </a:prstGeom>
          <a:noFill/>
          <a:ln/>
        </p:spPr>
        <p:txBody>
          <a:bodyPr wrap="square" lIns="0" tIns="0" rIns="0" bIns="0" rtlCol="0" anchor="ctr"/>
          <a:lstStyle/>
          <a:p>
            <a:pPr indent="0" marL="0">
              <a:buNone/>
            </a:pPr>
            <a:r>
              <a:rPr lang="en-US" sz="800" dirty="0">
                <a:solidFill>
                  <a:srgbClr val="1A2C3E"/>
                </a:solidFill>
              </a:rPr>
              <a:t>Investment Analysis — 4 Tabs</a:t>
            </a:r>
            <a:endParaRPr lang="en-US" sz="800" dirty="0"/>
          </a:p>
        </p:txBody>
      </p:sp>
      <p:sp>
        <p:nvSpPr>
          <p:cNvPr id="59" name="Text 57"/>
          <p:cNvSpPr/>
          <p:nvPr/>
        </p:nvSpPr>
        <p:spPr>
          <a:xfrm>
            <a:off x="3118104" y="3072384"/>
            <a:ext cx="2212848" cy="192024"/>
          </a:xfrm>
          <a:prstGeom prst="rect">
            <a:avLst/>
          </a:prstGeom>
          <a:noFill/>
          <a:ln/>
        </p:spPr>
        <p:txBody>
          <a:bodyPr wrap="square" lIns="0" tIns="0" rIns="0" bIns="0" rtlCol="0" anchor="ctr"/>
          <a:lstStyle/>
          <a:p>
            <a:pPr indent="0" marL="0">
              <a:buNone/>
            </a:pPr>
            <a:r>
              <a:rPr lang="en-US" sz="750" dirty="0">
                <a:solidFill>
                  <a:srgbClr val="7F8C8D"/>
                </a:solidFill>
              </a:rPr>
              <a:t>React + D3.js + ag-Grid</a:t>
            </a:r>
            <a:endParaRPr lang="en-US" sz="750" dirty="0"/>
          </a:p>
        </p:txBody>
      </p:sp>
      <p:sp>
        <p:nvSpPr>
          <p:cNvPr id="60" name="Text 58"/>
          <p:cNvSpPr/>
          <p:nvPr/>
        </p:nvSpPr>
        <p:spPr>
          <a:xfrm>
            <a:off x="5449824" y="307238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10 2026</a:t>
            </a:r>
            <a:endParaRPr lang="en-US" sz="750" dirty="0"/>
          </a:p>
        </p:txBody>
      </p:sp>
      <p:sp>
        <p:nvSpPr>
          <p:cNvPr id="61" name="Text 59"/>
          <p:cNvSpPr/>
          <p:nvPr/>
        </p:nvSpPr>
        <p:spPr>
          <a:xfrm>
            <a:off x="6912864" y="307238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22 2026</a:t>
            </a:r>
            <a:endParaRPr lang="en-US" sz="750" dirty="0"/>
          </a:p>
        </p:txBody>
      </p:sp>
      <p:sp>
        <p:nvSpPr>
          <p:cNvPr id="62" name="Shape 60"/>
          <p:cNvSpPr/>
          <p:nvPr/>
        </p:nvSpPr>
        <p:spPr>
          <a:xfrm>
            <a:off x="8412480" y="3090672"/>
            <a:ext cx="1325880" cy="155448"/>
          </a:xfrm>
          <a:prstGeom prst="rect">
            <a:avLst/>
          </a:prstGeom>
          <a:solidFill>
            <a:srgbClr val="2ECC71"/>
          </a:solidFill>
          <a:ln/>
        </p:spPr>
      </p:sp>
      <p:sp>
        <p:nvSpPr>
          <p:cNvPr id="63" name="Text 61"/>
          <p:cNvSpPr/>
          <p:nvPr/>
        </p:nvSpPr>
        <p:spPr>
          <a:xfrm>
            <a:off x="8412480" y="3090672"/>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64" name="Text 62">
            <a:hlinkClick r:id="rId6" tooltip=""/>
          </p:cNvPr>
          <p:cNvSpPr/>
          <p:nvPr/>
        </p:nvSpPr>
        <p:spPr>
          <a:xfrm>
            <a:off x="9930384" y="3072384"/>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6" invalidUrl="" action="" tgtFrame="" tooltip="" history="1" highlightClick="0" endSnd="0">
                  <a:extLst>
                    <a:ext uri="{A12FA001-AC4F-418D-AE19-62706E023703}">
                      <ahyp:hlinkClr xmlns:ahyp="http://schemas.microsoft.com/office/drawing/2018/hyperlinkcolor" val="tx"/>
                    </a:ext>
                  </a:extLst>
                </a:hlinkClick>
              </a:rPr>
              <a:t>fdimonitor.org/inv-analysis</a:t>
            </a:r>
            <a:endParaRPr lang="en-US" sz="700" dirty="0"/>
          </a:p>
        </p:txBody>
      </p:sp>
      <p:sp>
        <p:nvSpPr>
          <p:cNvPr id="65" name="Shape 63"/>
          <p:cNvSpPr/>
          <p:nvPr/>
        </p:nvSpPr>
        <p:spPr>
          <a:xfrm>
            <a:off x="365760" y="3291840"/>
            <a:ext cx="11430000" cy="228600"/>
          </a:xfrm>
          <a:prstGeom prst="rect">
            <a:avLst/>
          </a:prstGeom>
          <a:solidFill>
            <a:srgbClr val="FFFFFF"/>
          </a:solidFill>
          <a:ln w="3810">
            <a:solidFill>
              <a:srgbClr val="EAEEF2"/>
            </a:solidFill>
            <a:prstDash val="solid"/>
          </a:ln>
        </p:spPr>
      </p:sp>
      <p:sp>
        <p:nvSpPr>
          <p:cNvPr id="66" name="Text 64"/>
          <p:cNvSpPr/>
          <p:nvPr/>
        </p:nvSpPr>
        <p:spPr>
          <a:xfrm>
            <a:off x="420624" y="3310128"/>
            <a:ext cx="2578608" cy="192024"/>
          </a:xfrm>
          <a:prstGeom prst="rect">
            <a:avLst/>
          </a:prstGeom>
          <a:noFill/>
          <a:ln/>
        </p:spPr>
        <p:txBody>
          <a:bodyPr wrap="square" lIns="0" tIns="0" rIns="0" bIns="0" rtlCol="0" anchor="ctr"/>
          <a:lstStyle/>
          <a:p>
            <a:pPr indent="0" marL="0">
              <a:buNone/>
            </a:pPr>
            <a:r>
              <a:rPr lang="en-US" sz="800" dirty="0">
                <a:solidFill>
                  <a:srgbClr val="1A2C3E"/>
                </a:solidFill>
              </a:rPr>
              <a:t>PDF Report Generator (HTML)</a:t>
            </a:r>
            <a:endParaRPr lang="en-US" sz="800" dirty="0"/>
          </a:p>
        </p:txBody>
      </p:sp>
      <p:sp>
        <p:nvSpPr>
          <p:cNvPr id="67" name="Text 65"/>
          <p:cNvSpPr/>
          <p:nvPr/>
        </p:nvSpPr>
        <p:spPr>
          <a:xfrm>
            <a:off x="3118104" y="3310128"/>
            <a:ext cx="2212848" cy="192024"/>
          </a:xfrm>
          <a:prstGeom prst="rect">
            <a:avLst/>
          </a:prstGeom>
          <a:noFill/>
          <a:ln/>
        </p:spPr>
        <p:txBody>
          <a:bodyPr wrap="square" lIns="0" tIns="0" rIns="0" bIns="0" rtlCol="0" anchor="ctr"/>
          <a:lstStyle/>
          <a:p>
            <a:pPr indent="0" marL="0">
              <a:buNone/>
            </a:pPr>
            <a:r>
              <a:rPr lang="en-US" sz="750" dirty="0">
                <a:solidFill>
                  <a:srgbClr val="7F8C8D"/>
                </a:solidFill>
              </a:rPr>
              <a:t>Puppeteer 20.0+</a:t>
            </a:r>
            <a:endParaRPr lang="en-US" sz="750" dirty="0"/>
          </a:p>
        </p:txBody>
      </p:sp>
      <p:sp>
        <p:nvSpPr>
          <p:cNvPr id="68" name="Text 66"/>
          <p:cNvSpPr/>
          <p:nvPr/>
        </p:nvSpPr>
        <p:spPr>
          <a:xfrm>
            <a:off x="5449824" y="331012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15 2026</a:t>
            </a:r>
            <a:endParaRPr lang="en-US" sz="750" dirty="0"/>
          </a:p>
        </p:txBody>
      </p:sp>
      <p:sp>
        <p:nvSpPr>
          <p:cNvPr id="69" name="Text 67"/>
          <p:cNvSpPr/>
          <p:nvPr/>
        </p:nvSpPr>
        <p:spPr>
          <a:xfrm>
            <a:off x="6912864" y="331012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22 2026</a:t>
            </a:r>
            <a:endParaRPr lang="en-US" sz="750" dirty="0"/>
          </a:p>
        </p:txBody>
      </p:sp>
      <p:sp>
        <p:nvSpPr>
          <p:cNvPr id="70" name="Shape 68"/>
          <p:cNvSpPr/>
          <p:nvPr/>
        </p:nvSpPr>
        <p:spPr>
          <a:xfrm>
            <a:off x="8412480" y="3328416"/>
            <a:ext cx="1325880" cy="155448"/>
          </a:xfrm>
          <a:prstGeom prst="rect">
            <a:avLst/>
          </a:prstGeom>
          <a:solidFill>
            <a:srgbClr val="2ECC71"/>
          </a:solidFill>
          <a:ln/>
        </p:spPr>
      </p:sp>
      <p:sp>
        <p:nvSpPr>
          <p:cNvPr id="71" name="Text 69"/>
          <p:cNvSpPr/>
          <p:nvPr/>
        </p:nvSpPr>
        <p:spPr>
          <a:xfrm>
            <a:off x="8412480" y="3328416"/>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72" name="Text 70">
            <a:hlinkClick r:id="rId7" tooltip=""/>
          </p:cNvPr>
          <p:cNvSpPr/>
          <p:nvPr/>
        </p:nvSpPr>
        <p:spPr>
          <a:xfrm>
            <a:off x="9930384" y="3310128"/>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7" invalidUrl="" action="" tgtFrame="" tooltip="" history="1" highlightClick="0" endSnd="0">
                  <a:extLst>
                    <a:ext uri="{A12FA001-AC4F-418D-AE19-62706E023703}">
                      <ahyp:hlinkClr xmlns:ahyp="http://schemas.microsoft.com/office/drawing/2018/hyperlinkcolor" val="tx"/>
                    </a:ext>
                  </a:extLst>
                </a:hlinkClick>
              </a:rPr>
              <a:t>pptr.dev</a:t>
            </a:r>
            <a:endParaRPr lang="en-US" sz="700" dirty="0"/>
          </a:p>
        </p:txBody>
      </p:sp>
      <p:sp>
        <p:nvSpPr>
          <p:cNvPr id="73" name="Shape 71"/>
          <p:cNvSpPr/>
          <p:nvPr/>
        </p:nvSpPr>
        <p:spPr>
          <a:xfrm>
            <a:off x="365760" y="3529584"/>
            <a:ext cx="11430000" cy="228600"/>
          </a:xfrm>
          <a:prstGeom prst="rect">
            <a:avLst/>
          </a:prstGeom>
          <a:solidFill>
            <a:srgbClr val="F7F9FC"/>
          </a:solidFill>
          <a:ln w="3810">
            <a:solidFill>
              <a:srgbClr val="EAEEF2"/>
            </a:solidFill>
            <a:prstDash val="solid"/>
          </a:ln>
        </p:spPr>
      </p:sp>
      <p:sp>
        <p:nvSpPr>
          <p:cNvPr id="74" name="Text 72"/>
          <p:cNvSpPr/>
          <p:nvPr/>
        </p:nvSpPr>
        <p:spPr>
          <a:xfrm>
            <a:off x="420624" y="3547872"/>
            <a:ext cx="2578608" cy="192024"/>
          </a:xfrm>
          <a:prstGeom prst="rect">
            <a:avLst/>
          </a:prstGeom>
          <a:noFill/>
          <a:ln/>
        </p:spPr>
        <p:txBody>
          <a:bodyPr wrap="square" lIns="0" tIns="0" rIns="0" bIns="0" rtlCol="0" anchor="ctr"/>
          <a:lstStyle/>
          <a:p>
            <a:pPr indent="0" marL="0">
              <a:buNone/>
            </a:pPr>
            <a:r>
              <a:rPr lang="en-US" sz="800" dirty="0">
                <a:solidFill>
                  <a:srgbClr val="1A2C3E"/>
                </a:solidFill>
              </a:rPr>
              <a:t>AI Agent Pipeline (6 stages)</a:t>
            </a:r>
            <a:endParaRPr lang="en-US" sz="800" dirty="0"/>
          </a:p>
        </p:txBody>
      </p:sp>
      <p:sp>
        <p:nvSpPr>
          <p:cNvPr id="75" name="Text 73"/>
          <p:cNvSpPr/>
          <p:nvPr/>
        </p:nvSpPr>
        <p:spPr>
          <a:xfrm>
            <a:off x="3118104" y="3547872"/>
            <a:ext cx="2212848" cy="192024"/>
          </a:xfrm>
          <a:prstGeom prst="rect">
            <a:avLst/>
          </a:prstGeom>
          <a:noFill/>
          <a:ln/>
        </p:spPr>
        <p:txBody>
          <a:bodyPr wrap="square" lIns="0" tIns="0" rIns="0" bIns="0" rtlCol="0" anchor="ctr"/>
          <a:lstStyle/>
          <a:p>
            <a:pPr indent="0" marL="0">
              <a:buNone/>
            </a:pPr>
            <a:r>
              <a:rPr lang="en-US" sz="750" dirty="0">
                <a:solidFill>
                  <a:srgbClr val="7F8C8D"/>
                </a:solidFill>
              </a:rPr>
              <a:t>Python 3.12 + Anthropic API</a:t>
            </a:r>
            <a:endParaRPr lang="en-US" sz="750" dirty="0"/>
          </a:p>
        </p:txBody>
      </p:sp>
      <p:sp>
        <p:nvSpPr>
          <p:cNvPr id="76" name="Text 74"/>
          <p:cNvSpPr/>
          <p:nvPr/>
        </p:nvSpPr>
        <p:spPr>
          <a:xfrm>
            <a:off x="5449824" y="354787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20 2026</a:t>
            </a:r>
            <a:endParaRPr lang="en-US" sz="750" dirty="0"/>
          </a:p>
        </p:txBody>
      </p:sp>
      <p:sp>
        <p:nvSpPr>
          <p:cNvPr id="77" name="Text 75"/>
          <p:cNvSpPr/>
          <p:nvPr/>
        </p:nvSpPr>
        <p:spPr>
          <a:xfrm>
            <a:off x="6912864" y="354787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21 2026</a:t>
            </a:r>
            <a:endParaRPr lang="en-US" sz="750" dirty="0"/>
          </a:p>
        </p:txBody>
      </p:sp>
      <p:sp>
        <p:nvSpPr>
          <p:cNvPr id="78" name="Shape 76"/>
          <p:cNvSpPr/>
          <p:nvPr/>
        </p:nvSpPr>
        <p:spPr>
          <a:xfrm>
            <a:off x="8412480" y="3566160"/>
            <a:ext cx="1325880" cy="155448"/>
          </a:xfrm>
          <a:prstGeom prst="rect">
            <a:avLst/>
          </a:prstGeom>
          <a:solidFill>
            <a:srgbClr val="2ECC71"/>
          </a:solidFill>
          <a:ln/>
        </p:spPr>
      </p:sp>
      <p:sp>
        <p:nvSpPr>
          <p:cNvPr id="79" name="Text 77"/>
          <p:cNvSpPr/>
          <p:nvPr/>
        </p:nvSpPr>
        <p:spPr>
          <a:xfrm>
            <a:off x="8412480" y="3566160"/>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80" name="Text 78">
            <a:hlinkClick r:id="rId8" tooltip=""/>
          </p:cNvPr>
          <p:cNvSpPr/>
          <p:nvPr/>
        </p:nvSpPr>
        <p:spPr>
          <a:xfrm>
            <a:off x="9930384" y="3547872"/>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8" invalidUrl="" action="" tgtFrame="" tooltip="" history="1" highlightClick="0" endSnd="0">
                  <a:extLst>
                    <a:ext uri="{A12FA001-AC4F-418D-AE19-62706E023703}">
                      <ahyp:hlinkClr xmlns:ahyp="http://schemas.microsoft.com/office/drawing/2018/hyperlinkcolor" val="tx"/>
                    </a:ext>
                  </a:extLst>
                </a:hlinkClick>
              </a:rPr>
              <a:t>docs.anthropic.com</a:t>
            </a:r>
            <a:endParaRPr lang="en-US" sz="700" dirty="0"/>
          </a:p>
        </p:txBody>
      </p:sp>
      <p:sp>
        <p:nvSpPr>
          <p:cNvPr id="81" name="Shape 79"/>
          <p:cNvSpPr/>
          <p:nvPr/>
        </p:nvSpPr>
        <p:spPr>
          <a:xfrm>
            <a:off x="365760" y="3767328"/>
            <a:ext cx="11430000" cy="228600"/>
          </a:xfrm>
          <a:prstGeom prst="rect">
            <a:avLst/>
          </a:prstGeom>
          <a:solidFill>
            <a:srgbClr val="FFFFFF"/>
          </a:solidFill>
          <a:ln w="3810">
            <a:solidFill>
              <a:srgbClr val="EAEEF2"/>
            </a:solidFill>
            <a:prstDash val="solid"/>
          </a:ln>
        </p:spPr>
      </p:sp>
      <p:sp>
        <p:nvSpPr>
          <p:cNvPr id="82" name="Text 80"/>
          <p:cNvSpPr/>
          <p:nvPr/>
        </p:nvSpPr>
        <p:spPr>
          <a:xfrm>
            <a:off x="420624" y="3785616"/>
            <a:ext cx="2578608" cy="192024"/>
          </a:xfrm>
          <a:prstGeom prst="rect">
            <a:avLst/>
          </a:prstGeom>
          <a:noFill/>
          <a:ln/>
        </p:spPr>
        <p:txBody>
          <a:bodyPr wrap="square" lIns="0" tIns="0" rIns="0" bIns="0" rtlCol="0" anchor="ctr"/>
          <a:lstStyle/>
          <a:p>
            <a:pPr indent="0" marL="0">
              <a:buNone/>
            </a:pPr>
            <a:r>
              <a:rPr lang="en-US" sz="800" dirty="0">
                <a:solidFill>
                  <a:srgbClr val="1A2C3E"/>
                </a:solidFill>
              </a:rPr>
              <a:t>GFR Ranking Page (/gfr)</a:t>
            </a:r>
            <a:endParaRPr lang="en-US" sz="800" dirty="0"/>
          </a:p>
        </p:txBody>
      </p:sp>
      <p:sp>
        <p:nvSpPr>
          <p:cNvPr id="83" name="Text 81"/>
          <p:cNvSpPr/>
          <p:nvPr/>
        </p:nvSpPr>
        <p:spPr>
          <a:xfrm>
            <a:off x="3118104" y="3785616"/>
            <a:ext cx="2212848" cy="192024"/>
          </a:xfrm>
          <a:prstGeom prst="rect">
            <a:avLst/>
          </a:prstGeom>
          <a:noFill/>
          <a:ln/>
        </p:spPr>
        <p:txBody>
          <a:bodyPr wrap="square" lIns="0" tIns="0" rIns="0" bIns="0" rtlCol="0" anchor="ctr"/>
          <a:lstStyle/>
          <a:p>
            <a:pPr indent="0" marL="0">
              <a:buNone/>
            </a:pPr>
            <a:r>
              <a:rPr lang="en-US" sz="750" dirty="0">
                <a:solidFill>
                  <a:srgbClr val="7F8C8D"/>
                </a:solidFill>
              </a:rPr>
              <a:t>React + AGT-05 Scoring Agent</a:t>
            </a:r>
            <a:endParaRPr lang="en-US" sz="750" dirty="0"/>
          </a:p>
        </p:txBody>
      </p:sp>
      <p:sp>
        <p:nvSpPr>
          <p:cNvPr id="84" name="Text 82"/>
          <p:cNvSpPr/>
          <p:nvPr/>
        </p:nvSpPr>
        <p:spPr>
          <a:xfrm>
            <a:off x="5449824" y="378561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22 2026</a:t>
            </a:r>
            <a:endParaRPr lang="en-US" sz="750" dirty="0"/>
          </a:p>
        </p:txBody>
      </p:sp>
      <p:sp>
        <p:nvSpPr>
          <p:cNvPr id="85" name="Text 83"/>
          <p:cNvSpPr/>
          <p:nvPr/>
        </p:nvSpPr>
        <p:spPr>
          <a:xfrm>
            <a:off x="6912864" y="378561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21 2026</a:t>
            </a:r>
            <a:endParaRPr lang="en-US" sz="750" dirty="0"/>
          </a:p>
        </p:txBody>
      </p:sp>
      <p:sp>
        <p:nvSpPr>
          <p:cNvPr id="86" name="Shape 84"/>
          <p:cNvSpPr/>
          <p:nvPr/>
        </p:nvSpPr>
        <p:spPr>
          <a:xfrm>
            <a:off x="8412480" y="3803904"/>
            <a:ext cx="1325880" cy="155448"/>
          </a:xfrm>
          <a:prstGeom prst="rect">
            <a:avLst/>
          </a:prstGeom>
          <a:solidFill>
            <a:srgbClr val="2ECC71"/>
          </a:solidFill>
          <a:ln/>
        </p:spPr>
      </p:sp>
      <p:sp>
        <p:nvSpPr>
          <p:cNvPr id="87" name="Text 85"/>
          <p:cNvSpPr/>
          <p:nvPr/>
        </p:nvSpPr>
        <p:spPr>
          <a:xfrm>
            <a:off x="8412480" y="3803904"/>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88" name="Text 86">
            <a:hlinkClick r:id="rId9" tooltip=""/>
          </p:cNvPr>
          <p:cNvSpPr/>
          <p:nvPr/>
        </p:nvSpPr>
        <p:spPr>
          <a:xfrm>
            <a:off x="9930384" y="3785616"/>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9" invalidUrl="" action="" tgtFrame="" tooltip="" history="1" highlightClick="0" endSnd="0">
                  <a:extLst>
                    <a:ext uri="{A12FA001-AC4F-418D-AE19-62706E023703}">
                      <ahyp:hlinkClr xmlns:ahyp="http://schemas.microsoft.com/office/drawing/2018/hyperlinkcolor" val="tx"/>
                    </a:ext>
                  </a:extLst>
                </a:hlinkClick>
              </a:rPr>
              <a:t>fdimonitor.org/gfr</a:t>
            </a:r>
            <a:endParaRPr lang="en-US" sz="700" dirty="0"/>
          </a:p>
        </p:txBody>
      </p:sp>
      <p:sp>
        <p:nvSpPr>
          <p:cNvPr id="89" name="Shape 87"/>
          <p:cNvSpPr/>
          <p:nvPr/>
        </p:nvSpPr>
        <p:spPr>
          <a:xfrm>
            <a:off x="365760" y="4005072"/>
            <a:ext cx="11430000" cy="228600"/>
          </a:xfrm>
          <a:prstGeom prst="rect">
            <a:avLst/>
          </a:prstGeom>
          <a:solidFill>
            <a:srgbClr val="F7F9FC"/>
          </a:solidFill>
          <a:ln w="3810">
            <a:solidFill>
              <a:srgbClr val="EAEEF2"/>
            </a:solidFill>
            <a:prstDash val="solid"/>
          </a:ln>
        </p:spPr>
      </p:sp>
      <p:sp>
        <p:nvSpPr>
          <p:cNvPr id="90" name="Text 88"/>
          <p:cNvSpPr/>
          <p:nvPr/>
        </p:nvSpPr>
        <p:spPr>
          <a:xfrm>
            <a:off x="420624" y="4023360"/>
            <a:ext cx="2578608" cy="192024"/>
          </a:xfrm>
          <a:prstGeom prst="rect">
            <a:avLst/>
          </a:prstGeom>
          <a:noFill/>
          <a:ln/>
        </p:spPr>
        <p:txBody>
          <a:bodyPr wrap="square" lIns="0" tIns="0" rIns="0" bIns="0" rtlCol="0" anchor="ctr"/>
          <a:lstStyle/>
          <a:p>
            <a:pPr indent="0" marL="0">
              <a:buNone/>
            </a:pPr>
            <a:r>
              <a:rPr lang="en-US" sz="800" dirty="0">
                <a:solidFill>
                  <a:srgbClr val="1A2C3E"/>
                </a:solidFill>
              </a:rPr>
              <a:t>Publications Page + PDF Archive</a:t>
            </a:r>
            <a:endParaRPr lang="en-US" sz="800" dirty="0"/>
          </a:p>
        </p:txBody>
      </p:sp>
      <p:sp>
        <p:nvSpPr>
          <p:cNvPr id="91" name="Text 89"/>
          <p:cNvSpPr/>
          <p:nvPr/>
        </p:nvSpPr>
        <p:spPr>
          <a:xfrm>
            <a:off x="3118104" y="4023360"/>
            <a:ext cx="2212848" cy="192024"/>
          </a:xfrm>
          <a:prstGeom prst="rect">
            <a:avLst/>
          </a:prstGeom>
          <a:noFill/>
          <a:ln/>
        </p:spPr>
        <p:txBody>
          <a:bodyPr wrap="square" lIns="0" tIns="0" rIns="0" bIns="0" rtlCol="0" anchor="ctr"/>
          <a:lstStyle/>
          <a:p>
            <a:pPr indent="0" marL="0">
              <a:buNone/>
            </a:pPr>
            <a:r>
              <a:rPr lang="en-US" sz="750" dirty="0">
                <a:solidFill>
                  <a:srgbClr val="7F8C8D"/>
                </a:solidFill>
              </a:rPr>
              <a:t>React + AWS S3 signed URLs</a:t>
            </a:r>
            <a:endParaRPr lang="en-US" sz="750" dirty="0"/>
          </a:p>
        </p:txBody>
      </p:sp>
      <p:sp>
        <p:nvSpPr>
          <p:cNvPr id="92" name="Text 90"/>
          <p:cNvSpPr/>
          <p:nvPr/>
        </p:nvSpPr>
        <p:spPr>
          <a:xfrm>
            <a:off x="5449824" y="402336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 2026</a:t>
            </a:r>
            <a:endParaRPr lang="en-US" sz="750" dirty="0"/>
          </a:p>
        </p:txBody>
      </p:sp>
      <p:sp>
        <p:nvSpPr>
          <p:cNvPr id="93" name="Text 91"/>
          <p:cNvSpPr/>
          <p:nvPr/>
        </p:nvSpPr>
        <p:spPr>
          <a:xfrm>
            <a:off x="6912864" y="402336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23 2026</a:t>
            </a:r>
            <a:endParaRPr lang="en-US" sz="750" dirty="0"/>
          </a:p>
        </p:txBody>
      </p:sp>
      <p:sp>
        <p:nvSpPr>
          <p:cNvPr id="94" name="Shape 92"/>
          <p:cNvSpPr/>
          <p:nvPr/>
        </p:nvSpPr>
        <p:spPr>
          <a:xfrm>
            <a:off x="8412480" y="4041648"/>
            <a:ext cx="1325880" cy="155448"/>
          </a:xfrm>
          <a:prstGeom prst="rect">
            <a:avLst/>
          </a:prstGeom>
          <a:solidFill>
            <a:srgbClr val="2ECC71"/>
          </a:solidFill>
          <a:ln/>
        </p:spPr>
      </p:sp>
      <p:sp>
        <p:nvSpPr>
          <p:cNvPr id="95" name="Text 93"/>
          <p:cNvSpPr/>
          <p:nvPr/>
        </p:nvSpPr>
        <p:spPr>
          <a:xfrm>
            <a:off x="8412480" y="4041648"/>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96" name="Text 94">
            <a:hlinkClick r:id="rId10" tooltip=""/>
          </p:cNvPr>
          <p:cNvSpPr/>
          <p:nvPr/>
        </p:nvSpPr>
        <p:spPr>
          <a:xfrm>
            <a:off x="9930384" y="4023360"/>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0" invalidUrl="" action="" tgtFrame="" tooltip="" history="1" highlightClick="0" endSnd="0">
                  <a:extLst>
                    <a:ext uri="{A12FA001-AC4F-418D-AE19-62706E023703}">
                      <ahyp:hlinkClr xmlns:ahyp="http://schemas.microsoft.com/office/drawing/2018/hyperlinkcolor" val="tx"/>
                    </a:ext>
                  </a:extLst>
                </a:hlinkClick>
              </a:rPr>
              <a:t>fdimonitor.org/pubs</a:t>
            </a:r>
            <a:endParaRPr lang="en-US" sz="700" dirty="0"/>
          </a:p>
        </p:txBody>
      </p:sp>
      <p:sp>
        <p:nvSpPr>
          <p:cNvPr id="97" name="Shape 95"/>
          <p:cNvSpPr/>
          <p:nvPr/>
        </p:nvSpPr>
        <p:spPr>
          <a:xfrm>
            <a:off x="365760" y="4242816"/>
            <a:ext cx="11430000" cy="228600"/>
          </a:xfrm>
          <a:prstGeom prst="rect">
            <a:avLst/>
          </a:prstGeom>
          <a:solidFill>
            <a:srgbClr val="FFFFFF"/>
          </a:solidFill>
          <a:ln w="3810">
            <a:solidFill>
              <a:srgbClr val="EAEEF2"/>
            </a:solidFill>
            <a:prstDash val="solid"/>
          </a:ln>
        </p:spPr>
      </p:sp>
      <p:sp>
        <p:nvSpPr>
          <p:cNvPr id="98" name="Text 96"/>
          <p:cNvSpPr/>
          <p:nvPr/>
        </p:nvSpPr>
        <p:spPr>
          <a:xfrm>
            <a:off x="420624" y="4261104"/>
            <a:ext cx="2578608" cy="192024"/>
          </a:xfrm>
          <a:prstGeom prst="rect">
            <a:avLst/>
          </a:prstGeom>
          <a:noFill/>
          <a:ln/>
        </p:spPr>
        <p:txBody>
          <a:bodyPr wrap="square" lIns="0" tIns="0" rIns="0" bIns="0" rtlCol="0" anchor="ctr"/>
          <a:lstStyle/>
          <a:p>
            <a:pPr indent="0" marL="0">
              <a:buNone/>
            </a:pPr>
            <a:r>
              <a:rPr lang="en-US" sz="800" dirty="0">
                <a:solidFill>
                  <a:srgbClr val="1A2C3E"/>
                </a:solidFill>
              </a:rPr>
              <a:t>Live Signals Feed (/signals)</a:t>
            </a:r>
            <a:endParaRPr lang="en-US" sz="800" dirty="0"/>
          </a:p>
        </p:txBody>
      </p:sp>
      <p:sp>
        <p:nvSpPr>
          <p:cNvPr id="99" name="Text 97"/>
          <p:cNvSpPr/>
          <p:nvPr/>
        </p:nvSpPr>
        <p:spPr>
          <a:xfrm>
            <a:off x="3118104" y="4261104"/>
            <a:ext cx="2212848" cy="192024"/>
          </a:xfrm>
          <a:prstGeom prst="rect">
            <a:avLst/>
          </a:prstGeom>
          <a:noFill/>
          <a:ln/>
        </p:spPr>
        <p:txBody>
          <a:bodyPr wrap="square" lIns="0" tIns="0" rIns="0" bIns="0" rtlCol="0" anchor="ctr"/>
          <a:lstStyle/>
          <a:p>
            <a:pPr indent="0" marL="0">
              <a:buNone/>
            </a:pPr>
            <a:r>
              <a:rPr lang="en-US" sz="750" dirty="0">
                <a:solidFill>
                  <a:srgbClr val="7F8C8D"/>
                </a:solidFill>
              </a:rPr>
              <a:t>Socket.io-client 4.6+</a:t>
            </a:r>
            <a:endParaRPr lang="en-US" sz="750" dirty="0"/>
          </a:p>
        </p:txBody>
      </p:sp>
      <p:sp>
        <p:nvSpPr>
          <p:cNvPr id="100" name="Text 98"/>
          <p:cNvSpPr/>
          <p:nvPr/>
        </p:nvSpPr>
        <p:spPr>
          <a:xfrm>
            <a:off x="5449824" y="426110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Feb 25 2026</a:t>
            </a:r>
            <a:endParaRPr lang="en-US" sz="750" dirty="0"/>
          </a:p>
        </p:txBody>
      </p:sp>
      <p:sp>
        <p:nvSpPr>
          <p:cNvPr id="101" name="Text 99"/>
          <p:cNvSpPr/>
          <p:nvPr/>
        </p:nvSpPr>
        <p:spPr>
          <a:xfrm>
            <a:off x="6912864" y="426110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22 2026</a:t>
            </a:r>
            <a:endParaRPr lang="en-US" sz="750" dirty="0"/>
          </a:p>
        </p:txBody>
      </p:sp>
      <p:sp>
        <p:nvSpPr>
          <p:cNvPr id="102" name="Shape 100"/>
          <p:cNvSpPr/>
          <p:nvPr/>
        </p:nvSpPr>
        <p:spPr>
          <a:xfrm>
            <a:off x="8412480" y="4279392"/>
            <a:ext cx="1325880" cy="155448"/>
          </a:xfrm>
          <a:prstGeom prst="rect">
            <a:avLst/>
          </a:prstGeom>
          <a:solidFill>
            <a:srgbClr val="2ECC71"/>
          </a:solidFill>
          <a:ln/>
        </p:spPr>
      </p:sp>
      <p:sp>
        <p:nvSpPr>
          <p:cNvPr id="103" name="Text 101"/>
          <p:cNvSpPr/>
          <p:nvPr/>
        </p:nvSpPr>
        <p:spPr>
          <a:xfrm>
            <a:off x="8412480" y="4279392"/>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104" name="Text 102">
            <a:hlinkClick r:id="rId11" tooltip=""/>
          </p:cNvPr>
          <p:cNvSpPr/>
          <p:nvPr/>
        </p:nvSpPr>
        <p:spPr>
          <a:xfrm>
            <a:off x="9930384" y="4261104"/>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1" invalidUrl="" action="" tgtFrame="" tooltip="" history="1" highlightClick="0" endSnd="0">
                  <a:extLst>
                    <a:ext uri="{A12FA001-AC4F-418D-AE19-62706E023703}">
                      <ahyp:hlinkClr xmlns:ahyp="http://schemas.microsoft.com/office/drawing/2018/hyperlinkcolor" val="tx"/>
                    </a:ext>
                  </a:extLst>
                </a:hlinkClick>
              </a:rPr>
              <a:t>socket.io/docs/v4</a:t>
            </a:r>
            <a:endParaRPr lang="en-US" sz="700" dirty="0"/>
          </a:p>
        </p:txBody>
      </p:sp>
      <p:sp>
        <p:nvSpPr>
          <p:cNvPr id="105" name="Shape 103"/>
          <p:cNvSpPr/>
          <p:nvPr/>
        </p:nvSpPr>
        <p:spPr>
          <a:xfrm>
            <a:off x="365760" y="4480560"/>
            <a:ext cx="11430000" cy="228600"/>
          </a:xfrm>
          <a:prstGeom prst="rect">
            <a:avLst/>
          </a:prstGeom>
          <a:solidFill>
            <a:srgbClr val="F7F9FC"/>
          </a:solidFill>
          <a:ln w="3810">
            <a:solidFill>
              <a:srgbClr val="EAEEF2"/>
            </a:solidFill>
            <a:prstDash val="solid"/>
          </a:ln>
        </p:spPr>
      </p:sp>
      <p:sp>
        <p:nvSpPr>
          <p:cNvPr id="106" name="Text 104"/>
          <p:cNvSpPr/>
          <p:nvPr/>
        </p:nvSpPr>
        <p:spPr>
          <a:xfrm>
            <a:off x="420624" y="4498848"/>
            <a:ext cx="2578608" cy="192024"/>
          </a:xfrm>
          <a:prstGeom prst="rect">
            <a:avLst/>
          </a:prstGeom>
          <a:noFill/>
          <a:ln/>
        </p:spPr>
        <p:txBody>
          <a:bodyPr wrap="square" lIns="0" tIns="0" rIns="0" bIns="0" rtlCol="0" anchor="ctr"/>
          <a:lstStyle/>
          <a:p>
            <a:pPr indent="0" marL="0">
              <a:buNone/>
            </a:pPr>
            <a:r>
              <a:rPr lang="en-US" sz="800" dirty="0">
                <a:solidFill>
                  <a:srgbClr val="1A2C3E"/>
                </a:solidFill>
              </a:rPr>
              <a:t>Brand System (#1a2c3e #2ecc71 #f1c40f)</a:t>
            </a:r>
            <a:endParaRPr lang="en-US" sz="800" dirty="0"/>
          </a:p>
        </p:txBody>
      </p:sp>
      <p:sp>
        <p:nvSpPr>
          <p:cNvPr id="107" name="Text 105"/>
          <p:cNvSpPr/>
          <p:nvPr/>
        </p:nvSpPr>
        <p:spPr>
          <a:xfrm>
            <a:off x="3118104" y="4498848"/>
            <a:ext cx="2212848" cy="192024"/>
          </a:xfrm>
          <a:prstGeom prst="rect">
            <a:avLst/>
          </a:prstGeom>
          <a:noFill/>
          <a:ln/>
        </p:spPr>
        <p:txBody>
          <a:bodyPr wrap="square" lIns="0" tIns="0" rIns="0" bIns="0" rtlCol="0" anchor="ctr"/>
          <a:lstStyle/>
          <a:p>
            <a:pPr indent="0" marL="0">
              <a:buNone/>
            </a:pPr>
            <a:r>
              <a:rPr lang="en-US" sz="750" dirty="0">
                <a:solidFill>
                  <a:srgbClr val="7F8C8D"/>
                </a:solidFill>
              </a:rPr>
              <a:t>CSS Custom Properties + Tailwind</a:t>
            </a:r>
            <a:endParaRPr lang="en-US" sz="750" dirty="0"/>
          </a:p>
        </p:txBody>
      </p:sp>
      <p:sp>
        <p:nvSpPr>
          <p:cNvPr id="108" name="Text 106"/>
          <p:cNvSpPr/>
          <p:nvPr/>
        </p:nvSpPr>
        <p:spPr>
          <a:xfrm>
            <a:off x="5449824" y="449884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Jan 15 2026</a:t>
            </a:r>
            <a:endParaRPr lang="en-US" sz="750" dirty="0"/>
          </a:p>
        </p:txBody>
      </p:sp>
      <p:sp>
        <p:nvSpPr>
          <p:cNvPr id="109" name="Text 107"/>
          <p:cNvSpPr/>
          <p:nvPr/>
        </p:nvSpPr>
        <p:spPr>
          <a:xfrm>
            <a:off x="6912864" y="449884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10 2026</a:t>
            </a:r>
            <a:endParaRPr lang="en-US" sz="750" dirty="0"/>
          </a:p>
        </p:txBody>
      </p:sp>
      <p:sp>
        <p:nvSpPr>
          <p:cNvPr id="110" name="Shape 108"/>
          <p:cNvSpPr/>
          <p:nvPr/>
        </p:nvSpPr>
        <p:spPr>
          <a:xfrm>
            <a:off x="8412480" y="4517136"/>
            <a:ext cx="1325880" cy="155448"/>
          </a:xfrm>
          <a:prstGeom prst="rect">
            <a:avLst/>
          </a:prstGeom>
          <a:solidFill>
            <a:srgbClr val="2ECC71"/>
          </a:solidFill>
          <a:ln/>
        </p:spPr>
      </p:sp>
      <p:sp>
        <p:nvSpPr>
          <p:cNvPr id="111" name="Text 109"/>
          <p:cNvSpPr/>
          <p:nvPr/>
        </p:nvSpPr>
        <p:spPr>
          <a:xfrm>
            <a:off x="8412480" y="4517136"/>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COMPLETE</a:t>
            </a:r>
            <a:endParaRPr lang="en-US" sz="700" dirty="0"/>
          </a:p>
        </p:txBody>
      </p:sp>
      <p:sp>
        <p:nvSpPr>
          <p:cNvPr id="112" name="Text 110">
            <a:hlinkClick r:id="rId12" tooltip=""/>
          </p:cNvPr>
          <p:cNvSpPr/>
          <p:nvPr/>
        </p:nvSpPr>
        <p:spPr>
          <a:xfrm>
            <a:off x="9930384" y="4498848"/>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2" invalidUrl="" action="" tgtFrame="" tooltip="" history="1" highlightClick="0" endSnd="0">
                  <a:extLst>
                    <a:ext uri="{A12FA001-AC4F-418D-AE19-62706E023703}">
                      <ahyp:hlinkClr xmlns:ahyp="http://schemas.microsoft.com/office/drawing/2018/hyperlinkcolor" val="tx"/>
                    </a:ext>
                  </a:extLst>
                </a:hlinkClick>
              </a:rPr>
              <a:t>tailwindcss.com/docs</a:t>
            </a:r>
            <a:endParaRPr lang="en-US" sz="700" dirty="0"/>
          </a:p>
        </p:txBody>
      </p:sp>
      <p:sp>
        <p:nvSpPr>
          <p:cNvPr id="113" name="Shape 111"/>
          <p:cNvSpPr/>
          <p:nvPr/>
        </p:nvSpPr>
        <p:spPr>
          <a:xfrm>
            <a:off x="365760" y="4718304"/>
            <a:ext cx="11430000" cy="228600"/>
          </a:xfrm>
          <a:prstGeom prst="rect">
            <a:avLst/>
          </a:prstGeom>
          <a:solidFill>
            <a:srgbClr val="FFFFFF"/>
          </a:solidFill>
          <a:ln w="3810">
            <a:solidFill>
              <a:srgbClr val="EAEEF2"/>
            </a:solidFill>
            <a:prstDash val="solid"/>
          </a:ln>
        </p:spPr>
      </p:sp>
      <p:sp>
        <p:nvSpPr>
          <p:cNvPr id="114" name="Text 112"/>
          <p:cNvSpPr/>
          <p:nvPr/>
        </p:nvSpPr>
        <p:spPr>
          <a:xfrm>
            <a:off x="420624" y="4736592"/>
            <a:ext cx="2578608" cy="192024"/>
          </a:xfrm>
          <a:prstGeom prst="rect">
            <a:avLst/>
          </a:prstGeom>
          <a:noFill/>
          <a:ln/>
        </p:spPr>
        <p:txBody>
          <a:bodyPr wrap="square" lIns="0" tIns="0" rIns="0" bIns="0" rtlCol="0" anchor="ctr"/>
          <a:lstStyle/>
          <a:p>
            <a:pPr indent="0" marL="0">
              <a:buNone/>
            </a:pPr>
            <a:r>
              <a:rPr lang="en-US" sz="800" dirty="0">
                <a:solidFill>
                  <a:srgbClr val="1A2C3E"/>
                </a:solidFill>
              </a:rPr>
              <a:t>Newsletter Admin Dashboard</a:t>
            </a:r>
            <a:endParaRPr lang="en-US" sz="800" dirty="0"/>
          </a:p>
        </p:txBody>
      </p:sp>
      <p:sp>
        <p:nvSpPr>
          <p:cNvPr id="115" name="Text 113"/>
          <p:cNvSpPr/>
          <p:nvPr/>
        </p:nvSpPr>
        <p:spPr>
          <a:xfrm>
            <a:off x="3118104" y="4736592"/>
            <a:ext cx="2212848" cy="192024"/>
          </a:xfrm>
          <a:prstGeom prst="rect">
            <a:avLst/>
          </a:prstGeom>
          <a:noFill/>
          <a:ln/>
        </p:spPr>
        <p:txBody>
          <a:bodyPr wrap="square" lIns="0" tIns="0" rIns="0" bIns="0" rtlCol="0" anchor="ctr"/>
          <a:lstStyle/>
          <a:p>
            <a:pPr indent="0" marL="0">
              <a:buNone/>
            </a:pPr>
            <a:r>
              <a:rPr lang="en-US" sz="750" dirty="0">
                <a:solidFill>
                  <a:srgbClr val="7F8C8D"/>
                </a:solidFill>
              </a:rPr>
              <a:t>React + JWT RBAC</a:t>
            </a:r>
            <a:endParaRPr lang="en-US" sz="750" dirty="0"/>
          </a:p>
        </p:txBody>
      </p:sp>
      <p:sp>
        <p:nvSpPr>
          <p:cNvPr id="116" name="Text 114"/>
          <p:cNvSpPr/>
          <p:nvPr/>
        </p:nvSpPr>
        <p:spPr>
          <a:xfrm>
            <a:off x="5449824" y="473659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5 2026</a:t>
            </a:r>
            <a:endParaRPr lang="en-US" sz="750" dirty="0"/>
          </a:p>
        </p:txBody>
      </p:sp>
      <p:sp>
        <p:nvSpPr>
          <p:cNvPr id="117" name="Text 115"/>
          <p:cNvSpPr/>
          <p:nvPr/>
        </p:nvSpPr>
        <p:spPr>
          <a:xfrm>
            <a:off x="6912864" y="473659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4 2026</a:t>
            </a:r>
            <a:endParaRPr lang="en-US" sz="750" dirty="0"/>
          </a:p>
        </p:txBody>
      </p:sp>
      <p:sp>
        <p:nvSpPr>
          <p:cNvPr id="118" name="Shape 116"/>
          <p:cNvSpPr/>
          <p:nvPr/>
        </p:nvSpPr>
        <p:spPr>
          <a:xfrm>
            <a:off x="8412480" y="4754880"/>
            <a:ext cx="1325880" cy="155448"/>
          </a:xfrm>
          <a:prstGeom prst="rect">
            <a:avLst/>
          </a:prstGeom>
          <a:solidFill>
            <a:srgbClr val="F1C40F"/>
          </a:solidFill>
          <a:ln/>
        </p:spPr>
      </p:sp>
      <p:sp>
        <p:nvSpPr>
          <p:cNvPr id="119" name="Text 117"/>
          <p:cNvSpPr/>
          <p:nvPr/>
        </p:nvSpPr>
        <p:spPr>
          <a:xfrm>
            <a:off x="8412480" y="4754880"/>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20" name="Text 118">
            <a:hlinkClick r:id="rId13" tooltip=""/>
          </p:cNvPr>
          <p:cNvSpPr/>
          <p:nvPr/>
        </p:nvSpPr>
        <p:spPr>
          <a:xfrm>
            <a:off x="9930384" y="4736592"/>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3" invalidUrl="" action="" tgtFrame="" tooltip="" history="1" highlightClick="0" endSnd="0">
                  <a:extLst>
                    <a:ext uri="{A12FA001-AC4F-418D-AE19-62706E023703}">
                      <ahyp:hlinkClr xmlns:ahyp="http://schemas.microsoft.com/office/drawing/2018/hyperlinkcolor" val="tx"/>
                    </a:ext>
                  </a:extLst>
                </a:hlinkClick>
              </a:rPr>
              <a:t>sendgrid.com/docs</a:t>
            </a:r>
            <a:endParaRPr lang="en-US" sz="700" dirty="0"/>
          </a:p>
        </p:txBody>
      </p:sp>
      <p:sp>
        <p:nvSpPr>
          <p:cNvPr id="121" name="Shape 119"/>
          <p:cNvSpPr/>
          <p:nvPr/>
        </p:nvSpPr>
        <p:spPr>
          <a:xfrm>
            <a:off x="365760" y="4956048"/>
            <a:ext cx="11430000" cy="228600"/>
          </a:xfrm>
          <a:prstGeom prst="rect">
            <a:avLst/>
          </a:prstGeom>
          <a:solidFill>
            <a:srgbClr val="F7F9FC"/>
          </a:solidFill>
          <a:ln w="3810">
            <a:solidFill>
              <a:srgbClr val="EAEEF2"/>
            </a:solidFill>
            <a:prstDash val="solid"/>
          </a:ln>
        </p:spPr>
      </p:sp>
      <p:sp>
        <p:nvSpPr>
          <p:cNvPr id="122" name="Text 120"/>
          <p:cNvSpPr/>
          <p:nvPr/>
        </p:nvSpPr>
        <p:spPr>
          <a:xfrm>
            <a:off x="420624" y="4974336"/>
            <a:ext cx="2578608" cy="192024"/>
          </a:xfrm>
          <a:prstGeom prst="rect">
            <a:avLst/>
          </a:prstGeom>
          <a:noFill/>
          <a:ln/>
        </p:spPr>
        <p:txBody>
          <a:bodyPr wrap="square" lIns="0" tIns="0" rIns="0" bIns="0" rtlCol="0" anchor="ctr"/>
          <a:lstStyle/>
          <a:p>
            <a:pPr indent="0" marL="0">
              <a:buNone/>
            </a:pPr>
            <a:r>
              <a:rPr lang="en-US" sz="800" dirty="0">
                <a:solidFill>
                  <a:srgbClr val="1A2C3E"/>
                </a:solidFill>
              </a:rPr>
              <a:t>SendGrid Email Distribution</a:t>
            </a:r>
            <a:endParaRPr lang="en-US" sz="800" dirty="0"/>
          </a:p>
        </p:txBody>
      </p:sp>
      <p:sp>
        <p:nvSpPr>
          <p:cNvPr id="123" name="Text 121"/>
          <p:cNvSpPr/>
          <p:nvPr/>
        </p:nvSpPr>
        <p:spPr>
          <a:xfrm>
            <a:off x="3118104" y="4974336"/>
            <a:ext cx="2212848" cy="192024"/>
          </a:xfrm>
          <a:prstGeom prst="rect">
            <a:avLst/>
          </a:prstGeom>
          <a:noFill/>
          <a:ln/>
        </p:spPr>
        <p:txBody>
          <a:bodyPr wrap="square" lIns="0" tIns="0" rIns="0" bIns="0" rtlCol="0" anchor="ctr"/>
          <a:lstStyle/>
          <a:p>
            <a:pPr indent="0" marL="0">
              <a:buNone/>
            </a:pPr>
            <a:r>
              <a:rPr lang="en-US" sz="750" dirty="0">
                <a:solidFill>
                  <a:srgbClr val="7F8C8D"/>
                </a:solidFill>
              </a:rPr>
              <a:t>SendGrid Node.js SDK 7.7+</a:t>
            </a:r>
            <a:endParaRPr lang="en-US" sz="750" dirty="0"/>
          </a:p>
        </p:txBody>
      </p:sp>
      <p:sp>
        <p:nvSpPr>
          <p:cNvPr id="124" name="Text 122"/>
          <p:cNvSpPr/>
          <p:nvPr/>
        </p:nvSpPr>
        <p:spPr>
          <a:xfrm>
            <a:off x="5449824" y="497433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10 2026</a:t>
            </a:r>
            <a:endParaRPr lang="en-US" sz="750" dirty="0"/>
          </a:p>
        </p:txBody>
      </p:sp>
      <p:sp>
        <p:nvSpPr>
          <p:cNvPr id="125" name="Text 123"/>
          <p:cNvSpPr/>
          <p:nvPr/>
        </p:nvSpPr>
        <p:spPr>
          <a:xfrm>
            <a:off x="6912864" y="497433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7 2026</a:t>
            </a:r>
            <a:endParaRPr lang="en-US" sz="750" dirty="0"/>
          </a:p>
        </p:txBody>
      </p:sp>
      <p:sp>
        <p:nvSpPr>
          <p:cNvPr id="126" name="Shape 124"/>
          <p:cNvSpPr/>
          <p:nvPr/>
        </p:nvSpPr>
        <p:spPr>
          <a:xfrm>
            <a:off x="8412480" y="4992624"/>
            <a:ext cx="1325880" cy="155448"/>
          </a:xfrm>
          <a:prstGeom prst="rect">
            <a:avLst/>
          </a:prstGeom>
          <a:solidFill>
            <a:srgbClr val="F1C40F"/>
          </a:solidFill>
          <a:ln/>
        </p:spPr>
      </p:sp>
      <p:sp>
        <p:nvSpPr>
          <p:cNvPr id="127" name="Text 125"/>
          <p:cNvSpPr/>
          <p:nvPr/>
        </p:nvSpPr>
        <p:spPr>
          <a:xfrm>
            <a:off x="8412480" y="4992624"/>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28" name="Text 126">
            <a:hlinkClick r:id="rId14" tooltip=""/>
          </p:cNvPr>
          <p:cNvSpPr/>
          <p:nvPr/>
        </p:nvSpPr>
        <p:spPr>
          <a:xfrm>
            <a:off x="9930384" y="4974336"/>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4" invalidUrl="" action="" tgtFrame="" tooltip="" history="1" highlightClick="0" endSnd="0">
                  <a:extLst>
                    <a:ext uri="{A12FA001-AC4F-418D-AE19-62706E023703}">
                      <ahyp:hlinkClr xmlns:ahyp="http://schemas.microsoft.com/office/drawing/2018/hyperlinkcolor" val="tx"/>
                    </a:ext>
                  </a:extLst>
                </a:hlinkClick>
              </a:rPr>
              <a:t>docs.sendgrid.com</a:t>
            </a:r>
            <a:endParaRPr lang="en-US" sz="700" dirty="0"/>
          </a:p>
        </p:txBody>
      </p:sp>
      <p:sp>
        <p:nvSpPr>
          <p:cNvPr id="129" name="Shape 127"/>
          <p:cNvSpPr/>
          <p:nvPr/>
        </p:nvSpPr>
        <p:spPr>
          <a:xfrm>
            <a:off x="365760" y="5193792"/>
            <a:ext cx="11430000" cy="228600"/>
          </a:xfrm>
          <a:prstGeom prst="rect">
            <a:avLst/>
          </a:prstGeom>
          <a:solidFill>
            <a:srgbClr val="FFFFFF"/>
          </a:solidFill>
          <a:ln w="3810">
            <a:solidFill>
              <a:srgbClr val="EAEEF2"/>
            </a:solidFill>
            <a:prstDash val="solid"/>
          </a:ln>
        </p:spPr>
      </p:sp>
      <p:sp>
        <p:nvSpPr>
          <p:cNvPr id="130" name="Text 128"/>
          <p:cNvSpPr/>
          <p:nvPr/>
        </p:nvSpPr>
        <p:spPr>
          <a:xfrm>
            <a:off x="420624" y="5212080"/>
            <a:ext cx="2578608" cy="192024"/>
          </a:xfrm>
          <a:prstGeom prst="rect">
            <a:avLst/>
          </a:prstGeom>
          <a:noFill/>
          <a:ln/>
        </p:spPr>
        <p:txBody>
          <a:bodyPr wrap="square" lIns="0" tIns="0" rIns="0" bIns="0" rtlCol="0" anchor="ctr"/>
          <a:lstStyle/>
          <a:p>
            <a:pPr indent="0" marL="0">
              <a:buNone/>
            </a:pPr>
            <a:r>
              <a:rPr lang="en-US" sz="800" dirty="0">
                <a:solidFill>
                  <a:srgbClr val="1A2C3E"/>
                </a:solidFill>
              </a:rPr>
              <a:t>LinkedIn Auto-Post API</a:t>
            </a:r>
            <a:endParaRPr lang="en-US" sz="800" dirty="0"/>
          </a:p>
        </p:txBody>
      </p:sp>
      <p:sp>
        <p:nvSpPr>
          <p:cNvPr id="131" name="Text 129"/>
          <p:cNvSpPr/>
          <p:nvPr/>
        </p:nvSpPr>
        <p:spPr>
          <a:xfrm>
            <a:off x="3118104" y="5212080"/>
            <a:ext cx="2212848" cy="192024"/>
          </a:xfrm>
          <a:prstGeom prst="rect">
            <a:avLst/>
          </a:prstGeom>
          <a:noFill/>
          <a:ln/>
        </p:spPr>
        <p:txBody>
          <a:bodyPr wrap="square" lIns="0" tIns="0" rIns="0" bIns="0" rtlCol="0" anchor="ctr"/>
          <a:lstStyle/>
          <a:p>
            <a:pPr indent="0" marL="0">
              <a:buNone/>
            </a:pPr>
            <a:r>
              <a:rPr lang="en-US" sz="750" dirty="0">
                <a:solidFill>
                  <a:srgbClr val="7F8C8D"/>
                </a:solidFill>
              </a:rPr>
              <a:t>LinkedIn API v2 + OAuth 2.0</a:t>
            </a:r>
            <a:endParaRPr lang="en-US" sz="750" dirty="0"/>
          </a:p>
        </p:txBody>
      </p:sp>
      <p:sp>
        <p:nvSpPr>
          <p:cNvPr id="132" name="Text 130"/>
          <p:cNvSpPr/>
          <p:nvPr/>
        </p:nvSpPr>
        <p:spPr>
          <a:xfrm>
            <a:off x="5449824" y="521208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15 2026</a:t>
            </a:r>
            <a:endParaRPr lang="en-US" sz="750" dirty="0"/>
          </a:p>
        </p:txBody>
      </p:sp>
      <p:sp>
        <p:nvSpPr>
          <p:cNvPr id="133" name="Text 131"/>
          <p:cNvSpPr/>
          <p:nvPr/>
        </p:nvSpPr>
        <p:spPr>
          <a:xfrm>
            <a:off x="6912864" y="521208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11 2026</a:t>
            </a:r>
            <a:endParaRPr lang="en-US" sz="750" dirty="0"/>
          </a:p>
        </p:txBody>
      </p:sp>
      <p:sp>
        <p:nvSpPr>
          <p:cNvPr id="134" name="Shape 132"/>
          <p:cNvSpPr/>
          <p:nvPr/>
        </p:nvSpPr>
        <p:spPr>
          <a:xfrm>
            <a:off x="8412480" y="5230368"/>
            <a:ext cx="1325880" cy="155448"/>
          </a:xfrm>
          <a:prstGeom prst="rect">
            <a:avLst/>
          </a:prstGeom>
          <a:solidFill>
            <a:srgbClr val="E74C3C"/>
          </a:solidFill>
          <a:ln/>
        </p:spPr>
      </p:sp>
      <p:sp>
        <p:nvSpPr>
          <p:cNvPr id="135" name="Text 133"/>
          <p:cNvSpPr/>
          <p:nvPr/>
        </p:nvSpPr>
        <p:spPr>
          <a:xfrm>
            <a:off x="8412480" y="5230368"/>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PENDING</a:t>
            </a:r>
            <a:endParaRPr lang="en-US" sz="700" dirty="0"/>
          </a:p>
        </p:txBody>
      </p:sp>
      <p:sp>
        <p:nvSpPr>
          <p:cNvPr id="136" name="Text 134">
            <a:hlinkClick r:id="rId15" tooltip=""/>
          </p:cNvPr>
          <p:cNvSpPr/>
          <p:nvPr/>
        </p:nvSpPr>
        <p:spPr>
          <a:xfrm>
            <a:off x="9930384" y="5212080"/>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5" invalidUrl="" action="" tgtFrame="" tooltip="" history="1" highlightClick="0" endSnd="0">
                  <a:extLst>
                    <a:ext uri="{A12FA001-AC4F-418D-AE19-62706E023703}">
                      <ahyp:hlinkClr xmlns:ahyp="http://schemas.microsoft.com/office/drawing/2018/hyperlinkcolor" val="tx"/>
                    </a:ext>
                  </a:extLst>
                </a:hlinkClick>
              </a:rPr>
              <a:t>learn.microsoft.com/linkedin</a:t>
            </a:r>
            <a:endParaRPr lang="en-US" sz="700" dirty="0"/>
          </a:p>
        </p:txBody>
      </p:sp>
      <p:sp>
        <p:nvSpPr>
          <p:cNvPr id="137" name="Shape 135"/>
          <p:cNvSpPr/>
          <p:nvPr/>
        </p:nvSpPr>
        <p:spPr>
          <a:xfrm>
            <a:off x="365760" y="5431536"/>
            <a:ext cx="11430000" cy="228600"/>
          </a:xfrm>
          <a:prstGeom prst="rect">
            <a:avLst/>
          </a:prstGeom>
          <a:solidFill>
            <a:srgbClr val="F7F9FC"/>
          </a:solidFill>
          <a:ln w="3810">
            <a:solidFill>
              <a:srgbClr val="EAEEF2"/>
            </a:solidFill>
            <a:prstDash val="solid"/>
          </a:ln>
        </p:spPr>
      </p:sp>
      <p:sp>
        <p:nvSpPr>
          <p:cNvPr id="138" name="Text 136"/>
          <p:cNvSpPr/>
          <p:nvPr/>
        </p:nvSpPr>
        <p:spPr>
          <a:xfrm>
            <a:off x="420624" y="5449824"/>
            <a:ext cx="2578608" cy="192024"/>
          </a:xfrm>
          <a:prstGeom prst="rect">
            <a:avLst/>
          </a:prstGeom>
          <a:noFill/>
          <a:ln/>
        </p:spPr>
        <p:txBody>
          <a:bodyPr wrap="square" lIns="0" tIns="0" rIns="0" bIns="0" rtlCol="0" anchor="ctr"/>
          <a:lstStyle/>
          <a:p>
            <a:pPr indent="0" marL="0">
              <a:buNone/>
            </a:pPr>
            <a:r>
              <a:rPr lang="en-US" sz="800" dirty="0">
                <a:solidFill>
                  <a:srgbClr val="1A2C3E"/>
                </a:solidFill>
              </a:rPr>
              <a:t>AI Cover Image (DALL-E / Stable Diff.)</a:t>
            </a:r>
            <a:endParaRPr lang="en-US" sz="800" dirty="0"/>
          </a:p>
        </p:txBody>
      </p:sp>
      <p:sp>
        <p:nvSpPr>
          <p:cNvPr id="139" name="Text 137"/>
          <p:cNvSpPr/>
          <p:nvPr/>
        </p:nvSpPr>
        <p:spPr>
          <a:xfrm>
            <a:off x="3118104" y="5449824"/>
            <a:ext cx="2212848" cy="192024"/>
          </a:xfrm>
          <a:prstGeom prst="rect">
            <a:avLst/>
          </a:prstGeom>
          <a:noFill/>
          <a:ln/>
        </p:spPr>
        <p:txBody>
          <a:bodyPr wrap="square" lIns="0" tIns="0" rIns="0" bIns="0" rtlCol="0" anchor="ctr"/>
          <a:lstStyle/>
          <a:p>
            <a:pPr indent="0" marL="0">
              <a:buNone/>
            </a:pPr>
            <a:r>
              <a:rPr lang="en-US" sz="750" dirty="0">
                <a:solidFill>
                  <a:srgbClr val="7F8C8D"/>
                </a:solidFill>
              </a:rPr>
              <a:t>OpenAI DALL-E 3 API</a:t>
            </a:r>
            <a:endParaRPr lang="en-US" sz="750" dirty="0"/>
          </a:p>
        </p:txBody>
      </p:sp>
      <p:sp>
        <p:nvSpPr>
          <p:cNvPr id="140" name="Text 138"/>
          <p:cNvSpPr/>
          <p:nvPr/>
        </p:nvSpPr>
        <p:spPr>
          <a:xfrm>
            <a:off x="5449824" y="544982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15 2026</a:t>
            </a:r>
            <a:endParaRPr lang="en-US" sz="750" dirty="0"/>
          </a:p>
        </p:txBody>
      </p:sp>
      <p:sp>
        <p:nvSpPr>
          <p:cNvPr id="141" name="Text 139"/>
          <p:cNvSpPr/>
          <p:nvPr/>
        </p:nvSpPr>
        <p:spPr>
          <a:xfrm>
            <a:off x="6912864" y="5449824"/>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7 2026</a:t>
            </a:r>
            <a:endParaRPr lang="en-US" sz="750" dirty="0"/>
          </a:p>
        </p:txBody>
      </p:sp>
      <p:sp>
        <p:nvSpPr>
          <p:cNvPr id="142" name="Shape 140"/>
          <p:cNvSpPr/>
          <p:nvPr/>
        </p:nvSpPr>
        <p:spPr>
          <a:xfrm>
            <a:off x="8412480" y="5468112"/>
            <a:ext cx="1325880" cy="155448"/>
          </a:xfrm>
          <a:prstGeom prst="rect">
            <a:avLst/>
          </a:prstGeom>
          <a:solidFill>
            <a:srgbClr val="E74C3C"/>
          </a:solidFill>
          <a:ln/>
        </p:spPr>
      </p:sp>
      <p:sp>
        <p:nvSpPr>
          <p:cNvPr id="143" name="Text 141"/>
          <p:cNvSpPr/>
          <p:nvPr/>
        </p:nvSpPr>
        <p:spPr>
          <a:xfrm>
            <a:off x="8412480" y="5468112"/>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PENDING</a:t>
            </a:r>
            <a:endParaRPr lang="en-US" sz="700" dirty="0"/>
          </a:p>
        </p:txBody>
      </p:sp>
      <p:sp>
        <p:nvSpPr>
          <p:cNvPr id="144" name="Text 142">
            <a:hlinkClick r:id="rId16" tooltip=""/>
          </p:cNvPr>
          <p:cNvSpPr/>
          <p:nvPr/>
        </p:nvSpPr>
        <p:spPr>
          <a:xfrm>
            <a:off x="9930384" y="5449824"/>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6" invalidUrl="" action="" tgtFrame="" tooltip="" history="1" highlightClick="0" endSnd="0">
                  <a:extLst>
                    <a:ext uri="{A12FA001-AC4F-418D-AE19-62706E023703}">
                      <ahyp:hlinkClr xmlns:ahyp="http://schemas.microsoft.com/office/drawing/2018/hyperlinkcolor" val="tx"/>
                    </a:ext>
                  </a:extLst>
                </a:hlinkClick>
              </a:rPr>
              <a:t>platform.openai.com/images</a:t>
            </a:r>
            <a:endParaRPr lang="en-US" sz="700" dirty="0"/>
          </a:p>
        </p:txBody>
      </p:sp>
      <p:sp>
        <p:nvSpPr>
          <p:cNvPr id="145" name="Shape 143"/>
          <p:cNvSpPr/>
          <p:nvPr/>
        </p:nvSpPr>
        <p:spPr>
          <a:xfrm>
            <a:off x="365760" y="5669280"/>
            <a:ext cx="11430000" cy="228600"/>
          </a:xfrm>
          <a:prstGeom prst="rect">
            <a:avLst/>
          </a:prstGeom>
          <a:solidFill>
            <a:srgbClr val="FFFFFF"/>
          </a:solidFill>
          <a:ln w="3810">
            <a:solidFill>
              <a:srgbClr val="EAEEF2"/>
            </a:solidFill>
            <a:prstDash val="solid"/>
          </a:ln>
        </p:spPr>
      </p:sp>
      <p:sp>
        <p:nvSpPr>
          <p:cNvPr id="146" name="Text 144"/>
          <p:cNvSpPr/>
          <p:nvPr/>
        </p:nvSpPr>
        <p:spPr>
          <a:xfrm>
            <a:off x="420624" y="5687568"/>
            <a:ext cx="2578608" cy="192024"/>
          </a:xfrm>
          <a:prstGeom prst="rect">
            <a:avLst/>
          </a:prstGeom>
          <a:noFill/>
          <a:ln/>
        </p:spPr>
        <p:txBody>
          <a:bodyPr wrap="square" lIns="0" tIns="0" rIns="0" bIns="0" rtlCol="0" anchor="ctr"/>
          <a:lstStyle/>
          <a:p>
            <a:pPr indent="0" marL="0">
              <a:buNone/>
            </a:pPr>
            <a:r>
              <a:rPr lang="en-US" sz="800" dirty="0">
                <a:solidFill>
                  <a:srgbClr val="1A2C3E"/>
                </a:solidFill>
              </a:rPr>
              <a:t>JWT Auth + Free Trial System</a:t>
            </a:r>
            <a:endParaRPr lang="en-US" sz="800" dirty="0"/>
          </a:p>
        </p:txBody>
      </p:sp>
      <p:sp>
        <p:nvSpPr>
          <p:cNvPr id="147" name="Text 145"/>
          <p:cNvSpPr/>
          <p:nvPr/>
        </p:nvSpPr>
        <p:spPr>
          <a:xfrm>
            <a:off x="3118104" y="5687568"/>
            <a:ext cx="2212848" cy="192024"/>
          </a:xfrm>
          <a:prstGeom prst="rect">
            <a:avLst/>
          </a:prstGeom>
          <a:noFill/>
          <a:ln/>
        </p:spPr>
        <p:txBody>
          <a:bodyPr wrap="square" lIns="0" tIns="0" rIns="0" bIns="0" rtlCol="0" anchor="ctr"/>
          <a:lstStyle/>
          <a:p>
            <a:pPr indent="0" marL="0">
              <a:buNone/>
            </a:pPr>
            <a:r>
              <a:rPr lang="en-US" sz="750" dirty="0">
                <a:solidFill>
                  <a:srgbClr val="7F8C8D"/>
                </a:solidFill>
              </a:rPr>
              <a:t>JWT 9.0+ + PostgreSQL users table</a:t>
            </a:r>
            <a:endParaRPr lang="en-US" sz="750" dirty="0"/>
          </a:p>
        </p:txBody>
      </p:sp>
      <p:sp>
        <p:nvSpPr>
          <p:cNvPr id="148" name="Text 146"/>
          <p:cNvSpPr/>
          <p:nvPr/>
        </p:nvSpPr>
        <p:spPr>
          <a:xfrm>
            <a:off x="5449824" y="568756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15 2026</a:t>
            </a:r>
            <a:endParaRPr lang="en-US" sz="750" dirty="0"/>
          </a:p>
        </p:txBody>
      </p:sp>
      <p:sp>
        <p:nvSpPr>
          <p:cNvPr id="149" name="Text 147"/>
          <p:cNvSpPr/>
          <p:nvPr/>
        </p:nvSpPr>
        <p:spPr>
          <a:xfrm>
            <a:off x="6912864" y="5687568"/>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11 2026</a:t>
            </a:r>
            <a:endParaRPr lang="en-US" sz="750" dirty="0"/>
          </a:p>
        </p:txBody>
      </p:sp>
      <p:sp>
        <p:nvSpPr>
          <p:cNvPr id="150" name="Shape 148"/>
          <p:cNvSpPr/>
          <p:nvPr/>
        </p:nvSpPr>
        <p:spPr>
          <a:xfrm>
            <a:off x="8412480" y="5705856"/>
            <a:ext cx="1325880" cy="155448"/>
          </a:xfrm>
          <a:prstGeom prst="rect">
            <a:avLst/>
          </a:prstGeom>
          <a:solidFill>
            <a:srgbClr val="F1C40F"/>
          </a:solidFill>
          <a:ln/>
        </p:spPr>
      </p:sp>
      <p:sp>
        <p:nvSpPr>
          <p:cNvPr id="151" name="Text 149"/>
          <p:cNvSpPr/>
          <p:nvPr/>
        </p:nvSpPr>
        <p:spPr>
          <a:xfrm>
            <a:off x="8412480" y="5705856"/>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52" name="Text 150">
            <a:hlinkClick r:id="rId17" tooltip=""/>
          </p:cNvPr>
          <p:cNvSpPr/>
          <p:nvPr/>
        </p:nvSpPr>
        <p:spPr>
          <a:xfrm>
            <a:off x="9930384" y="5687568"/>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7" invalidUrl="" action="" tgtFrame="" tooltip="" history="1" highlightClick="0" endSnd="0">
                  <a:extLst>
                    <a:ext uri="{A12FA001-AC4F-418D-AE19-62706E023703}">
                      <ahyp:hlinkClr xmlns:ahyp="http://schemas.microsoft.com/office/drawing/2018/hyperlinkcolor" val="tx"/>
                    </a:ext>
                  </a:extLst>
                </a:hlinkClick>
              </a:rPr>
              <a:t>jwt.io/introduction</a:t>
            </a:r>
            <a:endParaRPr lang="en-US" sz="700" dirty="0"/>
          </a:p>
        </p:txBody>
      </p:sp>
      <p:sp>
        <p:nvSpPr>
          <p:cNvPr id="153" name="Shape 151"/>
          <p:cNvSpPr/>
          <p:nvPr/>
        </p:nvSpPr>
        <p:spPr>
          <a:xfrm>
            <a:off x="365760" y="5907024"/>
            <a:ext cx="11430000" cy="228600"/>
          </a:xfrm>
          <a:prstGeom prst="rect">
            <a:avLst/>
          </a:prstGeom>
          <a:solidFill>
            <a:srgbClr val="F7F9FC"/>
          </a:solidFill>
          <a:ln w="3810">
            <a:solidFill>
              <a:srgbClr val="EAEEF2"/>
            </a:solidFill>
            <a:prstDash val="solid"/>
          </a:ln>
        </p:spPr>
      </p:sp>
      <p:sp>
        <p:nvSpPr>
          <p:cNvPr id="154" name="Text 152"/>
          <p:cNvSpPr/>
          <p:nvPr/>
        </p:nvSpPr>
        <p:spPr>
          <a:xfrm>
            <a:off x="420624" y="5925312"/>
            <a:ext cx="2578608" cy="192024"/>
          </a:xfrm>
          <a:prstGeom prst="rect">
            <a:avLst/>
          </a:prstGeom>
          <a:noFill/>
          <a:ln/>
        </p:spPr>
        <p:txBody>
          <a:bodyPr wrap="square" lIns="0" tIns="0" rIns="0" bIns="0" rtlCol="0" anchor="ctr"/>
          <a:lstStyle/>
          <a:p>
            <a:pPr indent="0" marL="0">
              <a:buNone/>
            </a:pPr>
            <a:r>
              <a:rPr lang="en-US" sz="800" dirty="0">
                <a:solidFill>
                  <a:srgbClr val="1A2C3E"/>
                </a:solidFill>
              </a:rPr>
              <a:t>AWS S3 PDF Storage Integration</a:t>
            </a:r>
            <a:endParaRPr lang="en-US" sz="800" dirty="0"/>
          </a:p>
        </p:txBody>
      </p:sp>
      <p:sp>
        <p:nvSpPr>
          <p:cNvPr id="155" name="Text 153"/>
          <p:cNvSpPr/>
          <p:nvPr/>
        </p:nvSpPr>
        <p:spPr>
          <a:xfrm>
            <a:off x="3118104" y="5925312"/>
            <a:ext cx="2212848" cy="192024"/>
          </a:xfrm>
          <a:prstGeom prst="rect">
            <a:avLst/>
          </a:prstGeom>
          <a:noFill/>
          <a:ln/>
        </p:spPr>
        <p:txBody>
          <a:bodyPr wrap="square" lIns="0" tIns="0" rIns="0" bIns="0" rtlCol="0" anchor="ctr"/>
          <a:lstStyle/>
          <a:p>
            <a:pPr indent="0" marL="0">
              <a:buNone/>
            </a:pPr>
            <a:r>
              <a:rPr lang="en-US" sz="750" dirty="0">
                <a:solidFill>
                  <a:srgbClr val="7F8C8D"/>
                </a:solidFill>
              </a:rPr>
              <a:t>AWS SDK v3 + S3 presigned URLs</a:t>
            </a:r>
            <a:endParaRPr lang="en-US" sz="750" dirty="0"/>
          </a:p>
        </p:txBody>
      </p:sp>
      <p:sp>
        <p:nvSpPr>
          <p:cNvPr id="156" name="Text 154"/>
          <p:cNvSpPr/>
          <p:nvPr/>
        </p:nvSpPr>
        <p:spPr>
          <a:xfrm>
            <a:off x="5449824" y="592531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18 2026</a:t>
            </a:r>
            <a:endParaRPr lang="en-US" sz="750" dirty="0"/>
          </a:p>
        </p:txBody>
      </p:sp>
      <p:sp>
        <p:nvSpPr>
          <p:cNvPr id="157" name="Text 155"/>
          <p:cNvSpPr/>
          <p:nvPr/>
        </p:nvSpPr>
        <p:spPr>
          <a:xfrm>
            <a:off x="6912864" y="5925312"/>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14 2026</a:t>
            </a:r>
            <a:endParaRPr lang="en-US" sz="750" dirty="0"/>
          </a:p>
        </p:txBody>
      </p:sp>
      <p:sp>
        <p:nvSpPr>
          <p:cNvPr id="158" name="Shape 156"/>
          <p:cNvSpPr/>
          <p:nvPr/>
        </p:nvSpPr>
        <p:spPr>
          <a:xfrm>
            <a:off x="8412480" y="5943600"/>
            <a:ext cx="1325880" cy="155448"/>
          </a:xfrm>
          <a:prstGeom prst="rect">
            <a:avLst/>
          </a:prstGeom>
          <a:solidFill>
            <a:srgbClr val="E74C3C"/>
          </a:solidFill>
          <a:ln/>
        </p:spPr>
      </p:sp>
      <p:sp>
        <p:nvSpPr>
          <p:cNvPr id="159" name="Text 157"/>
          <p:cNvSpPr/>
          <p:nvPr/>
        </p:nvSpPr>
        <p:spPr>
          <a:xfrm>
            <a:off x="8412480" y="5943600"/>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PENDING</a:t>
            </a:r>
            <a:endParaRPr lang="en-US" sz="700" dirty="0"/>
          </a:p>
        </p:txBody>
      </p:sp>
      <p:sp>
        <p:nvSpPr>
          <p:cNvPr id="160" name="Text 158">
            <a:hlinkClick r:id="rId18" tooltip=""/>
          </p:cNvPr>
          <p:cNvSpPr/>
          <p:nvPr/>
        </p:nvSpPr>
        <p:spPr>
          <a:xfrm>
            <a:off x="9930384" y="5925312"/>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8" invalidUrl="" action="" tgtFrame="" tooltip="" history="1" highlightClick="0" endSnd="0">
                  <a:extLst>
                    <a:ext uri="{A12FA001-AC4F-418D-AE19-62706E023703}">
                      <ahyp:hlinkClr xmlns:ahyp="http://schemas.microsoft.com/office/drawing/2018/hyperlinkcolor" val="tx"/>
                    </a:ext>
                  </a:extLst>
                </a:hlinkClick>
              </a:rPr>
              <a:t>docs.aws.amazon.com/s3</a:t>
            </a:r>
            <a:endParaRPr lang="en-US" sz="700" dirty="0"/>
          </a:p>
        </p:txBody>
      </p:sp>
      <p:sp>
        <p:nvSpPr>
          <p:cNvPr id="161" name="Shape 159"/>
          <p:cNvSpPr/>
          <p:nvPr/>
        </p:nvSpPr>
        <p:spPr>
          <a:xfrm>
            <a:off x="365760" y="6144768"/>
            <a:ext cx="11430000" cy="228600"/>
          </a:xfrm>
          <a:prstGeom prst="rect">
            <a:avLst/>
          </a:prstGeom>
          <a:solidFill>
            <a:srgbClr val="FFFFFF"/>
          </a:solidFill>
          <a:ln w="3810">
            <a:solidFill>
              <a:srgbClr val="EAEEF2"/>
            </a:solidFill>
            <a:prstDash val="solid"/>
          </a:ln>
        </p:spPr>
      </p:sp>
      <p:sp>
        <p:nvSpPr>
          <p:cNvPr id="162" name="Text 160"/>
          <p:cNvSpPr/>
          <p:nvPr/>
        </p:nvSpPr>
        <p:spPr>
          <a:xfrm>
            <a:off x="420624" y="6163056"/>
            <a:ext cx="2578608" cy="192024"/>
          </a:xfrm>
          <a:prstGeom prst="rect">
            <a:avLst/>
          </a:prstGeom>
          <a:noFill/>
          <a:ln/>
        </p:spPr>
        <p:txBody>
          <a:bodyPr wrap="square" lIns="0" tIns="0" rIns="0" bIns="0" rtlCol="0" anchor="ctr"/>
          <a:lstStyle/>
          <a:p>
            <a:pPr indent="0" marL="0">
              <a:buNone/>
            </a:pPr>
            <a:r>
              <a:rPr lang="en-US" sz="800" dirty="0">
                <a:solidFill>
                  <a:srgbClr val="1A2C3E"/>
                </a:solidFill>
              </a:rPr>
              <a:t>PostgreSQL DB — Full Schema</a:t>
            </a:r>
            <a:endParaRPr lang="en-US" sz="800" dirty="0"/>
          </a:p>
        </p:txBody>
      </p:sp>
      <p:sp>
        <p:nvSpPr>
          <p:cNvPr id="163" name="Text 161"/>
          <p:cNvSpPr/>
          <p:nvPr/>
        </p:nvSpPr>
        <p:spPr>
          <a:xfrm>
            <a:off x="3118104" y="6163056"/>
            <a:ext cx="2212848" cy="192024"/>
          </a:xfrm>
          <a:prstGeom prst="rect">
            <a:avLst/>
          </a:prstGeom>
          <a:noFill/>
          <a:ln/>
        </p:spPr>
        <p:txBody>
          <a:bodyPr wrap="square" lIns="0" tIns="0" rIns="0" bIns="0" rtlCol="0" anchor="ctr"/>
          <a:lstStyle/>
          <a:p>
            <a:pPr indent="0" marL="0">
              <a:buNone/>
            </a:pPr>
            <a:r>
              <a:rPr lang="en-US" sz="750" dirty="0">
                <a:solidFill>
                  <a:srgbClr val="7F8C8D"/>
                </a:solidFill>
              </a:rPr>
              <a:t>PostgreSQL 15 + PostGIS 3.3</a:t>
            </a:r>
            <a:endParaRPr lang="en-US" sz="750" dirty="0"/>
          </a:p>
        </p:txBody>
      </p:sp>
      <p:sp>
        <p:nvSpPr>
          <p:cNvPr id="164" name="Text 162"/>
          <p:cNvSpPr/>
          <p:nvPr/>
        </p:nvSpPr>
        <p:spPr>
          <a:xfrm>
            <a:off x="5449824" y="616305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Jan 20 2026</a:t>
            </a:r>
            <a:endParaRPr lang="en-US" sz="750" dirty="0"/>
          </a:p>
        </p:txBody>
      </p:sp>
      <p:sp>
        <p:nvSpPr>
          <p:cNvPr id="165" name="Text 163"/>
          <p:cNvSpPr/>
          <p:nvPr/>
        </p:nvSpPr>
        <p:spPr>
          <a:xfrm>
            <a:off x="6912864" y="6163056"/>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14 2026</a:t>
            </a:r>
            <a:endParaRPr lang="en-US" sz="750" dirty="0"/>
          </a:p>
        </p:txBody>
      </p:sp>
      <p:sp>
        <p:nvSpPr>
          <p:cNvPr id="166" name="Shape 164"/>
          <p:cNvSpPr/>
          <p:nvPr/>
        </p:nvSpPr>
        <p:spPr>
          <a:xfrm>
            <a:off x="8412480" y="6181344"/>
            <a:ext cx="1325880" cy="155448"/>
          </a:xfrm>
          <a:prstGeom prst="rect">
            <a:avLst/>
          </a:prstGeom>
          <a:solidFill>
            <a:srgbClr val="F1C40F"/>
          </a:solidFill>
          <a:ln/>
        </p:spPr>
      </p:sp>
      <p:sp>
        <p:nvSpPr>
          <p:cNvPr id="167" name="Text 165"/>
          <p:cNvSpPr/>
          <p:nvPr/>
        </p:nvSpPr>
        <p:spPr>
          <a:xfrm>
            <a:off x="8412480" y="6181344"/>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68" name="Text 166">
            <a:hlinkClick r:id="rId19" tooltip=""/>
          </p:cNvPr>
          <p:cNvSpPr/>
          <p:nvPr/>
        </p:nvSpPr>
        <p:spPr>
          <a:xfrm>
            <a:off x="9930384" y="6163056"/>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19" invalidUrl="" action="" tgtFrame="" tooltip="" history="1" highlightClick="0" endSnd="0">
                  <a:extLst>
                    <a:ext uri="{A12FA001-AC4F-418D-AE19-62706E023703}">
                      <ahyp:hlinkClr xmlns:ahyp="http://schemas.microsoft.com/office/drawing/2018/hyperlinkcolor" val="tx"/>
                    </a:ext>
                  </a:extLst>
                </a:hlinkClick>
              </a:rPr>
              <a:t>postgresql.org/docs/15</a:t>
            </a:r>
            <a:endParaRPr lang="en-US" sz="700" dirty="0"/>
          </a:p>
        </p:txBody>
      </p:sp>
      <p:sp>
        <p:nvSpPr>
          <p:cNvPr id="169" name="Shape 167"/>
          <p:cNvSpPr/>
          <p:nvPr/>
        </p:nvSpPr>
        <p:spPr>
          <a:xfrm>
            <a:off x="365760" y="6382512"/>
            <a:ext cx="11430000" cy="228600"/>
          </a:xfrm>
          <a:prstGeom prst="rect">
            <a:avLst/>
          </a:prstGeom>
          <a:solidFill>
            <a:srgbClr val="F7F9FC"/>
          </a:solidFill>
          <a:ln w="3810">
            <a:solidFill>
              <a:srgbClr val="EAEEF2"/>
            </a:solidFill>
            <a:prstDash val="solid"/>
          </a:ln>
        </p:spPr>
      </p:sp>
      <p:sp>
        <p:nvSpPr>
          <p:cNvPr id="170" name="Text 168"/>
          <p:cNvSpPr/>
          <p:nvPr/>
        </p:nvSpPr>
        <p:spPr>
          <a:xfrm>
            <a:off x="420624" y="6400800"/>
            <a:ext cx="2578608" cy="192024"/>
          </a:xfrm>
          <a:prstGeom prst="rect">
            <a:avLst/>
          </a:prstGeom>
          <a:noFill/>
          <a:ln/>
        </p:spPr>
        <p:txBody>
          <a:bodyPr wrap="square" lIns="0" tIns="0" rIns="0" bIns="0" rtlCol="0" anchor="ctr"/>
          <a:lstStyle/>
          <a:p>
            <a:pPr indent="0" marL="0">
              <a:buNone/>
            </a:pPr>
            <a:r>
              <a:rPr lang="en-US" sz="800" dirty="0">
                <a:solidFill>
                  <a:srgbClr val="1A2C3E"/>
                </a:solidFill>
              </a:rPr>
              <a:t>WebSocket Live Signals API</a:t>
            </a:r>
            <a:endParaRPr lang="en-US" sz="800" dirty="0"/>
          </a:p>
        </p:txBody>
      </p:sp>
      <p:sp>
        <p:nvSpPr>
          <p:cNvPr id="171" name="Text 169"/>
          <p:cNvSpPr/>
          <p:nvPr/>
        </p:nvSpPr>
        <p:spPr>
          <a:xfrm>
            <a:off x="3118104" y="6400800"/>
            <a:ext cx="2212848" cy="192024"/>
          </a:xfrm>
          <a:prstGeom prst="rect">
            <a:avLst/>
          </a:prstGeom>
          <a:noFill/>
          <a:ln/>
        </p:spPr>
        <p:txBody>
          <a:bodyPr wrap="square" lIns="0" tIns="0" rIns="0" bIns="0" rtlCol="0" anchor="ctr"/>
          <a:lstStyle/>
          <a:p>
            <a:pPr indent="0" marL="0">
              <a:buNone/>
            </a:pPr>
            <a:r>
              <a:rPr lang="en-US" sz="750" dirty="0">
                <a:solidFill>
                  <a:srgbClr val="7F8C8D"/>
                </a:solidFill>
              </a:rPr>
              <a:t>Socket.io 4.6+ + Redis pub/sub</a:t>
            </a:r>
            <a:endParaRPr lang="en-US" sz="750" dirty="0"/>
          </a:p>
        </p:txBody>
      </p:sp>
      <p:sp>
        <p:nvSpPr>
          <p:cNvPr id="172" name="Text 170"/>
          <p:cNvSpPr/>
          <p:nvPr/>
        </p:nvSpPr>
        <p:spPr>
          <a:xfrm>
            <a:off x="5449824" y="640080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Mar 1 2026</a:t>
            </a:r>
            <a:endParaRPr lang="en-US" sz="750" dirty="0"/>
          </a:p>
        </p:txBody>
      </p:sp>
      <p:sp>
        <p:nvSpPr>
          <p:cNvPr id="173" name="Text 171"/>
          <p:cNvSpPr/>
          <p:nvPr/>
        </p:nvSpPr>
        <p:spPr>
          <a:xfrm>
            <a:off x="6912864" y="6400800"/>
            <a:ext cx="1344168" cy="192024"/>
          </a:xfrm>
          <a:prstGeom prst="rect">
            <a:avLst/>
          </a:prstGeom>
          <a:noFill/>
          <a:ln/>
        </p:spPr>
        <p:txBody>
          <a:bodyPr wrap="square" lIns="0" tIns="0" rIns="0" bIns="0" rtlCol="0" anchor="ctr"/>
          <a:lstStyle/>
          <a:p>
            <a:pPr algn="ctr" indent="0" marL="0">
              <a:buNone/>
            </a:pPr>
            <a:r>
              <a:rPr lang="en-US" sz="750" dirty="0">
                <a:solidFill>
                  <a:srgbClr val="7F8C8D"/>
                </a:solidFill>
              </a:rPr>
              <a:t>Apr 14 2026</a:t>
            </a:r>
            <a:endParaRPr lang="en-US" sz="750" dirty="0"/>
          </a:p>
        </p:txBody>
      </p:sp>
      <p:sp>
        <p:nvSpPr>
          <p:cNvPr id="174" name="Shape 172"/>
          <p:cNvSpPr/>
          <p:nvPr/>
        </p:nvSpPr>
        <p:spPr>
          <a:xfrm>
            <a:off x="8412480" y="6419088"/>
            <a:ext cx="1325880" cy="155448"/>
          </a:xfrm>
          <a:prstGeom prst="rect">
            <a:avLst/>
          </a:prstGeom>
          <a:solidFill>
            <a:srgbClr val="F1C40F"/>
          </a:solidFill>
          <a:ln/>
        </p:spPr>
      </p:sp>
      <p:sp>
        <p:nvSpPr>
          <p:cNvPr id="175" name="Text 173"/>
          <p:cNvSpPr/>
          <p:nvPr/>
        </p:nvSpPr>
        <p:spPr>
          <a:xfrm>
            <a:off x="8412480" y="6419088"/>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76" name="Text 174">
            <a:hlinkClick r:id="rId20" tooltip=""/>
          </p:cNvPr>
          <p:cNvSpPr/>
          <p:nvPr/>
        </p:nvSpPr>
        <p:spPr>
          <a:xfrm>
            <a:off x="9930384" y="6400800"/>
            <a:ext cx="1664208" cy="192024"/>
          </a:xfrm>
          <a:prstGeom prst="rect">
            <a:avLst/>
          </a:prstGeom>
          <a:noFill/>
          <a:ln/>
        </p:spPr>
        <p:txBody>
          <a:bodyPr wrap="square" lIns="0" tIns="0" rIns="0" bIns="0" rtlCol="0" anchor="ctr"/>
          <a:lstStyle/>
          <a:p>
            <a:pPr indent="0" marL="0">
              <a:buNone/>
            </a:pPr>
            <a:r>
              <a:rPr lang="en-US" sz="700" u="sng" dirty="0">
                <a:solidFill>
                  <a:srgbClr val="3498DB"/>
                </a:solidFill>
                <a:hlinkClick r:id="rId20" invalidUrl="" action="" tgtFrame="" tooltip="" history="1" highlightClick="0" endSnd="0">
                  <a:extLst>
                    <a:ext uri="{A12FA001-AC4F-418D-AE19-62706E023703}">
                      <ahyp:hlinkClr xmlns:ahyp="http://schemas.microsoft.com/office/drawing/2018/hyperlinkcolor" val="tx"/>
                    </a:ext>
                  </a:extLst>
                </a:hlinkClick>
              </a:rPr>
              <a:t>socket.io/docs/v4</a:t>
            </a:r>
            <a:endParaRPr lang="en-US" sz="700" dirty="0"/>
          </a:p>
        </p:txBody>
      </p:sp>
      <p:sp>
        <p:nvSpPr>
          <p:cNvPr id="177" name="Shape 175"/>
          <p:cNvSpPr/>
          <p:nvPr/>
        </p:nvSpPr>
        <p:spPr>
          <a:xfrm>
            <a:off x="365760" y="6620256"/>
            <a:ext cx="11430000" cy="228600"/>
          </a:xfrm>
          <a:prstGeom prst="rect">
            <a:avLst/>
          </a:prstGeom>
          <a:solidFill>
            <a:srgbClr val="1A2C3E"/>
          </a:solidFill>
          <a:ln w="7620">
            <a:solidFill>
              <a:srgbClr val="2ECC71"/>
            </a:solidFill>
            <a:prstDash val="solid"/>
          </a:ln>
        </p:spPr>
      </p:sp>
      <p:sp>
        <p:nvSpPr>
          <p:cNvPr id="178" name="Text 176"/>
          <p:cNvSpPr/>
          <p:nvPr/>
        </p:nvSpPr>
        <p:spPr>
          <a:xfrm>
            <a:off x="420624" y="6638544"/>
            <a:ext cx="2578608" cy="192024"/>
          </a:xfrm>
          <a:prstGeom prst="rect">
            <a:avLst/>
          </a:prstGeom>
          <a:noFill/>
          <a:ln/>
        </p:spPr>
        <p:txBody>
          <a:bodyPr wrap="square" lIns="0" tIns="0" rIns="0" bIns="0" rtlCol="0" anchor="ctr"/>
          <a:lstStyle/>
          <a:p>
            <a:pPr indent="0" marL="0">
              <a:buNone/>
            </a:pPr>
            <a:r>
              <a:rPr lang="en-US" sz="800" b="1" dirty="0">
                <a:solidFill>
                  <a:srgbClr val="FFFFFF"/>
                </a:solidFill>
              </a:rPr>
              <a:t>FULL PLATFORM PUBLIC LAUNCH</a:t>
            </a:r>
            <a:endParaRPr lang="en-US" sz="800" dirty="0"/>
          </a:p>
        </p:txBody>
      </p:sp>
      <p:sp>
        <p:nvSpPr>
          <p:cNvPr id="179" name="Text 177"/>
          <p:cNvSpPr/>
          <p:nvPr/>
        </p:nvSpPr>
        <p:spPr>
          <a:xfrm>
            <a:off x="3118104" y="6638544"/>
            <a:ext cx="2212848" cy="192024"/>
          </a:xfrm>
          <a:prstGeom prst="rect">
            <a:avLst/>
          </a:prstGeom>
          <a:noFill/>
          <a:ln/>
        </p:spPr>
        <p:txBody>
          <a:bodyPr wrap="square" lIns="0" tIns="0" rIns="0" bIns="0" rtlCol="0" anchor="ctr"/>
          <a:lstStyle/>
          <a:p>
            <a:pPr indent="0" marL="0">
              <a:buNone/>
            </a:pPr>
            <a:r>
              <a:rPr lang="en-US" sz="750" dirty="0">
                <a:solidFill>
                  <a:srgbClr val="2ECC71"/>
                </a:solidFill>
              </a:rPr>
              <a:t>All P0+P1+P2 features verified</a:t>
            </a:r>
            <a:endParaRPr lang="en-US" sz="750" dirty="0"/>
          </a:p>
        </p:txBody>
      </p:sp>
      <p:sp>
        <p:nvSpPr>
          <p:cNvPr id="180" name="Text 178"/>
          <p:cNvSpPr/>
          <p:nvPr/>
        </p:nvSpPr>
        <p:spPr>
          <a:xfrm>
            <a:off x="5449824" y="6638544"/>
            <a:ext cx="1344168" cy="192024"/>
          </a:xfrm>
          <a:prstGeom prst="rect">
            <a:avLst/>
          </a:prstGeom>
          <a:noFill/>
          <a:ln/>
        </p:spPr>
        <p:txBody>
          <a:bodyPr wrap="square" lIns="0" tIns="0" rIns="0" bIns="0" rtlCol="0" anchor="ctr"/>
          <a:lstStyle/>
          <a:p>
            <a:pPr algn="ctr" indent="0" marL="0">
              <a:buNone/>
            </a:pPr>
            <a:r>
              <a:rPr lang="en-US" sz="750" dirty="0">
                <a:solidFill>
                  <a:srgbClr val="2ECC71"/>
                </a:solidFill>
              </a:rPr>
              <a:t>Apr 1 2026</a:t>
            </a:r>
            <a:endParaRPr lang="en-US" sz="750" dirty="0"/>
          </a:p>
        </p:txBody>
      </p:sp>
      <p:sp>
        <p:nvSpPr>
          <p:cNvPr id="181" name="Text 179"/>
          <p:cNvSpPr/>
          <p:nvPr/>
        </p:nvSpPr>
        <p:spPr>
          <a:xfrm>
            <a:off x="6912864" y="6638544"/>
            <a:ext cx="1344168" cy="192024"/>
          </a:xfrm>
          <a:prstGeom prst="rect">
            <a:avLst/>
          </a:prstGeom>
          <a:noFill/>
          <a:ln/>
        </p:spPr>
        <p:txBody>
          <a:bodyPr wrap="square" lIns="0" tIns="0" rIns="0" bIns="0" rtlCol="0" anchor="ctr"/>
          <a:lstStyle/>
          <a:p>
            <a:pPr algn="ctr" indent="0" marL="0">
              <a:buNone/>
            </a:pPr>
            <a:r>
              <a:rPr lang="en-US" sz="750" b="1" dirty="0">
                <a:solidFill>
                  <a:srgbClr val="F1C40F"/>
                </a:solidFill>
              </a:rPr>
              <a:t>APR 18 2026</a:t>
            </a:r>
            <a:endParaRPr lang="en-US" sz="750" dirty="0"/>
          </a:p>
        </p:txBody>
      </p:sp>
      <p:sp>
        <p:nvSpPr>
          <p:cNvPr id="182" name="Shape 180"/>
          <p:cNvSpPr/>
          <p:nvPr/>
        </p:nvSpPr>
        <p:spPr>
          <a:xfrm>
            <a:off x="8412480" y="6656832"/>
            <a:ext cx="1325880" cy="155448"/>
          </a:xfrm>
          <a:prstGeom prst="rect">
            <a:avLst/>
          </a:prstGeom>
          <a:solidFill>
            <a:srgbClr val="1A2C3E"/>
          </a:solidFill>
          <a:ln/>
        </p:spPr>
      </p:sp>
      <p:sp>
        <p:nvSpPr>
          <p:cNvPr id="183" name="Text 181"/>
          <p:cNvSpPr/>
          <p:nvPr/>
        </p:nvSpPr>
        <p:spPr>
          <a:xfrm>
            <a:off x="8412480" y="6656832"/>
            <a:ext cx="1325880" cy="155448"/>
          </a:xfrm>
          <a:prstGeom prst="rect">
            <a:avLst/>
          </a:prstGeom>
          <a:noFill/>
          <a:ln/>
        </p:spPr>
        <p:txBody>
          <a:bodyPr wrap="square" lIns="0" tIns="0" rIns="0" bIns="0" rtlCol="0" anchor="ctr"/>
          <a:lstStyle/>
          <a:p>
            <a:pPr algn="ctr" indent="0" marL="0">
              <a:buNone/>
            </a:pPr>
            <a:r>
              <a:rPr lang="en-US" sz="700" b="1" dirty="0">
                <a:solidFill>
                  <a:srgbClr val="FFFFFF"/>
                </a:solidFill>
              </a:rPr>
              <a:t>TARGET</a:t>
            </a:r>
            <a:endParaRPr lang="en-US" sz="700" dirty="0"/>
          </a:p>
        </p:txBody>
      </p:sp>
      <p:sp>
        <p:nvSpPr>
          <p:cNvPr id="184" name="Text 182">
            <a:hlinkClick r:id="rId21" tooltip=""/>
          </p:cNvPr>
          <p:cNvSpPr/>
          <p:nvPr/>
        </p:nvSpPr>
        <p:spPr>
          <a:xfrm>
            <a:off x="9930384" y="6638544"/>
            <a:ext cx="1664208" cy="192024"/>
          </a:xfrm>
          <a:prstGeom prst="rect">
            <a:avLst/>
          </a:prstGeom>
          <a:noFill/>
          <a:ln/>
        </p:spPr>
        <p:txBody>
          <a:bodyPr wrap="square" lIns="0" tIns="0" rIns="0" bIns="0" rtlCol="0" anchor="ctr"/>
          <a:lstStyle/>
          <a:p>
            <a:pPr indent="0" marL="0">
              <a:buNone/>
            </a:pPr>
            <a:r>
              <a:rPr lang="en-US" sz="700" u="sng" dirty="0">
                <a:solidFill>
                  <a:srgbClr val="2ECC71"/>
                </a:solidFill>
                <a:hlinkClick r:id="rId21" invalidUrl="" action="" tgtFrame="" tooltip="" history="1" highlightClick="0" endSnd="0">
                  <a:extLst>
                    <a:ext uri="{A12FA001-AC4F-418D-AE19-62706E023703}">
                      <ahyp:hlinkClr xmlns:ahyp="http://schemas.microsoft.com/office/drawing/2018/hyperlinkcolor" val="tx"/>
                    </a:ext>
                  </a:extLst>
                </a:hlinkClick>
              </a:rPr>
              <a:t>fdimonitor.org</a:t>
            </a:r>
            <a:endParaRPr lang="en-US" sz="700" dirty="0"/>
          </a:p>
        </p:txBody>
      </p:sp>
      <p:sp>
        <p:nvSpPr>
          <p:cNvPr id="185" name="Shape 183"/>
          <p:cNvSpPr/>
          <p:nvPr/>
        </p:nvSpPr>
        <p:spPr>
          <a:xfrm>
            <a:off x="365760" y="6528816"/>
            <a:ext cx="2798064" cy="201168"/>
          </a:xfrm>
          <a:prstGeom prst="rect">
            <a:avLst/>
          </a:prstGeom>
          <a:solidFill>
            <a:srgbClr val="2ECC71"/>
          </a:solidFill>
          <a:ln/>
          <a:effectLst>
            <a:outerShdw sx="100000" sy="100000" kx="0" ky="0" algn="bl" rotWithShape="0" blurRad="127000" dist="38100" dir="8100000">
              <a:srgbClr val="000000">
                <a:alpha val="10000"/>
              </a:srgbClr>
            </a:outerShdw>
          </a:effectLst>
        </p:spPr>
      </p:sp>
      <p:sp>
        <p:nvSpPr>
          <p:cNvPr id="186" name="Text 184"/>
          <p:cNvSpPr/>
          <p:nvPr/>
        </p:nvSpPr>
        <p:spPr>
          <a:xfrm>
            <a:off x="365760" y="6528816"/>
            <a:ext cx="2798064" cy="201168"/>
          </a:xfrm>
          <a:prstGeom prst="rect">
            <a:avLst/>
          </a:prstGeom>
          <a:noFill/>
          <a:ln/>
        </p:spPr>
        <p:txBody>
          <a:bodyPr wrap="square" lIns="0" tIns="0" rIns="0" bIns="0" rtlCol="0" anchor="ctr"/>
          <a:lstStyle/>
          <a:p>
            <a:pPr algn="ctr" indent="0" marL="0">
              <a:buNone/>
            </a:pPr>
            <a:r>
              <a:rPr lang="en-US" sz="900" b="1" dirty="0">
                <a:solidFill>
                  <a:srgbClr val="FFFFFF"/>
                </a:solidFill>
              </a:rPr>
              <a:t>Completed: 12</a:t>
            </a:r>
            <a:endParaRPr lang="en-US" sz="900" dirty="0"/>
          </a:p>
        </p:txBody>
      </p:sp>
      <p:sp>
        <p:nvSpPr>
          <p:cNvPr id="187" name="Shape 185"/>
          <p:cNvSpPr/>
          <p:nvPr/>
        </p:nvSpPr>
        <p:spPr>
          <a:xfrm>
            <a:off x="3310128" y="6528816"/>
            <a:ext cx="2798064" cy="201168"/>
          </a:xfrm>
          <a:prstGeom prst="rect">
            <a:avLst/>
          </a:prstGeom>
          <a:solidFill>
            <a:srgbClr val="F1C40F"/>
          </a:solidFill>
          <a:ln/>
          <a:effectLst>
            <a:outerShdw sx="100000" sy="100000" kx="0" ky="0" algn="bl" rotWithShape="0" blurRad="127000" dist="38100" dir="8100000">
              <a:srgbClr val="000000">
                <a:alpha val="10000"/>
              </a:srgbClr>
            </a:outerShdw>
          </a:effectLst>
        </p:spPr>
      </p:sp>
      <p:sp>
        <p:nvSpPr>
          <p:cNvPr id="188" name="Text 186"/>
          <p:cNvSpPr/>
          <p:nvPr/>
        </p:nvSpPr>
        <p:spPr>
          <a:xfrm>
            <a:off x="3310128" y="6528816"/>
            <a:ext cx="2798064" cy="201168"/>
          </a:xfrm>
          <a:prstGeom prst="rect">
            <a:avLst/>
          </a:prstGeom>
          <a:noFill/>
          <a:ln/>
        </p:spPr>
        <p:txBody>
          <a:bodyPr wrap="square" lIns="0" tIns="0" rIns="0" bIns="0" rtlCol="0" anchor="ctr"/>
          <a:lstStyle/>
          <a:p>
            <a:pPr algn="ctr" indent="0" marL="0">
              <a:buNone/>
            </a:pPr>
            <a:r>
              <a:rPr lang="en-US" sz="900" b="1" dirty="0">
                <a:solidFill>
                  <a:srgbClr val="FFFFFF"/>
                </a:solidFill>
              </a:rPr>
              <a:t>In Progress: 5</a:t>
            </a:r>
            <a:endParaRPr lang="en-US" sz="900" dirty="0"/>
          </a:p>
        </p:txBody>
      </p:sp>
      <p:sp>
        <p:nvSpPr>
          <p:cNvPr id="189" name="Shape 187"/>
          <p:cNvSpPr/>
          <p:nvPr/>
        </p:nvSpPr>
        <p:spPr>
          <a:xfrm>
            <a:off x="6254496" y="6528816"/>
            <a:ext cx="2798064" cy="201168"/>
          </a:xfrm>
          <a:prstGeom prst="rect">
            <a:avLst/>
          </a:prstGeom>
          <a:solidFill>
            <a:srgbClr val="E74C3C"/>
          </a:solidFill>
          <a:ln/>
          <a:effectLst>
            <a:outerShdw sx="100000" sy="100000" kx="0" ky="0" algn="bl" rotWithShape="0" blurRad="127000" dist="38100" dir="8100000">
              <a:srgbClr val="000000">
                <a:alpha val="10000"/>
              </a:srgbClr>
            </a:outerShdw>
          </a:effectLst>
        </p:spPr>
      </p:sp>
      <p:sp>
        <p:nvSpPr>
          <p:cNvPr id="190" name="Text 188"/>
          <p:cNvSpPr/>
          <p:nvPr/>
        </p:nvSpPr>
        <p:spPr>
          <a:xfrm>
            <a:off x="6254496" y="6528816"/>
            <a:ext cx="2798064" cy="201168"/>
          </a:xfrm>
          <a:prstGeom prst="rect">
            <a:avLst/>
          </a:prstGeom>
          <a:noFill/>
          <a:ln/>
        </p:spPr>
        <p:txBody>
          <a:bodyPr wrap="square" lIns="0" tIns="0" rIns="0" bIns="0" rtlCol="0" anchor="ctr"/>
          <a:lstStyle/>
          <a:p>
            <a:pPr algn="ctr" indent="0" marL="0">
              <a:buNone/>
            </a:pPr>
            <a:r>
              <a:rPr lang="en-US" sz="900" b="1" dirty="0">
                <a:solidFill>
                  <a:srgbClr val="FFFFFF"/>
                </a:solidFill>
              </a:rPr>
              <a:t>Pending: 3</a:t>
            </a:r>
            <a:endParaRPr lang="en-US" sz="900" dirty="0"/>
          </a:p>
        </p:txBody>
      </p:sp>
      <p:sp>
        <p:nvSpPr>
          <p:cNvPr id="191" name="Shape 189"/>
          <p:cNvSpPr/>
          <p:nvPr/>
        </p:nvSpPr>
        <p:spPr>
          <a:xfrm>
            <a:off x="9198864" y="6528816"/>
            <a:ext cx="2798064" cy="201168"/>
          </a:xfrm>
          <a:prstGeom prst="rect">
            <a:avLst/>
          </a:prstGeom>
          <a:solidFill>
            <a:srgbClr val="1A2C3E"/>
          </a:solidFill>
          <a:ln/>
          <a:effectLst>
            <a:outerShdw sx="100000" sy="100000" kx="0" ky="0" algn="bl" rotWithShape="0" blurRad="127000" dist="38100" dir="8100000">
              <a:srgbClr val="000000">
                <a:alpha val="10000"/>
              </a:srgbClr>
            </a:outerShdw>
          </a:effectLst>
        </p:spPr>
      </p:sp>
      <p:sp>
        <p:nvSpPr>
          <p:cNvPr id="192" name="Text 190"/>
          <p:cNvSpPr/>
          <p:nvPr/>
        </p:nvSpPr>
        <p:spPr>
          <a:xfrm>
            <a:off x="9198864" y="6528816"/>
            <a:ext cx="2798064" cy="201168"/>
          </a:xfrm>
          <a:prstGeom prst="rect">
            <a:avLst/>
          </a:prstGeom>
          <a:noFill/>
          <a:ln/>
        </p:spPr>
        <p:txBody>
          <a:bodyPr wrap="square" lIns="0" tIns="0" rIns="0" bIns="0" rtlCol="0" anchor="ctr"/>
          <a:lstStyle/>
          <a:p>
            <a:pPr algn="ctr" indent="0" marL="0">
              <a:buNone/>
            </a:pPr>
            <a:r>
              <a:rPr lang="en-US" sz="900" b="1" dirty="0">
                <a:solidFill>
                  <a:srgbClr val="FFFFFF"/>
                </a:solidFill>
              </a:rPr>
              <a:t>Final Deadline: Apr 18,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1520"/>
          </a:solidFill>
          <a:ln/>
        </p:spPr>
      </p:sp>
      <p:sp>
        <p:nvSpPr>
          <p:cNvPr id="3" name="Shape 1"/>
          <p:cNvSpPr/>
          <p:nvPr/>
        </p:nvSpPr>
        <p:spPr>
          <a:xfrm>
            <a:off x="0" y="0"/>
            <a:ext cx="502920" cy="6858000"/>
          </a:xfrm>
          <a:prstGeom prst="rect">
            <a:avLst/>
          </a:prstGeom>
          <a:solidFill>
            <a:srgbClr val="2ECC71"/>
          </a:solidFill>
          <a:ln/>
        </p:spPr>
      </p:sp>
      <p:sp>
        <p:nvSpPr>
          <p:cNvPr id="4" name="Shape 2"/>
          <p:cNvSpPr/>
          <p:nvPr/>
        </p:nvSpPr>
        <p:spPr>
          <a:xfrm>
            <a:off x="502920" y="0"/>
            <a:ext cx="128016" cy="6858000"/>
          </a:xfrm>
          <a:prstGeom prst="rect">
            <a:avLst/>
          </a:prstGeom>
          <a:solidFill>
            <a:srgbClr val="27AE60"/>
          </a:solidFill>
          <a:ln/>
        </p:spPr>
      </p:sp>
      <p:sp>
        <p:nvSpPr>
          <p:cNvPr id="5" name="Shape 3"/>
          <p:cNvSpPr/>
          <p:nvPr/>
        </p:nvSpPr>
        <p:spPr>
          <a:xfrm>
            <a:off x="822960" y="0"/>
            <a:ext cx="0" cy="6858000"/>
          </a:xfrm>
          <a:prstGeom prst="line">
            <a:avLst/>
          </a:prstGeom>
          <a:noFill/>
          <a:ln w="3810">
            <a:solidFill>
              <a:srgbClr val="FFFFFF">
                <a:alpha val="10000"/>
              </a:srgbClr>
            </a:solidFill>
            <a:prstDash val="solid"/>
          </a:ln>
        </p:spPr>
      </p:sp>
      <p:sp>
        <p:nvSpPr>
          <p:cNvPr id="6" name="Shape 4"/>
          <p:cNvSpPr/>
          <p:nvPr/>
        </p:nvSpPr>
        <p:spPr>
          <a:xfrm>
            <a:off x="2084832" y="0"/>
            <a:ext cx="0" cy="6858000"/>
          </a:xfrm>
          <a:prstGeom prst="line">
            <a:avLst/>
          </a:prstGeom>
          <a:noFill/>
          <a:ln w="3810">
            <a:solidFill>
              <a:srgbClr val="FFFFFF">
                <a:alpha val="10000"/>
              </a:srgbClr>
            </a:solidFill>
            <a:prstDash val="solid"/>
          </a:ln>
        </p:spPr>
      </p:sp>
      <p:sp>
        <p:nvSpPr>
          <p:cNvPr id="7" name="Shape 5"/>
          <p:cNvSpPr/>
          <p:nvPr/>
        </p:nvSpPr>
        <p:spPr>
          <a:xfrm>
            <a:off x="3346704" y="0"/>
            <a:ext cx="0" cy="6858000"/>
          </a:xfrm>
          <a:prstGeom prst="line">
            <a:avLst/>
          </a:prstGeom>
          <a:noFill/>
          <a:ln w="3810">
            <a:solidFill>
              <a:srgbClr val="FFFFFF">
                <a:alpha val="10000"/>
              </a:srgbClr>
            </a:solidFill>
            <a:prstDash val="solid"/>
          </a:ln>
        </p:spPr>
      </p:sp>
      <p:sp>
        <p:nvSpPr>
          <p:cNvPr id="8" name="Shape 6"/>
          <p:cNvSpPr/>
          <p:nvPr/>
        </p:nvSpPr>
        <p:spPr>
          <a:xfrm>
            <a:off x="4608576" y="0"/>
            <a:ext cx="0" cy="6858000"/>
          </a:xfrm>
          <a:prstGeom prst="line">
            <a:avLst/>
          </a:prstGeom>
          <a:noFill/>
          <a:ln w="3810">
            <a:solidFill>
              <a:srgbClr val="FFFFFF">
                <a:alpha val="10000"/>
              </a:srgbClr>
            </a:solidFill>
            <a:prstDash val="solid"/>
          </a:ln>
        </p:spPr>
      </p:sp>
      <p:sp>
        <p:nvSpPr>
          <p:cNvPr id="9" name="Shape 7"/>
          <p:cNvSpPr/>
          <p:nvPr/>
        </p:nvSpPr>
        <p:spPr>
          <a:xfrm>
            <a:off x="5870448" y="0"/>
            <a:ext cx="0" cy="6858000"/>
          </a:xfrm>
          <a:prstGeom prst="line">
            <a:avLst/>
          </a:prstGeom>
          <a:noFill/>
          <a:ln w="3810">
            <a:solidFill>
              <a:srgbClr val="FFFFFF">
                <a:alpha val="10000"/>
              </a:srgbClr>
            </a:solidFill>
            <a:prstDash val="solid"/>
          </a:ln>
        </p:spPr>
      </p:sp>
      <p:sp>
        <p:nvSpPr>
          <p:cNvPr id="10" name="Shape 8"/>
          <p:cNvSpPr/>
          <p:nvPr/>
        </p:nvSpPr>
        <p:spPr>
          <a:xfrm>
            <a:off x="7132320" y="0"/>
            <a:ext cx="0" cy="6858000"/>
          </a:xfrm>
          <a:prstGeom prst="line">
            <a:avLst/>
          </a:prstGeom>
          <a:noFill/>
          <a:ln w="3810">
            <a:solidFill>
              <a:srgbClr val="FFFFFF">
                <a:alpha val="10000"/>
              </a:srgbClr>
            </a:solidFill>
            <a:prstDash val="solid"/>
          </a:ln>
        </p:spPr>
      </p:sp>
      <p:sp>
        <p:nvSpPr>
          <p:cNvPr id="11" name="Shape 9"/>
          <p:cNvSpPr/>
          <p:nvPr/>
        </p:nvSpPr>
        <p:spPr>
          <a:xfrm>
            <a:off x="8394192" y="0"/>
            <a:ext cx="0" cy="6858000"/>
          </a:xfrm>
          <a:prstGeom prst="line">
            <a:avLst/>
          </a:prstGeom>
          <a:noFill/>
          <a:ln w="3810">
            <a:solidFill>
              <a:srgbClr val="FFFFFF">
                <a:alpha val="10000"/>
              </a:srgbClr>
            </a:solidFill>
            <a:prstDash val="solid"/>
          </a:ln>
        </p:spPr>
      </p:sp>
      <p:sp>
        <p:nvSpPr>
          <p:cNvPr id="12" name="Shape 10"/>
          <p:cNvSpPr/>
          <p:nvPr/>
        </p:nvSpPr>
        <p:spPr>
          <a:xfrm>
            <a:off x="9656064" y="0"/>
            <a:ext cx="0" cy="6858000"/>
          </a:xfrm>
          <a:prstGeom prst="line">
            <a:avLst/>
          </a:prstGeom>
          <a:noFill/>
          <a:ln w="3810">
            <a:solidFill>
              <a:srgbClr val="FFFFFF">
                <a:alpha val="10000"/>
              </a:srgbClr>
            </a:solidFill>
            <a:prstDash val="solid"/>
          </a:ln>
        </p:spPr>
      </p:sp>
      <p:sp>
        <p:nvSpPr>
          <p:cNvPr id="13" name="Shape 11"/>
          <p:cNvSpPr/>
          <p:nvPr/>
        </p:nvSpPr>
        <p:spPr>
          <a:xfrm>
            <a:off x="10917936" y="0"/>
            <a:ext cx="0" cy="6858000"/>
          </a:xfrm>
          <a:prstGeom prst="line">
            <a:avLst/>
          </a:prstGeom>
          <a:noFill/>
          <a:ln w="3810">
            <a:solidFill>
              <a:srgbClr val="FFFFFF">
                <a:alpha val="10000"/>
              </a:srgbClr>
            </a:solidFill>
            <a:prstDash val="solid"/>
          </a:ln>
        </p:spPr>
      </p:sp>
      <p:sp>
        <p:nvSpPr>
          <p:cNvPr id="14" name="Shape 12"/>
          <p:cNvSpPr/>
          <p:nvPr/>
        </p:nvSpPr>
        <p:spPr>
          <a:xfrm>
            <a:off x="8686800" y="0"/>
            <a:ext cx="3474720" cy="91440"/>
          </a:xfrm>
          <a:prstGeom prst="rect">
            <a:avLst/>
          </a:prstGeom>
          <a:solidFill>
            <a:srgbClr val="F1C40F"/>
          </a:solidFill>
          <a:ln/>
        </p:spPr>
      </p:sp>
      <p:sp>
        <p:nvSpPr>
          <p:cNvPr id="15" name="Text 13"/>
          <p:cNvSpPr/>
          <p:nvPr/>
        </p:nvSpPr>
        <p:spPr>
          <a:xfrm>
            <a:off x="822960" y="731520"/>
            <a:ext cx="8229600" cy="502920"/>
          </a:xfrm>
          <a:prstGeom prst="rect">
            <a:avLst/>
          </a:prstGeom>
          <a:noFill/>
          <a:ln/>
        </p:spPr>
        <p:txBody>
          <a:bodyPr wrap="square" lIns="0" tIns="0" rIns="0" bIns="0" rtlCol="0" anchor="ctr"/>
          <a:lstStyle/>
          <a:p>
            <a:pPr indent="0" marL="0">
              <a:buNone/>
            </a:pPr>
            <a:r>
              <a:rPr lang="en-US" sz="1400" b="1" spc="700" kern="0" dirty="0">
                <a:solidFill>
                  <a:srgbClr val="FFFFFF"/>
                </a:solidFill>
              </a:rPr>
              <a:t>GLOBAL</a:t>
            </a:r>
            <a:endParaRPr lang="en-US" sz="1400" dirty="0"/>
          </a:p>
        </p:txBody>
      </p:sp>
      <p:sp>
        <p:nvSpPr>
          <p:cNvPr id="16" name="Text 14"/>
          <p:cNvSpPr/>
          <p:nvPr/>
        </p:nvSpPr>
        <p:spPr>
          <a:xfrm>
            <a:off x="822960" y="1170432"/>
            <a:ext cx="8229600" cy="1325880"/>
          </a:xfrm>
          <a:prstGeom prst="rect">
            <a:avLst/>
          </a:prstGeom>
          <a:noFill/>
          <a:ln/>
        </p:spPr>
        <p:txBody>
          <a:bodyPr wrap="square" lIns="0" tIns="0" rIns="0" bIns="0" rtlCol="0" anchor="ctr"/>
          <a:lstStyle/>
          <a:p>
            <a:pPr indent="0" marL="0">
              <a:buNone/>
            </a:pPr>
            <a:r>
              <a:rPr lang="en-US" sz="9600" b="1" spc="1000" kern="0" dirty="0">
                <a:solidFill>
                  <a:srgbClr val="2ECC71"/>
                </a:solidFill>
              </a:rPr>
              <a:t>FDI</a:t>
            </a:r>
            <a:endParaRPr lang="en-US" sz="9600" dirty="0"/>
          </a:p>
        </p:txBody>
      </p:sp>
      <p:sp>
        <p:nvSpPr>
          <p:cNvPr id="17" name="Text 15"/>
          <p:cNvSpPr/>
          <p:nvPr/>
        </p:nvSpPr>
        <p:spPr>
          <a:xfrm>
            <a:off x="822960" y="2359152"/>
            <a:ext cx="8229600" cy="502920"/>
          </a:xfrm>
          <a:prstGeom prst="rect">
            <a:avLst/>
          </a:prstGeom>
          <a:noFill/>
          <a:ln/>
        </p:spPr>
        <p:txBody>
          <a:bodyPr wrap="square" lIns="0" tIns="0" rIns="0" bIns="0" rtlCol="0" anchor="ctr"/>
          <a:lstStyle/>
          <a:p>
            <a:pPr indent="0" marL="0">
              <a:buNone/>
            </a:pPr>
            <a:r>
              <a:rPr lang="en-US" sz="1400" b="1" spc="700" kern="0" dirty="0">
                <a:solidFill>
                  <a:srgbClr val="FFFFFF"/>
                </a:solidFill>
              </a:rPr>
              <a:t>MONITOR</a:t>
            </a:r>
            <a:endParaRPr lang="en-US" sz="1400" dirty="0"/>
          </a:p>
        </p:txBody>
      </p:sp>
      <p:sp>
        <p:nvSpPr>
          <p:cNvPr id="18" name="Shape 16"/>
          <p:cNvSpPr/>
          <p:nvPr/>
        </p:nvSpPr>
        <p:spPr>
          <a:xfrm>
            <a:off x="822960" y="2999232"/>
            <a:ext cx="8229600" cy="45720"/>
          </a:xfrm>
          <a:prstGeom prst="rect">
            <a:avLst/>
          </a:prstGeom>
          <a:solidFill>
            <a:srgbClr val="2ECC71"/>
          </a:solidFill>
          <a:ln/>
        </p:spPr>
      </p:sp>
      <p:sp>
        <p:nvSpPr>
          <p:cNvPr id="19" name="Text 17"/>
          <p:cNvSpPr/>
          <p:nvPr/>
        </p:nvSpPr>
        <p:spPr>
          <a:xfrm>
            <a:off x="822960" y="3127248"/>
            <a:ext cx="10058400" cy="594360"/>
          </a:xfrm>
          <a:prstGeom prst="rect">
            <a:avLst/>
          </a:prstGeom>
          <a:noFill/>
          <a:ln/>
        </p:spPr>
        <p:txBody>
          <a:bodyPr wrap="square" lIns="0" tIns="0" rIns="0" bIns="0" rtlCol="0" anchor="ctr"/>
          <a:lstStyle/>
          <a:p>
            <a:pPr indent="0" marL="0">
              <a:buNone/>
            </a:pPr>
            <a:r>
              <a:rPr lang="en-US" sz="2200" b="1" dirty="0">
                <a:solidFill>
                  <a:srgbClr val="FFFFFF"/>
                </a:solidFill>
              </a:rPr>
              <a:t>The World's Most Advanced FDI Intelligence Platform</a:t>
            </a:r>
            <a:endParaRPr lang="en-US" sz="2200" dirty="0"/>
          </a:p>
        </p:txBody>
      </p:sp>
      <p:sp>
        <p:nvSpPr>
          <p:cNvPr id="20" name="Text 18"/>
          <p:cNvSpPr/>
          <p:nvPr/>
        </p:nvSpPr>
        <p:spPr>
          <a:xfrm>
            <a:off x="822960" y="3822192"/>
            <a:ext cx="10058400" cy="365760"/>
          </a:xfrm>
          <a:prstGeom prst="rect">
            <a:avLst/>
          </a:prstGeom>
          <a:noFill/>
          <a:ln/>
        </p:spPr>
        <p:txBody>
          <a:bodyPr wrap="square" lIns="0" tIns="0" rIns="0" bIns="0" rtlCol="0" anchor="ctr"/>
          <a:lstStyle/>
          <a:p>
            <a:pPr indent="0" marL="0">
              <a:buNone/>
            </a:pPr>
            <a:r>
              <a:rPr lang="en-US" sz="1200" dirty="0">
                <a:solidFill>
                  <a:srgbClr val="9BB0C7"/>
                </a:solidFill>
              </a:rPr>
              <a:t>215+ Economies  ·  </a:t>
            </a:r>
            <a:pPr indent="0" marL="0">
              <a:buNone/>
            </a:pPr>
            <a:r>
              <a:rPr lang="en-US" sz="1200" dirty="0">
                <a:solidFill>
                  <a:srgbClr val="9BB0C7"/>
                </a:solidFill>
              </a:rPr>
              <a:t>304+ Official Sources  ·  </a:t>
            </a:r>
            <a:pPr indent="0" marL="0">
              <a:buNone/>
            </a:pPr>
            <a:r>
              <a:rPr lang="en-US" sz="1200" dirty="0">
                <a:solidFill>
                  <a:srgbClr val="9BB0C7"/>
                </a:solidFill>
              </a:rPr>
              <a:t>50+ AI Agents  ·  </a:t>
            </a:r>
            <a:pPr indent="0" marL="0">
              <a:buNone/>
            </a:pPr>
            <a:r>
              <a:rPr lang="en-US" sz="1200" dirty="0">
                <a:solidFill>
                  <a:srgbClr val="9BB0C7"/>
                </a:solidFill>
              </a:rPr>
              <a:t>Real-Time Signals Every 2 Seconds</a:t>
            </a:r>
            <a:endParaRPr lang="en-US" sz="1200" dirty="0"/>
          </a:p>
        </p:txBody>
      </p:sp>
      <p:sp>
        <p:nvSpPr>
          <p:cNvPr id="21" name="Shape 19"/>
          <p:cNvSpPr/>
          <p:nvPr/>
        </p:nvSpPr>
        <p:spPr>
          <a:xfrm>
            <a:off x="822960" y="4462272"/>
            <a:ext cx="2688336" cy="402336"/>
          </a:xfrm>
          <a:prstGeom prst="rect">
            <a:avLst/>
          </a:prstGeom>
          <a:solidFill>
            <a:srgbClr val="1A2C3E"/>
          </a:solidFill>
          <a:ln w="5080">
            <a:solidFill>
              <a:srgbClr val="2ECC71"/>
            </a:solidFill>
            <a:prstDash val="solid"/>
          </a:ln>
        </p:spPr>
      </p:sp>
      <p:sp>
        <p:nvSpPr>
          <p:cNvPr id="22" name="Text 20"/>
          <p:cNvSpPr/>
          <p:nvPr/>
        </p:nvSpPr>
        <p:spPr>
          <a:xfrm>
            <a:off x="822960" y="4462272"/>
            <a:ext cx="2688336" cy="402336"/>
          </a:xfrm>
          <a:prstGeom prst="rect">
            <a:avLst/>
          </a:prstGeom>
          <a:noFill/>
          <a:ln/>
        </p:spPr>
        <p:txBody>
          <a:bodyPr wrap="square" lIns="0" tIns="0" rIns="0" bIns="0" rtlCol="0" anchor="ctr"/>
          <a:lstStyle/>
          <a:p>
            <a:pPr algn="ctr" indent="0" marL="0">
              <a:buNone/>
            </a:pPr>
            <a:r>
              <a:rPr lang="en-US" sz="950" dirty="0">
                <a:solidFill>
                  <a:srgbClr val="2ECC71"/>
                </a:solidFill>
              </a:rPr>
              <a:t>🌐 fdimonitor.org</a:t>
            </a:r>
            <a:endParaRPr lang="en-US" sz="950" dirty="0"/>
          </a:p>
        </p:txBody>
      </p:sp>
      <p:sp>
        <p:nvSpPr>
          <p:cNvPr id="23" name="Shape 21"/>
          <p:cNvSpPr/>
          <p:nvPr/>
        </p:nvSpPr>
        <p:spPr>
          <a:xfrm>
            <a:off x="3639312" y="4462272"/>
            <a:ext cx="2688336" cy="402336"/>
          </a:xfrm>
          <a:prstGeom prst="rect">
            <a:avLst/>
          </a:prstGeom>
          <a:solidFill>
            <a:srgbClr val="1A2C3E"/>
          </a:solidFill>
          <a:ln w="5080">
            <a:solidFill>
              <a:srgbClr val="2ECC71"/>
            </a:solidFill>
            <a:prstDash val="solid"/>
          </a:ln>
        </p:spPr>
      </p:sp>
      <p:sp>
        <p:nvSpPr>
          <p:cNvPr id="24" name="Text 22"/>
          <p:cNvSpPr/>
          <p:nvPr/>
        </p:nvSpPr>
        <p:spPr>
          <a:xfrm>
            <a:off x="3639312" y="4462272"/>
            <a:ext cx="2688336" cy="402336"/>
          </a:xfrm>
          <a:prstGeom prst="rect">
            <a:avLst/>
          </a:prstGeom>
          <a:noFill/>
          <a:ln/>
        </p:spPr>
        <p:txBody>
          <a:bodyPr wrap="square" lIns="0" tIns="0" rIns="0" bIns="0" rtlCol="0" anchor="ctr"/>
          <a:lstStyle/>
          <a:p>
            <a:pPr algn="ctr" indent="0" marL="0">
              <a:buNone/>
            </a:pPr>
            <a:r>
              <a:rPr lang="en-US" sz="950" dirty="0">
                <a:solidFill>
                  <a:srgbClr val="2ECC71"/>
                </a:solidFill>
              </a:rPr>
              <a:t>✉ info@fdimonitor.org</a:t>
            </a:r>
            <a:endParaRPr lang="en-US" sz="950" dirty="0"/>
          </a:p>
        </p:txBody>
      </p:sp>
      <p:sp>
        <p:nvSpPr>
          <p:cNvPr id="25" name="Shape 23"/>
          <p:cNvSpPr/>
          <p:nvPr/>
        </p:nvSpPr>
        <p:spPr>
          <a:xfrm>
            <a:off x="6455664" y="4462272"/>
            <a:ext cx="2688336" cy="402336"/>
          </a:xfrm>
          <a:prstGeom prst="rect">
            <a:avLst/>
          </a:prstGeom>
          <a:solidFill>
            <a:srgbClr val="1A2C3E"/>
          </a:solidFill>
          <a:ln w="5080">
            <a:solidFill>
              <a:srgbClr val="2ECC71"/>
            </a:solidFill>
            <a:prstDash val="solid"/>
          </a:ln>
        </p:spPr>
      </p:sp>
      <p:sp>
        <p:nvSpPr>
          <p:cNvPr id="26" name="Text 24"/>
          <p:cNvSpPr/>
          <p:nvPr/>
        </p:nvSpPr>
        <p:spPr>
          <a:xfrm>
            <a:off x="6455664" y="4462272"/>
            <a:ext cx="2688336" cy="402336"/>
          </a:xfrm>
          <a:prstGeom prst="rect">
            <a:avLst/>
          </a:prstGeom>
          <a:noFill/>
          <a:ln/>
        </p:spPr>
        <p:txBody>
          <a:bodyPr wrap="square" lIns="0" tIns="0" rIns="0" bIns="0" rtlCol="0" anchor="ctr"/>
          <a:lstStyle/>
          <a:p>
            <a:pPr algn="ctr" indent="0" marL="0">
              <a:buNone/>
            </a:pPr>
            <a:r>
              <a:rPr lang="en-US" sz="950" dirty="0">
                <a:solidFill>
                  <a:srgbClr val="2ECC71"/>
                </a:solidFill>
              </a:rPr>
              <a:t>💼 LinkedIn: Global FDI Monitor</a:t>
            </a:r>
            <a:endParaRPr lang="en-US" sz="950" dirty="0"/>
          </a:p>
        </p:txBody>
      </p:sp>
      <p:sp>
        <p:nvSpPr>
          <p:cNvPr id="27" name="Shape 25"/>
          <p:cNvSpPr/>
          <p:nvPr/>
        </p:nvSpPr>
        <p:spPr>
          <a:xfrm>
            <a:off x="9272016" y="4462272"/>
            <a:ext cx="2688336" cy="402336"/>
          </a:xfrm>
          <a:prstGeom prst="rect">
            <a:avLst/>
          </a:prstGeom>
          <a:solidFill>
            <a:srgbClr val="1A2C3E"/>
          </a:solidFill>
          <a:ln w="5080">
            <a:solidFill>
              <a:srgbClr val="2ECC71"/>
            </a:solidFill>
            <a:prstDash val="solid"/>
          </a:ln>
        </p:spPr>
      </p:sp>
      <p:sp>
        <p:nvSpPr>
          <p:cNvPr id="28" name="Text 26"/>
          <p:cNvSpPr/>
          <p:nvPr/>
        </p:nvSpPr>
        <p:spPr>
          <a:xfrm>
            <a:off x="9272016" y="4462272"/>
            <a:ext cx="2688336" cy="402336"/>
          </a:xfrm>
          <a:prstGeom prst="rect">
            <a:avLst/>
          </a:prstGeom>
          <a:noFill/>
          <a:ln/>
        </p:spPr>
        <p:txBody>
          <a:bodyPr wrap="square" lIns="0" tIns="0" rIns="0" bIns="0" rtlCol="0" anchor="ctr"/>
          <a:lstStyle/>
          <a:p>
            <a:pPr algn="ctr" indent="0" marL="0">
              <a:buNone/>
            </a:pPr>
            <a:r>
              <a:rPr lang="en-US" sz="950" dirty="0">
                <a:solidFill>
                  <a:srgbClr val="2ECC71"/>
                </a:solidFill>
              </a:rPr>
              <a:t>🐦 Twitter: @GlobalFDIMonitor</a:t>
            </a:r>
            <a:endParaRPr lang="en-US" sz="950" dirty="0"/>
          </a:p>
        </p:txBody>
      </p:sp>
      <p:sp>
        <p:nvSpPr>
          <p:cNvPr id="29" name="Shape 27"/>
          <p:cNvSpPr/>
          <p:nvPr/>
        </p:nvSpPr>
        <p:spPr>
          <a:xfrm>
            <a:off x="822960" y="5029200"/>
            <a:ext cx="10241280" cy="329184"/>
          </a:xfrm>
          <a:prstGeom prst="rect">
            <a:avLst/>
          </a:prstGeom>
          <a:solidFill>
            <a:srgbClr val="1A2C3E"/>
          </a:solidFill>
          <a:ln/>
        </p:spPr>
      </p:sp>
      <p:sp>
        <p:nvSpPr>
          <p:cNvPr id="30" name="Text 28"/>
          <p:cNvSpPr/>
          <p:nvPr/>
        </p:nvSpPr>
        <p:spPr>
          <a:xfrm>
            <a:off x="822960" y="5029200"/>
            <a:ext cx="10241280" cy="329184"/>
          </a:xfrm>
          <a:prstGeom prst="rect">
            <a:avLst/>
          </a:prstGeom>
          <a:noFill/>
          <a:ln/>
        </p:spPr>
        <p:txBody>
          <a:bodyPr wrap="square" lIns="0" tIns="0" rIns="0" bIns="0" rtlCol="0" anchor="ctr"/>
          <a:lstStyle/>
          <a:p>
            <a:pPr algn="ctr" indent="0" marL="0">
              <a:buNone/>
            </a:pPr>
            <a:r>
              <a:rPr lang="en-US" sz="900" b="1" dirty="0">
                <a:solidFill>
                  <a:srgbClr val="2ECC71"/>
                </a:solidFill>
              </a:rPr>
              <a:t>Full Platform Launch Target: April 18, 2026  ·  All P0 &amp; P1 Features Verified  ·  24-Hour Staging Access Available</a:t>
            </a:r>
            <a:endParaRPr lang="en-US" sz="900" dirty="0"/>
          </a:p>
        </p:txBody>
      </p:sp>
      <p:sp>
        <p:nvSpPr>
          <p:cNvPr id="31" name="Text 29"/>
          <p:cNvSpPr/>
          <p:nvPr/>
        </p:nvSpPr>
        <p:spPr>
          <a:xfrm>
            <a:off x="822960" y="5577840"/>
            <a:ext cx="10058400" cy="274320"/>
          </a:xfrm>
          <a:prstGeom prst="rect">
            <a:avLst/>
          </a:prstGeom>
          <a:noFill/>
          <a:ln/>
        </p:spPr>
        <p:txBody>
          <a:bodyPr wrap="square" lIns="0" tIns="0" rIns="0" bIns="0" rtlCol="0" anchor="ctr"/>
          <a:lstStyle/>
          <a:p>
            <a:pPr indent="0" marL="0">
              <a:buNone/>
            </a:pPr>
            <a:r>
              <a:rPr lang="en-US" sz="900" dirty="0">
                <a:solidFill>
                  <a:srgbClr val="5A7A9A"/>
                </a:solidFill>
              </a:rPr>
              <a:t>© 2026 Global FDI Monitor  ·  Confidential  ·  Not for distribution</a:t>
            </a:r>
            <a:endParaRPr lang="en-US" sz="900" dirty="0"/>
          </a:p>
        </p:txBody>
      </p:sp>
      <p:sp>
        <p:nvSpPr>
          <p:cNvPr id="32" name="Shape 30"/>
          <p:cNvSpPr/>
          <p:nvPr/>
        </p:nvSpPr>
        <p:spPr>
          <a:xfrm>
            <a:off x="0" y="6656832"/>
            <a:ext cx="12161520" cy="201168"/>
          </a:xfrm>
          <a:prstGeom prst="rect">
            <a:avLst/>
          </a:prstGeom>
          <a:solidFill>
            <a:srgbClr val="0A1520"/>
          </a:solidFill>
          <a:ln/>
        </p:spPr>
      </p:sp>
      <p:sp>
        <p:nvSpPr>
          <p:cNvPr id="33" name="Text 31"/>
          <p:cNvSpPr/>
          <p:nvPr/>
        </p:nvSpPr>
        <p:spPr>
          <a:xfrm>
            <a:off x="365760" y="6656832"/>
            <a:ext cx="11430000" cy="201168"/>
          </a:xfrm>
          <a:prstGeom prst="rect">
            <a:avLst/>
          </a:prstGeom>
          <a:noFill/>
          <a:ln/>
        </p:spPr>
        <p:txBody>
          <a:bodyPr wrap="square" lIns="0" tIns="0" rIns="0" bIns="0" rtlCol="0" anchor="ctr"/>
          <a:lstStyle/>
          <a:p>
            <a:pPr algn="ctr" indent="0" marL="0">
              <a:buNone/>
            </a:pPr>
            <a:r>
              <a:rPr lang="en-US" sz="700" dirty="0">
                <a:solidFill>
                  <a:srgbClr val="5A7A9A"/>
                </a:solidFill>
              </a:rPr>
              <a:t>© 2026 Global FDI Monitor  ·  Confidential  ·  info@fdimonitor.org  ·  fdimonitor.org</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FDI Monitor — Platform Specification &amp; Development Pipeline</dc:title>
  <dc:subject>PptxGenJS Presentation</dc:subject>
  <dc:creator>Global FDI Monitor</dc:creator>
  <cp:lastModifiedBy>Global FDI Monitor</cp:lastModifiedBy>
  <cp:revision>1</cp:revision>
  <dcterms:created xsi:type="dcterms:W3CDTF">2026-03-21T04:26:40Z</dcterms:created>
  <dcterms:modified xsi:type="dcterms:W3CDTF">2026-03-21T04:26:40Z</dcterms:modified>
</cp:coreProperties>
</file>